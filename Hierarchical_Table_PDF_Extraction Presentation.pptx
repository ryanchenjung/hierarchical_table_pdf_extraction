
<file path=[Content_Types].xml><?xml version="1.0" encoding="utf-8"?>
<Types xmlns="http://schemas.openxmlformats.org/package/2006/content-types">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drawingml.chart+xml" PartName="/ppt/charts/chart2.xml"/>
  <Override ContentType="application/vnd.openxmlformats-officedocument.drawingml.chart+xml" PartName="/ppt/charts/char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hheROtTyjUqNZJQDb7/Mfeiseqj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8" name="Jung Chen (Ryan)"/>
  <p:cmAuthor clrIdx="1" id="1" initials="" lastIdx="4" name="lawrence lin"/>
  <p:cmAuthor clrIdx="2" id="2" initials="" lastIdx="2" name="Kacey Zhu"/>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DB30D4F-66EB-4527-AC73-EDC8B3BA2A07}">
  <a:tblStyle styleId="{8DB30D4F-66EB-4527-AC73-EDC8B3BA2A0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2.xml"/><Relationship Id="rId25"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Count</c:v>
                </c:pt>
              </c:strCache>
            </c:strRef>
          </c:tx>
          <c:spPr>
            <a:solidFill>
              <a:srgbClr val="2AACE2"/>
            </a:solidFill>
            <a:effectLst/>
          </c:spPr>
          <c:invertIfNegative val="0"/>
          <c:dPt>
            <c:idx val="0"/>
            <c:invertIfNegative val="0"/>
            <c:bubble3D val="0"/>
            <c:extLst>
              <c:ext xmlns:c16="http://schemas.microsoft.com/office/drawing/2014/chart" uri="{C3380CC4-5D6E-409C-BE32-E72D297353CC}">
                <c16:uniqueId val="{00000001-5242-014B-B0BD-EE13B8A2C6B6}"/>
              </c:ext>
            </c:extLst>
          </c:dPt>
          <c:dPt>
            <c:idx val="1"/>
            <c:invertIfNegative val="0"/>
            <c:bubble3D val="0"/>
            <c:spPr>
              <a:solidFill>
                <a:srgbClr val="4ECDC4"/>
              </a:solidFill>
              <a:effectLst/>
            </c:spPr>
            <c:extLst>
              <c:ext xmlns:c16="http://schemas.microsoft.com/office/drawing/2014/chart" uri="{C3380CC4-5D6E-409C-BE32-E72D297353CC}">
                <c16:uniqueId val="{00000003-5242-014B-B0BD-EE13B8A2C6B6}"/>
              </c:ext>
            </c:extLst>
          </c:dPt>
          <c:dPt>
            <c:idx val="2"/>
            <c:invertIfNegative val="0"/>
            <c:bubble3D val="0"/>
            <c:spPr>
              <a:solidFill>
                <a:srgbClr val="64748B"/>
              </a:solidFill>
              <a:effectLst/>
            </c:spPr>
            <c:extLst>
              <c:ext xmlns:c16="http://schemas.microsoft.com/office/drawing/2014/chart" uri="{C3380CC4-5D6E-409C-BE32-E72D297353CC}">
                <c16:uniqueId val="{00000005-5242-014B-B0BD-EE13B8A2C6B6}"/>
              </c:ext>
            </c:extLst>
          </c:dPt>
          <c:dPt>
            <c:idx val="3"/>
            <c:invertIfNegative val="0"/>
            <c:bubble3D val="0"/>
            <c:spPr>
              <a:solidFill>
                <a:srgbClr val="F4A261"/>
              </a:solidFill>
              <a:effectLst/>
            </c:spPr>
            <c:extLst>
              <c:ext xmlns:c16="http://schemas.microsoft.com/office/drawing/2014/chart" uri="{C3380CC4-5D6E-409C-BE32-E72D297353CC}">
                <c16:uniqueId val="{00000007-5242-014B-B0BD-EE13B8A2C6B6}"/>
              </c:ext>
            </c:extLst>
          </c:dPt>
          <c:dPt>
            <c:idx val="4"/>
            <c:invertIfNegative val="0"/>
            <c:bubble3D val="0"/>
            <c:spPr>
              <a:solidFill>
                <a:srgbClr val="E63946"/>
              </a:solidFill>
              <a:effectLst/>
            </c:spPr>
            <c:extLst>
              <c:ext xmlns:c16="http://schemas.microsoft.com/office/drawing/2014/chart" uri="{C3380CC4-5D6E-409C-BE32-E72D297353CC}">
                <c16:uniqueId val="{00000009-5242-014B-B0BD-EE13B8A2C6B6}"/>
              </c:ext>
            </c:extLst>
          </c:dPt>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Wide</c:v>
                </c:pt>
                <c:pt idx="1">
                  <c:v>Normal</c:v>
                </c:pt>
                <c:pt idx="2">
                  <c:v>Tall</c:v>
                </c:pt>
                <c:pt idx="3">
                  <c:v>Low Quality</c:v>
                </c:pt>
                <c:pt idx="4">
                  <c:v>Low Contrast</c:v>
                </c:pt>
              </c:strCache>
            </c:strRef>
          </c:cat>
          <c:val>
            <c:numRef>
              <c:f>Sheet1!$B$2:$B$6</c:f>
              <c:numCache>
                <c:formatCode>General</c:formatCode>
                <c:ptCount val="5"/>
                <c:pt idx="0">
                  <c:v>15871</c:v>
                </c:pt>
                <c:pt idx="1">
                  <c:v>11371</c:v>
                </c:pt>
                <c:pt idx="2">
                  <c:v>3168</c:v>
                </c:pt>
                <c:pt idx="3">
                  <c:v>1320</c:v>
                </c:pt>
                <c:pt idx="4">
                  <c:v>940</c:v>
                </c:pt>
              </c:numCache>
            </c:numRef>
          </c:val>
          <c:extLst>
            <c:ext xmlns:c16="http://schemas.microsoft.com/office/drawing/2014/chart" uri="{C3380CC4-5D6E-409C-BE32-E72D297353CC}">
              <c16:uniqueId val="{0000000A-5242-014B-B0BD-EE13B8A2C6B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Hard Score</c:v>
                </c:pt>
              </c:strCache>
            </c:strRef>
          </c:tx>
          <c:spPr>
            <a:solidFill>
              <a:srgbClr val="E63946"/>
            </a:solidFill>
            <a:effectLst/>
          </c:spPr>
          <c:invertIfNegative val="0"/>
          <c:dPt>
            <c:idx val="0"/>
            <c:invertIfNegative val="0"/>
            <c:bubble3D val="0"/>
            <c:extLst>
              <c:ext xmlns:c16="http://schemas.microsoft.com/office/drawing/2014/chart" uri="{C3380CC4-5D6E-409C-BE32-E72D297353CC}">
                <c16:uniqueId val="{00000001-0EE2-344B-96DF-0E7BE26EA11F}"/>
              </c:ext>
            </c:extLst>
          </c:dPt>
          <c:dPt>
            <c:idx val="1"/>
            <c:invertIfNegative val="0"/>
            <c:bubble3D val="0"/>
            <c:spPr>
              <a:solidFill>
                <a:srgbClr val="F4A261"/>
              </a:solidFill>
              <a:effectLst/>
            </c:spPr>
            <c:extLst>
              <c:ext xmlns:c16="http://schemas.microsoft.com/office/drawing/2014/chart" uri="{C3380CC4-5D6E-409C-BE32-E72D297353CC}">
                <c16:uniqueId val="{00000003-0EE2-344B-96DF-0E7BE26EA11F}"/>
              </c:ext>
            </c:extLst>
          </c:dPt>
          <c:dPt>
            <c:idx val="2"/>
            <c:invertIfNegative val="0"/>
            <c:bubble3D val="0"/>
            <c:spPr>
              <a:solidFill>
                <a:srgbClr val="64748B"/>
              </a:solidFill>
              <a:effectLst/>
            </c:spPr>
            <c:extLst>
              <c:ext xmlns:c16="http://schemas.microsoft.com/office/drawing/2014/chart" uri="{C3380CC4-5D6E-409C-BE32-E72D297353CC}">
                <c16:uniqueId val="{00000005-0EE2-344B-96DF-0E7BE26EA11F}"/>
              </c:ext>
            </c:extLst>
          </c:dPt>
          <c:dPt>
            <c:idx val="3"/>
            <c:invertIfNegative val="0"/>
            <c:bubble3D val="0"/>
            <c:spPr>
              <a:solidFill>
                <a:srgbClr val="2A9D8F"/>
              </a:solidFill>
              <a:effectLst/>
            </c:spPr>
            <c:extLst>
              <c:ext xmlns:c16="http://schemas.microsoft.com/office/drawing/2014/chart" uri="{C3380CC4-5D6E-409C-BE32-E72D297353CC}">
                <c16:uniqueId val="{00000007-0EE2-344B-96DF-0E7BE26EA11F}"/>
              </c:ext>
            </c:extLst>
          </c:dPt>
          <c:dPt>
            <c:idx val="4"/>
            <c:invertIfNegative val="0"/>
            <c:bubble3D val="0"/>
            <c:spPr>
              <a:solidFill>
                <a:srgbClr val="2AACE2"/>
              </a:solidFill>
              <a:effectLst/>
            </c:spPr>
            <c:extLst>
              <c:ext xmlns:c16="http://schemas.microsoft.com/office/drawing/2014/chart" uri="{C3380CC4-5D6E-409C-BE32-E72D297353CC}">
                <c16:uniqueId val="{00000009-0EE2-344B-96DF-0E7BE26EA11F}"/>
              </c:ext>
            </c:extLst>
          </c:dPt>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Tall</c:v>
                </c:pt>
                <c:pt idx="1">
                  <c:v>Low Contrast</c:v>
                </c:pt>
                <c:pt idx="2">
                  <c:v>Normal</c:v>
                </c:pt>
                <c:pt idx="3">
                  <c:v>Low Quality</c:v>
                </c:pt>
                <c:pt idx="4">
                  <c:v>Wide</c:v>
                </c:pt>
              </c:strCache>
            </c:strRef>
          </c:cat>
          <c:val>
            <c:numRef>
              <c:f>Sheet1!$B$2:$B$6</c:f>
              <c:numCache>
                <c:formatCode>General</c:formatCode>
                <c:ptCount val="5"/>
                <c:pt idx="0">
                  <c:v>29</c:v>
                </c:pt>
                <c:pt idx="1">
                  <c:v>19</c:v>
                </c:pt>
                <c:pt idx="2">
                  <c:v>19</c:v>
                </c:pt>
                <c:pt idx="3">
                  <c:v>18</c:v>
                </c:pt>
                <c:pt idx="4">
                  <c:v>13</c:v>
                </c:pt>
              </c:numCache>
            </c:numRef>
          </c:val>
          <c:extLst>
            <c:ext xmlns:c16="http://schemas.microsoft.com/office/drawing/2014/chart" uri="{C3380CC4-5D6E-409C-BE32-E72D297353CC}">
              <c16:uniqueId val="{0000000A-0EE2-344B-96DF-0E7BE26EA11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5-28T17:01:49.401">
    <p:pos x="230" y="0"/>
    <p:text>I will try to do some research about this but I remember last time when we asked him questions. He is interested in why does this question matters, meaning that who will benefit from this technique.</p:text>
    <p:extLst>
      <p:ext uri="{C676402C-5697-4E1C-873F-D02D1690AC5C}">
        <p15:threadingInfo timeZoneBias="0"/>
      </p:ext>
      <p:ext uri="http://customooxmlschemas.google.com/">
        <go:slidesCustomData xmlns:go="http://customooxmlschemas.google.com/" commentPostId="AAAB6VrlWXc"/>
      </p:ext>
    </p:extLst>
  </p:cm>
  <p:cm authorId="1" idx="1" dt="2026-05-28T15:20:32.324">
    <p:pos x="230" y="0"/>
    <p:text>yes, he might ask about business use case</p:text>
    <p:extLst>
      <p:ext uri="{C676402C-5697-4E1C-873F-D02D1690AC5C}">
        <p15:threadingInfo timeZoneBias="0">
          <p15:parentCm authorId="0" idx="1"/>
        </p15:threadingInfo>
      </p:ext>
      <p:ext uri="http://customooxmlschemas.google.com/">
        <go:slidesCustomData xmlns:go="http://customooxmlschemas.google.com/" commentPostId="AAAB6VrlWXo"/>
      </p:ext>
    </p:extLst>
  </p:cm>
  <p:cm authorId="0" idx="2" dt="2026-05-28T16:11:24.390">
    <p:pos x="230" y="0"/>
    <p:text>I think one of my answer to this is that layout itself has a lot of semantic meaning in it. A big topic might wrap several small topic. This format actually have meaning in it but the LLM or the model can't understand that they have this semantic meaning. Thus if we only output text from the table, we will lose informations and that makes HTML a suitable format to keep that information.</p:text>
    <p:extLst>
      <p:ext uri="{C676402C-5697-4E1C-873F-D02D1690AC5C}">
        <p15:threadingInfo timeZoneBias="0">
          <p15:parentCm authorId="0" idx="1"/>
        </p15:threadingInfo>
      </p:ext>
      <p:ext uri="http://customooxmlschemas.google.com/">
        <go:slidesCustomData xmlns:go="http://customooxmlschemas.google.com/" commentPostId="AAAB6WSi3k4"/>
      </p:ext>
    </p:extLst>
  </p:cm>
  <p:cm authorId="0" idx="3" dt="2026-05-28T16:30:27.378">
    <p:pos x="230" y="0"/>
    <p:text>Why does picture recognition more important than image recognition?
In PDF, there might be hidden text in the file. However, it is not always the case. People might take a picture of a paper BOM and want to digitalize it.</p:text>
    <p:extLst>
      <p:ext uri="{C676402C-5697-4E1C-873F-D02D1690AC5C}">
        <p15:threadingInfo timeZoneBias="0">
          <p15:parentCm authorId="0" idx="1"/>
        </p15:threadingInfo>
      </p:ext>
      <p:ext uri="http://customooxmlschemas.google.com/">
        <go:slidesCustomData xmlns:go="http://customooxmlschemas.google.com/" commentPostId="AAAB6WUtXjQ"/>
      </p:ext>
    </p:extLst>
  </p:cm>
  <p:cm authorId="2" idx="1" dt="2026-05-28T17:01:49.401">
    <p:pos x="230" y="0"/>
    <p:text>who benefit from this?
Financial analysts, auditors, and data teams who need to extract structured data from reports at scale, anyone currently doing this manually or relying on OCR that loses table structure.</p:text>
    <p:extLst>
      <p:ext uri="{C676402C-5697-4E1C-873F-D02D1690AC5C}">
        <p15:threadingInfo timeZoneBias="0">
          <p15:parentCm authorId="0" idx="1"/>
        </p15:threadingInfo>
      </p:ext>
      <p:ext uri="http://customooxmlschemas.google.com/">
        <go:slidesCustomData xmlns:go="http://customooxmlschemas.google.com/" commentPostId="AAAB6WVHokU"/>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5-28T16:43:13.783">
    <p:pos x="231" y="1364"/>
    <p:text>Do we have the definition and hard score for each type?
It did not mention that we down sample in the script, so just a quick reminder of remember to mention the down sample of 850, 150, 300</p:text>
    <p:extLst>
      <p:ext uri="{C676402C-5697-4E1C-873F-D02D1690AC5C}">
        <p15:threadingInfo timeZoneBias="0"/>
      </p:ext>
      <p:ext uri="http://customooxmlschemas.google.com/">
        <go:slidesCustomData xmlns:go="http://customooxmlschemas.google.com/" commentPostId="AAAB6VrlWXg"/>
      </p:ext>
    </p:extLst>
  </p:cm>
  <p:cm authorId="2" idx="2" dt="2026-05-28T16:43:13.783">
    <p:pos x="231" y="1364"/>
    <p:text>The hard score is a custom heuristic we defined to rank tables by structural complexity — it combines row count, cell count, max colspan, and aspect ratio, with no contribution from image quality factors like blur or contrast.</p:text>
    <p:extLst>
      <p:ext uri="{C676402C-5697-4E1C-873F-D02D1690AC5C}">
        <p15:threadingInfo timeZoneBias="0">
          <p15:parentCm authorId="0" idx="4"/>
        </p15:threadingInfo>
      </p:ext>
      <p:ext uri="http://customooxmlschemas.google.com/">
        <go:slidesCustomData xmlns:go="http://customooxmlschemas.google.com/" commentPostId="AAAB6WUtXjc"/>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5-28T15:32:54.673">
    <p:pos x="6000" y="0"/>
    <p:text>The 850, 150, 300 is overlapping with slide 3. If we do not have time to change, it is fine but make sure not mentioned twice in the presentation</p:text>
    <p:extLst>
      <p:ext uri="{C676402C-5697-4E1C-873F-D02D1690AC5C}">
        <p15:threadingInfo timeZoneBias="0"/>
      </p:ext>
      <p:ext uri="http://customooxmlschemas.google.com/">
        <go:slidesCustomData xmlns:go="http://customooxmlschemas.google.com/" commentPostId="AAAB6VrlWXk"/>
      </p:ext>
    </p:extLst>
  </p:cm>
  <p:cm authorId="1" idx="2" dt="2026-05-28T15:32:54.673">
    <p:pos x="6000" y="0"/>
    <p:text>ok</p:text>
    <p:extLst>
      <p:ext uri="{C676402C-5697-4E1C-873F-D02D1690AC5C}">
        <p15:threadingInfo timeZoneBias="0">
          <p15:parentCm authorId="0" idx="5"/>
        </p15:threadingInfo>
      </p:ext>
      <p:ext uri="http://customooxmlschemas.google.com/">
        <go:slidesCustomData xmlns:go="http://customooxmlschemas.google.com/" commentPostId="AAAB6VrlWXw"/>
      </p:ext>
    </p:extLs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5-28T16:06:15.964">
    <p:pos x="6000" y="0"/>
    <p:text>This looks a little bit weird here. I think there are two way of modifications:
1. Models architecture overview &gt; Model Performance results &gt; Pipeline TEDS by Image type &gt; Florence &gt; Uniteable
2. Models architecture overview &gt; Florence &gt; Uniteable &gt; Spartan &gt; Model Performance results &gt; Pipeline TEDS by Image type 
Personally recommend first one</p:text>
    <p:extLst>
      <p:ext uri="{C676402C-5697-4E1C-873F-D02D1690AC5C}">
        <p15:threadingInfo timeZoneBias="0"/>
      </p:ext>
      <p:ext uri="http://customooxmlschemas.google.com/">
        <go:slidesCustomData xmlns:go="http://customooxmlschemas.google.com/" commentPostId="AAAB6VrlWXs"/>
      </p:ext>
    </p:extLst>
  </p:cm>
  <p:cm authorId="1" idx="3" dt="2026-05-28T15:38:58.091">
    <p:pos x="6000" y="0"/>
    <p:text>This graph does not include Florence. I think it still makes sense to present it after Florence because I will mainly discuss why Florence does not generate satisfactory results. LMK your thought</p:text>
    <p:extLst>
      <p:ext uri="{C676402C-5697-4E1C-873F-D02D1690AC5C}">
        <p15:threadingInfo timeZoneBias="0">
          <p15:parentCm authorId="0" idx="6"/>
        </p15:threadingInfo>
      </p:ext>
      <p:ext uri="http://customooxmlschemas.google.com/">
        <go:slidesCustomData xmlns:go="http://customooxmlschemas.google.com/" commentPostId="AAAB6VrlWX4"/>
      </p:ext>
    </p:extLst>
  </p:cm>
  <p:cm authorId="0" idx="7" dt="2026-05-28T16:01:25.823">
    <p:pos x="6000" y="0"/>
    <p:text>Why does Florence's unsatisfactory result relate to this graph? One more question, will you mention the benchmark of the Llama and ChatGPT?</p:text>
    <p:extLst>
      <p:ext uri="{C676402C-5697-4E1C-873F-D02D1690AC5C}">
        <p15:threadingInfo timeZoneBias="0">
          <p15:parentCm authorId="0" idx="6"/>
        </p15:threadingInfo>
      </p:ext>
      <p:ext uri="http://customooxmlschemas.google.com/">
        <go:slidesCustomData xmlns:go="http://customooxmlschemas.google.com/" commentPostId="AAAB6VrlWYk"/>
      </p:ext>
    </p:extLst>
  </p:cm>
  <p:cm authorId="1" idx="4" dt="2026-05-28T16:04:43.960">
    <p:pos x="6000" y="0"/>
    <p:text>Florence's score is not related to this graph. I mean since it's not in the graph, it make sense to me to present after the florence. I will briefly go through chatgpt and llamaparse overall performance. we can talk more about that in this page. Currently my presentation is around 5 mins.</p:text>
    <p:extLst>
      <p:ext uri="{C676402C-5697-4E1C-873F-D02D1690AC5C}">
        <p15:threadingInfo timeZoneBias="0">
          <p15:parentCm authorId="0" idx="6"/>
        </p15:threadingInfo>
      </p:ext>
      <p:ext uri="http://customooxmlschemas.google.com/">
        <go:slidesCustomData xmlns:go="http://customooxmlschemas.google.com/" commentPostId="AAAB6WSi3ko"/>
      </p:ext>
    </p:extLst>
  </p:cm>
  <p:cm authorId="0" idx="8" dt="2026-05-28T16:06:15.964">
    <p:pos x="6000" y="0"/>
    <p:text>Sure, sounds good</p:text>
    <p:extLst>
      <p:ext uri="{C676402C-5697-4E1C-873F-D02D1690AC5C}">
        <p15:threadingInfo timeZoneBias="0">
          <p15:parentCm authorId="0" idx="6"/>
        </p15:threadingInfo>
      </p:ext>
      <p:ext uri="http://customooxmlschemas.google.com/">
        <go:slidesCustomData xmlns:go="http://customooxmlschemas.google.com/" commentPostId="AAAB6WSi3kw"/>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 name="Shape 9"/>
        <p:cNvGrpSpPr/>
        <p:nvPr/>
      </p:nvGrpSpPr>
      <p:grpSpPr>
        <a:xfrm>
          <a:off x="0" y="0"/>
          <a:ext cx="0" cy="0"/>
          <a:chOff x="0" y="0"/>
          <a:chExt cx="0" cy="0"/>
        </a:xfrm>
      </p:grpSpPr>
      <p:sp>
        <p:nvSpPr>
          <p:cNvPr id="10" name="Google Shape;10;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 name="Google Shape;11;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 name="Google Shape;12;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 name="Google Shape;2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4" name="Google Shape;2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 name="Google Shape;6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6" name="Google Shape;6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6" name="Google Shape;86;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e51979973e_2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g3e51979973e_2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g3e51979973e_2_1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51979973e_5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g3e51979973e_5_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g3e51979973e_5_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4" name="Google Shape;204;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6" name="Google Shape;236;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e51979973e_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g3e51979973e_7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g3e51979973e_7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0" name="Google Shape;310;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11" name="Google Shape;311;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eb4a5d0e7e_0_1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g3eb4a5d0e7e_0_1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20" name="Google Shape;320;g3eb4a5d0e7e_0_1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eb4a5d0e7e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6" name="Google Shape;366;g3eb4a5d0e7e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67" name="Google Shape;367;g3eb4a5d0e7e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77" name="Google Shape;377;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2" name="Google Shape;402;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03" name="Google Shape;403;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26" name="Google Shape;426;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3" name="Google Shape;46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64" name="Google Shape;46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82" name="Google Shape;482;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 name="Shape 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 name="Shape 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omments" Target="../comments/comment2.xml"/><Relationship Id="rId4" Type="http://schemas.openxmlformats.org/officeDocument/2006/relationships/chart" Target="../charts/chart1.xml"/><Relationship Id="rId5"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comments" Target="../comments/comment3.xml"/><Relationship Id="rId4" Type="http://schemas.openxmlformats.org/officeDocument/2006/relationships/image" Target="../media/image11.png"/><Relationship Id="rId10" Type="http://schemas.openxmlformats.org/officeDocument/2006/relationships/image" Target="../media/image13.png"/><Relationship Id="rId9"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image" Target="../media/image1.png"/><Relationship Id="rId8"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omments" Target="../comments/comment4.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 name="Shape 13"/>
        <p:cNvGrpSpPr/>
        <p:nvPr/>
      </p:nvGrpSpPr>
      <p:grpSpPr>
        <a:xfrm>
          <a:off x="0" y="0"/>
          <a:ext cx="0" cy="0"/>
          <a:chOff x="0" y="0"/>
          <a:chExt cx="0" cy="0"/>
        </a:xfrm>
      </p:grpSpPr>
      <p:sp>
        <p:nvSpPr>
          <p:cNvPr id="14" name="Google Shape;14;p1"/>
          <p:cNvSpPr/>
          <p:nvPr/>
        </p:nvSpPr>
        <p:spPr>
          <a:xfrm>
            <a:off x="0" y="0"/>
            <a:ext cx="9144000" cy="51435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900">
              <a:solidFill>
                <a:schemeClr val="dk1"/>
              </a:solidFill>
              <a:latin typeface="Calibri"/>
              <a:ea typeface="Calibri"/>
              <a:cs typeface="Calibri"/>
              <a:sym typeface="Calibri"/>
            </a:endParaRPr>
          </a:p>
        </p:txBody>
      </p:sp>
      <p:sp>
        <p:nvSpPr>
          <p:cNvPr id="15" name="Google Shape;15;p1"/>
          <p:cNvSpPr/>
          <p:nvPr/>
        </p:nvSpPr>
        <p:spPr>
          <a:xfrm>
            <a:off x="6583680" y="365760"/>
            <a:ext cx="3200400" cy="3200400"/>
          </a:xfrm>
          <a:prstGeom prst="ellipse">
            <a:avLst/>
          </a:prstGeom>
          <a:solidFill>
            <a:srgbClr val="1B7A8C">
              <a:alpha val="20000"/>
            </a:srgbClr>
          </a:solidFill>
          <a:ln cap="flat" cmpd="sng" w="12700">
            <a:solidFill>
              <a:srgbClr val="1B7A8C">
                <a:alpha val="2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 name="Google Shape;16;p1"/>
          <p:cNvSpPr/>
          <p:nvPr/>
        </p:nvSpPr>
        <p:spPr>
          <a:xfrm>
            <a:off x="7132320" y="822960"/>
            <a:ext cx="2103120" cy="2103120"/>
          </a:xfrm>
          <a:prstGeom prst="ellipse">
            <a:avLst/>
          </a:prstGeom>
          <a:solidFill>
            <a:srgbClr val="2AACE2">
              <a:alpha val="30196"/>
            </a:srgbClr>
          </a:solidFill>
          <a:ln cap="flat" cmpd="sng" w="12700">
            <a:solidFill>
              <a:srgbClr val="2AACE2">
                <a:alpha val="3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 name="Google Shape;17;p1"/>
          <p:cNvSpPr/>
          <p:nvPr/>
        </p:nvSpPr>
        <p:spPr>
          <a:xfrm>
            <a:off x="558103" y="810897"/>
            <a:ext cx="6400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libri"/>
              <a:buNone/>
            </a:pPr>
            <a:r>
              <a:rPr b="1" lang="en-US" sz="3100">
                <a:solidFill>
                  <a:srgbClr val="FFFFFF"/>
                </a:solidFill>
                <a:latin typeface="Calibri"/>
                <a:ea typeface="Calibri"/>
                <a:cs typeface="Calibri"/>
                <a:sym typeface="Calibri"/>
              </a:rPr>
              <a:t>Visual Document Understanding</a:t>
            </a:r>
            <a:endParaRPr sz="3100">
              <a:solidFill>
                <a:schemeClr val="dk1"/>
              </a:solidFill>
              <a:latin typeface="Calibri"/>
              <a:ea typeface="Calibri"/>
              <a:cs typeface="Calibri"/>
              <a:sym typeface="Calibri"/>
            </a:endParaRPr>
          </a:p>
        </p:txBody>
      </p:sp>
      <p:sp>
        <p:nvSpPr>
          <p:cNvPr id="18" name="Google Shape;18;p1"/>
          <p:cNvSpPr/>
          <p:nvPr/>
        </p:nvSpPr>
        <p:spPr>
          <a:xfrm>
            <a:off x="444225" y="1450977"/>
            <a:ext cx="64008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ACE2"/>
              </a:buClr>
              <a:buSzPts val="1800"/>
              <a:buFont typeface="Calibri"/>
              <a:buNone/>
            </a:pPr>
            <a:r>
              <a:rPr b="1" lang="en-US" sz="2200">
                <a:solidFill>
                  <a:srgbClr val="2AACE2"/>
                </a:solidFill>
                <a:latin typeface="Calibri"/>
                <a:ea typeface="Calibri"/>
                <a:cs typeface="Calibri"/>
                <a:sym typeface="Calibri"/>
              </a:rPr>
              <a:t>Hierarchical Table Extraction &amp; Business Insights</a:t>
            </a:r>
            <a:endParaRPr b="1" sz="2200">
              <a:solidFill>
                <a:schemeClr val="dk1"/>
              </a:solidFill>
              <a:latin typeface="Calibri"/>
              <a:ea typeface="Calibri"/>
              <a:cs typeface="Calibri"/>
              <a:sym typeface="Calibri"/>
            </a:endParaRPr>
          </a:p>
        </p:txBody>
      </p:sp>
      <p:sp>
        <p:nvSpPr>
          <p:cNvPr id="19" name="Google Shape;19;p1"/>
          <p:cNvSpPr/>
          <p:nvPr/>
        </p:nvSpPr>
        <p:spPr>
          <a:xfrm>
            <a:off x="1051575" y="2001341"/>
            <a:ext cx="4437900" cy="36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EAF3"/>
              </a:buClr>
              <a:buSzPts val="1300"/>
              <a:buFont typeface="Calibri"/>
              <a:buNone/>
            </a:pPr>
            <a:r>
              <a:rPr lang="en-US" sz="1300">
                <a:solidFill>
                  <a:srgbClr val="D6EAF3"/>
                </a:solidFill>
                <a:latin typeface="Calibri"/>
                <a:ea typeface="Calibri"/>
                <a:cs typeface="Calibri"/>
                <a:sym typeface="Calibri"/>
              </a:rPr>
              <a:t>Advanced Computer Vision for Deep Learning — Final Project</a:t>
            </a:r>
            <a:endParaRPr sz="1300">
              <a:solidFill>
                <a:schemeClr val="dk1"/>
              </a:solidFill>
              <a:latin typeface="Calibri"/>
              <a:ea typeface="Calibri"/>
              <a:cs typeface="Calibri"/>
              <a:sym typeface="Calibri"/>
            </a:endParaRPr>
          </a:p>
        </p:txBody>
      </p:sp>
      <p:sp>
        <p:nvSpPr>
          <p:cNvPr id="20" name="Google Shape;20;p1"/>
          <p:cNvSpPr/>
          <p:nvPr/>
        </p:nvSpPr>
        <p:spPr>
          <a:xfrm>
            <a:off x="2054033" y="3041167"/>
            <a:ext cx="2154300" cy="1281600"/>
          </a:xfrm>
          <a:prstGeom prst="rect">
            <a:avLst/>
          </a:prstGeom>
          <a:noFill/>
          <a:ln>
            <a:noFill/>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Clr>
                <a:srgbClr val="2AACE2"/>
              </a:buClr>
              <a:buSzPts val="1100"/>
              <a:buFont typeface="Calibri"/>
              <a:buNone/>
            </a:pPr>
            <a:r>
              <a:rPr b="1" lang="en-US" sz="1300">
                <a:solidFill>
                  <a:srgbClr val="2AACE2"/>
                </a:solidFill>
                <a:latin typeface="Calibri"/>
                <a:ea typeface="Calibri"/>
                <a:cs typeface="Calibri"/>
                <a:sym typeface="Calibri"/>
              </a:rPr>
              <a:t>Team </a:t>
            </a:r>
            <a:r>
              <a:rPr b="1" lang="en-US" sz="1300">
                <a:solidFill>
                  <a:srgbClr val="2AACE2"/>
                </a:solidFill>
                <a:latin typeface="Calibri"/>
                <a:ea typeface="Calibri"/>
                <a:cs typeface="Calibri"/>
                <a:sym typeface="Calibri"/>
              </a:rPr>
              <a:t>Members</a:t>
            </a:r>
            <a:r>
              <a:rPr b="1" lang="en-US" sz="1300">
                <a:solidFill>
                  <a:srgbClr val="2AACE2"/>
                </a:solidFill>
                <a:latin typeface="Calibri"/>
                <a:ea typeface="Calibri"/>
                <a:cs typeface="Calibri"/>
                <a:sym typeface="Calibri"/>
              </a:rPr>
              <a:t>:  </a:t>
            </a:r>
            <a:endParaRPr b="1" sz="1300">
              <a:solidFill>
                <a:srgbClr val="2AACE2"/>
              </a:solidFill>
              <a:latin typeface="Calibri"/>
              <a:ea typeface="Calibri"/>
              <a:cs typeface="Calibri"/>
              <a:sym typeface="Calibri"/>
            </a:endParaRPr>
          </a:p>
          <a:p>
            <a:pPr indent="0" lvl="0" marL="0" marR="0" rtl="0" algn="ctr">
              <a:lnSpc>
                <a:spcPct val="150000"/>
              </a:lnSpc>
              <a:spcBef>
                <a:spcPts val="0"/>
              </a:spcBef>
              <a:spcAft>
                <a:spcPts val="0"/>
              </a:spcAft>
              <a:buClr>
                <a:srgbClr val="2AACE2"/>
              </a:buClr>
              <a:buSzPts val="1100"/>
              <a:buFont typeface="Calibri"/>
              <a:buNone/>
            </a:pPr>
            <a:r>
              <a:rPr lang="en-US" sz="1300">
                <a:solidFill>
                  <a:srgbClr val="FFFFFF"/>
                </a:solidFill>
                <a:latin typeface="Calibri"/>
                <a:ea typeface="Calibri"/>
                <a:cs typeface="Calibri"/>
                <a:sym typeface="Calibri"/>
              </a:rPr>
              <a:t>Lawrence Lin  </a:t>
            </a:r>
            <a:endParaRPr sz="1300">
              <a:solidFill>
                <a:srgbClr val="FFFFFF"/>
              </a:solidFill>
              <a:latin typeface="Calibri"/>
              <a:ea typeface="Calibri"/>
              <a:cs typeface="Calibri"/>
              <a:sym typeface="Calibri"/>
            </a:endParaRPr>
          </a:p>
          <a:p>
            <a:pPr indent="0" lvl="0" marL="0" marR="0" rtl="0" algn="ctr">
              <a:lnSpc>
                <a:spcPct val="150000"/>
              </a:lnSpc>
              <a:spcBef>
                <a:spcPts val="0"/>
              </a:spcBef>
              <a:spcAft>
                <a:spcPts val="0"/>
              </a:spcAft>
              <a:buClr>
                <a:srgbClr val="2AACE2"/>
              </a:buClr>
              <a:buSzPts val="1100"/>
              <a:buFont typeface="Calibri"/>
              <a:buNone/>
            </a:pPr>
            <a:r>
              <a:rPr lang="en-US" sz="1300">
                <a:solidFill>
                  <a:srgbClr val="FFFFFF"/>
                </a:solidFill>
                <a:latin typeface="Calibri"/>
                <a:ea typeface="Calibri"/>
                <a:cs typeface="Calibri"/>
                <a:sym typeface="Calibri"/>
              </a:rPr>
              <a:t>Ryan Chen  </a:t>
            </a:r>
            <a:endParaRPr sz="1300">
              <a:solidFill>
                <a:srgbClr val="FFFFFF"/>
              </a:solidFill>
              <a:latin typeface="Calibri"/>
              <a:ea typeface="Calibri"/>
              <a:cs typeface="Calibri"/>
              <a:sym typeface="Calibri"/>
            </a:endParaRPr>
          </a:p>
          <a:p>
            <a:pPr indent="0" lvl="0" marL="0" marR="0" rtl="0" algn="ctr">
              <a:lnSpc>
                <a:spcPct val="150000"/>
              </a:lnSpc>
              <a:spcBef>
                <a:spcPts val="0"/>
              </a:spcBef>
              <a:spcAft>
                <a:spcPts val="0"/>
              </a:spcAft>
              <a:buClr>
                <a:srgbClr val="2AACE2"/>
              </a:buClr>
              <a:buSzPts val="1100"/>
              <a:buFont typeface="Calibri"/>
              <a:buNone/>
            </a:pPr>
            <a:r>
              <a:rPr lang="en-US" sz="1300">
                <a:solidFill>
                  <a:srgbClr val="FFFFFF"/>
                </a:solidFill>
                <a:latin typeface="Calibri"/>
                <a:ea typeface="Calibri"/>
                <a:cs typeface="Calibri"/>
                <a:sym typeface="Calibri"/>
              </a:rPr>
              <a:t>Kacey Zhu  </a:t>
            </a:r>
            <a:endParaRPr sz="1300">
              <a:solidFill>
                <a:srgbClr val="FFFFFF"/>
              </a:solidFill>
              <a:latin typeface="Calibri"/>
              <a:ea typeface="Calibri"/>
              <a:cs typeface="Calibri"/>
              <a:sym typeface="Calibri"/>
            </a:endParaRPr>
          </a:p>
          <a:p>
            <a:pPr indent="0" lvl="0" marL="0" marR="0" rtl="0" algn="ctr">
              <a:lnSpc>
                <a:spcPct val="150000"/>
              </a:lnSpc>
              <a:spcBef>
                <a:spcPts val="0"/>
              </a:spcBef>
              <a:spcAft>
                <a:spcPts val="0"/>
              </a:spcAft>
              <a:buClr>
                <a:srgbClr val="2AACE2"/>
              </a:buClr>
              <a:buSzPts val="1100"/>
              <a:buFont typeface="Calibri"/>
              <a:buNone/>
            </a:pPr>
            <a:r>
              <a:rPr lang="en-US" sz="1300">
                <a:solidFill>
                  <a:srgbClr val="FFFFFF"/>
                </a:solidFill>
                <a:latin typeface="Calibri"/>
                <a:ea typeface="Calibri"/>
                <a:cs typeface="Calibri"/>
                <a:sym typeface="Calibri"/>
              </a:rPr>
              <a:t>Jared Maksoud</a:t>
            </a:r>
            <a:endParaRPr sz="13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2"/>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 name="Google Shape;27;p2"/>
          <p:cNvSpPr/>
          <p:nvPr/>
        </p:nvSpPr>
        <p:spPr>
          <a:xfrm>
            <a:off x="365760" y="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Presentation Outline</a:t>
            </a:r>
            <a:endParaRPr sz="2200">
              <a:solidFill>
                <a:schemeClr val="dk1"/>
              </a:solidFill>
              <a:latin typeface="Calibri"/>
              <a:ea typeface="Calibri"/>
              <a:cs typeface="Calibri"/>
              <a:sym typeface="Calibri"/>
            </a:endParaRPr>
          </a:p>
        </p:txBody>
      </p:sp>
      <p:sp>
        <p:nvSpPr>
          <p:cNvPr id="28" name="Google Shape;28;p2"/>
          <p:cNvSpPr/>
          <p:nvPr/>
        </p:nvSpPr>
        <p:spPr>
          <a:xfrm>
            <a:off x="340325" y="1124145"/>
            <a:ext cx="4114800" cy="7131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 name="Google Shape;29;p2"/>
          <p:cNvSpPr/>
          <p:nvPr/>
        </p:nvSpPr>
        <p:spPr>
          <a:xfrm>
            <a:off x="340325" y="1124145"/>
            <a:ext cx="457200" cy="7131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 name="Google Shape;30;p2"/>
          <p:cNvSpPr/>
          <p:nvPr/>
        </p:nvSpPr>
        <p:spPr>
          <a:xfrm>
            <a:off x="340325" y="1124145"/>
            <a:ext cx="457200" cy="71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ACE2"/>
              </a:buClr>
              <a:buSzPts val="1300"/>
              <a:buFont typeface="Calibri"/>
              <a:buNone/>
            </a:pPr>
            <a:r>
              <a:rPr b="1" lang="en-US" sz="1300">
                <a:solidFill>
                  <a:srgbClr val="2AACE2"/>
                </a:solidFill>
                <a:latin typeface="Calibri"/>
                <a:ea typeface="Calibri"/>
                <a:cs typeface="Calibri"/>
                <a:sym typeface="Calibri"/>
              </a:rPr>
              <a:t>01</a:t>
            </a:r>
            <a:endParaRPr sz="1300">
              <a:solidFill>
                <a:schemeClr val="dk1"/>
              </a:solidFill>
              <a:latin typeface="Calibri"/>
              <a:ea typeface="Calibri"/>
              <a:cs typeface="Calibri"/>
              <a:sym typeface="Calibri"/>
            </a:endParaRPr>
          </a:p>
        </p:txBody>
      </p:sp>
      <p:sp>
        <p:nvSpPr>
          <p:cNvPr id="31" name="Google Shape;31;p2"/>
          <p:cNvSpPr/>
          <p:nvPr/>
        </p:nvSpPr>
        <p:spPr>
          <a:xfrm>
            <a:off x="931701" y="1187726"/>
            <a:ext cx="3474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1" lang="en-US" sz="1300">
                <a:solidFill>
                  <a:srgbClr val="1E293B"/>
                </a:solidFill>
                <a:latin typeface="Calibri"/>
                <a:ea typeface="Calibri"/>
                <a:cs typeface="Calibri"/>
                <a:sym typeface="Calibri"/>
              </a:rPr>
              <a:t>Problem Statement</a:t>
            </a:r>
            <a:endParaRPr sz="1300">
              <a:solidFill>
                <a:schemeClr val="dk1"/>
              </a:solidFill>
              <a:latin typeface="Calibri"/>
              <a:ea typeface="Calibri"/>
              <a:cs typeface="Calibri"/>
              <a:sym typeface="Calibri"/>
            </a:endParaRPr>
          </a:p>
        </p:txBody>
      </p:sp>
      <p:sp>
        <p:nvSpPr>
          <p:cNvPr id="32" name="Google Shape;32;p2"/>
          <p:cNvSpPr/>
          <p:nvPr/>
        </p:nvSpPr>
        <p:spPr>
          <a:xfrm>
            <a:off x="931701" y="1480334"/>
            <a:ext cx="3474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Why hierarchical table extraction is hard</a:t>
            </a:r>
            <a:endParaRPr sz="1000">
              <a:solidFill>
                <a:schemeClr val="dk1"/>
              </a:solidFill>
              <a:latin typeface="Calibri"/>
              <a:ea typeface="Calibri"/>
              <a:cs typeface="Calibri"/>
              <a:sym typeface="Calibri"/>
            </a:endParaRPr>
          </a:p>
        </p:txBody>
      </p:sp>
      <p:sp>
        <p:nvSpPr>
          <p:cNvPr id="33" name="Google Shape;33;p2"/>
          <p:cNvSpPr/>
          <p:nvPr/>
        </p:nvSpPr>
        <p:spPr>
          <a:xfrm>
            <a:off x="340325" y="2038545"/>
            <a:ext cx="4114800" cy="7131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p2"/>
          <p:cNvSpPr/>
          <p:nvPr/>
        </p:nvSpPr>
        <p:spPr>
          <a:xfrm>
            <a:off x="340325" y="2038545"/>
            <a:ext cx="457200" cy="7131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 name="Google Shape;35;p2"/>
          <p:cNvSpPr/>
          <p:nvPr/>
        </p:nvSpPr>
        <p:spPr>
          <a:xfrm>
            <a:off x="340325" y="2038545"/>
            <a:ext cx="457200" cy="71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ACE2"/>
              </a:buClr>
              <a:buSzPts val="1300"/>
              <a:buFont typeface="Calibri"/>
              <a:buNone/>
            </a:pPr>
            <a:r>
              <a:rPr b="1" lang="en-US" sz="1300">
                <a:solidFill>
                  <a:srgbClr val="2AACE2"/>
                </a:solidFill>
                <a:latin typeface="Calibri"/>
                <a:ea typeface="Calibri"/>
                <a:cs typeface="Calibri"/>
                <a:sym typeface="Calibri"/>
              </a:rPr>
              <a:t>02</a:t>
            </a:r>
            <a:endParaRPr sz="1300">
              <a:solidFill>
                <a:schemeClr val="dk1"/>
              </a:solidFill>
              <a:latin typeface="Calibri"/>
              <a:ea typeface="Calibri"/>
              <a:cs typeface="Calibri"/>
              <a:sym typeface="Calibri"/>
            </a:endParaRPr>
          </a:p>
        </p:txBody>
      </p:sp>
      <p:sp>
        <p:nvSpPr>
          <p:cNvPr id="36" name="Google Shape;36;p2"/>
          <p:cNvSpPr/>
          <p:nvPr/>
        </p:nvSpPr>
        <p:spPr>
          <a:xfrm>
            <a:off x="931701" y="2102126"/>
            <a:ext cx="3474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1" lang="en-US" sz="1300">
                <a:solidFill>
                  <a:srgbClr val="1E293B"/>
                </a:solidFill>
                <a:latin typeface="Calibri"/>
                <a:ea typeface="Calibri"/>
                <a:cs typeface="Calibri"/>
                <a:sym typeface="Calibri"/>
              </a:rPr>
              <a:t>Dataset &amp; EDA</a:t>
            </a:r>
            <a:endParaRPr sz="1300">
              <a:solidFill>
                <a:schemeClr val="dk1"/>
              </a:solidFill>
              <a:latin typeface="Calibri"/>
              <a:ea typeface="Calibri"/>
              <a:cs typeface="Calibri"/>
              <a:sym typeface="Calibri"/>
            </a:endParaRPr>
          </a:p>
        </p:txBody>
      </p:sp>
      <p:sp>
        <p:nvSpPr>
          <p:cNvPr id="37" name="Google Shape;37;p2"/>
          <p:cNvSpPr/>
          <p:nvPr/>
        </p:nvSpPr>
        <p:spPr>
          <a:xfrm>
            <a:off x="931701" y="2394734"/>
            <a:ext cx="3474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FinTabNet: 32,670 financial tables analyzed</a:t>
            </a:r>
            <a:endParaRPr sz="1000">
              <a:solidFill>
                <a:schemeClr val="dk1"/>
              </a:solidFill>
              <a:latin typeface="Calibri"/>
              <a:ea typeface="Calibri"/>
              <a:cs typeface="Calibri"/>
              <a:sym typeface="Calibri"/>
            </a:endParaRPr>
          </a:p>
        </p:txBody>
      </p:sp>
      <p:sp>
        <p:nvSpPr>
          <p:cNvPr id="38" name="Google Shape;38;p2"/>
          <p:cNvSpPr/>
          <p:nvPr/>
        </p:nvSpPr>
        <p:spPr>
          <a:xfrm>
            <a:off x="340325" y="2952945"/>
            <a:ext cx="4114800" cy="7131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2"/>
          <p:cNvSpPr/>
          <p:nvPr/>
        </p:nvSpPr>
        <p:spPr>
          <a:xfrm>
            <a:off x="340325" y="2952945"/>
            <a:ext cx="457200" cy="7131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 name="Google Shape;40;p2"/>
          <p:cNvSpPr/>
          <p:nvPr/>
        </p:nvSpPr>
        <p:spPr>
          <a:xfrm>
            <a:off x="340325" y="2952945"/>
            <a:ext cx="457200" cy="71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ACE2"/>
              </a:buClr>
              <a:buSzPts val="1300"/>
              <a:buFont typeface="Calibri"/>
              <a:buNone/>
            </a:pPr>
            <a:r>
              <a:rPr b="1" lang="en-US" sz="1300">
                <a:solidFill>
                  <a:srgbClr val="2AACE2"/>
                </a:solidFill>
                <a:latin typeface="Calibri"/>
                <a:ea typeface="Calibri"/>
                <a:cs typeface="Calibri"/>
                <a:sym typeface="Calibri"/>
              </a:rPr>
              <a:t>03</a:t>
            </a:r>
            <a:endParaRPr sz="1300">
              <a:solidFill>
                <a:schemeClr val="dk1"/>
              </a:solidFill>
              <a:latin typeface="Calibri"/>
              <a:ea typeface="Calibri"/>
              <a:cs typeface="Calibri"/>
              <a:sym typeface="Calibri"/>
            </a:endParaRPr>
          </a:p>
        </p:txBody>
      </p:sp>
      <p:sp>
        <p:nvSpPr>
          <p:cNvPr id="41" name="Google Shape;41;p2"/>
          <p:cNvSpPr/>
          <p:nvPr/>
        </p:nvSpPr>
        <p:spPr>
          <a:xfrm>
            <a:off x="931701" y="3016526"/>
            <a:ext cx="3474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1" lang="en-US" sz="1300">
                <a:solidFill>
                  <a:srgbClr val="1E293B"/>
                </a:solidFill>
                <a:latin typeface="Calibri"/>
                <a:ea typeface="Calibri"/>
                <a:cs typeface="Calibri"/>
                <a:sym typeface="Calibri"/>
              </a:rPr>
              <a:t>Pipeline &amp; Models</a:t>
            </a:r>
            <a:endParaRPr sz="1300">
              <a:solidFill>
                <a:schemeClr val="dk1"/>
              </a:solidFill>
              <a:latin typeface="Calibri"/>
              <a:ea typeface="Calibri"/>
              <a:cs typeface="Calibri"/>
              <a:sym typeface="Calibri"/>
            </a:endParaRPr>
          </a:p>
        </p:txBody>
      </p:sp>
      <p:sp>
        <p:nvSpPr>
          <p:cNvPr id="42" name="Google Shape;42;p2"/>
          <p:cNvSpPr/>
          <p:nvPr/>
        </p:nvSpPr>
        <p:spPr>
          <a:xfrm>
            <a:off x="931701" y="3309134"/>
            <a:ext cx="3474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TSR → HTML → KIE → Structured Records</a:t>
            </a:r>
            <a:endParaRPr sz="1000">
              <a:solidFill>
                <a:schemeClr val="dk1"/>
              </a:solidFill>
              <a:latin typeface="Calibri"/>
              <a:ea typeface="Calibri"/>
              <a:cs typeface="Calibri"/>
              <a:sym typeface="Calibri"/>
            </a:endParaRPr>
          </a:p>
        </p:txBody>
      </p:sp>
      <p:sp>
        <p:nvSpPr>
          <p:cNvPr id="43" name="Google Shape;43;p2"/>
          <p:cNvSpPr/>
          <p:nvPr/>
        </p:nvSpPr>
        <p:spPr>
          <a:xfrm>
            <a:off x="340325" y="3867345"/>
            <a:ext cx="4114800" cy="7131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 name="Google Shape;44;p2"/>
          <p:cNvSpPr/>
          <p:nvPr/>
        </p:nvSpPr>
        <p:spPr>
          <a:xfrm>
            <a:off x="340325" y="3867345"/>
            <a:ext cx="457200" cy="7131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 name="Google Shape;45;p2"/>
          <p:cNvSpPr/>
          <p:nvPr/>
        </p:nvSpPr>
        <p:spPr>
          <a:xfrm>
            <a:off x="340325" y="3867345"/>
            <a:ext cx="457200" cy="71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ACE2"/>
              </a:buClr>
              <a:buSzPts val="1300"/>
              <a:buFont typeface="Calibri"/>
              <a:buNone/>
            </a:pPr>
            <a:r>
              <a:rPr b="1" lang="en-US" sz="1300">
                <a:solidFill>
                  <a:srgbClr val="2AACE2"/>
                </a:solidFill>
                <a:latin typeface="Calibri"/>
                <a:ea typeface="Calibri"/>
                <a:cs typeface="Calibri"/>
                <a:sym typeface="Calibri"/>
              </a:rPr>
              <a:t>04</a:t>
            </a:r>
            <a:endParaRPr sz="1300">
              <a:solidFill>
                <a:schemeClr val="dk1"/>
              </a:solidFill>
              <a:latin typeface="Calibri"/>
              <a:ea typeface="Calibri"/>
              <a:cs typeface="Calibri"/>
              <a:sym typeface="Calibri"/>
            </a:endParaRPr>
          </a:p>
        </p:txBody>
      </p:sp>
      <p:sp>
        <p:nvSpPr>
          <p:cNvPr id="46" name="Google Shape;46;p2"/>
          <p:cNvSpPr/>
          <p:nvPr/>
        </p:nvSpPr>
        <p:spPr>
          <a:xfrm>
            <a:off x="931701" y="3930926"/>
            <a:ext cx="3474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1" lang="en-US" sz="1300">
                <a:solidFill>
                  <a:srgbClr val="1E293B"/>
                </a:solidFill>
                <a:latin typeface="Calibri"/>
                <a:ea typeface="Calibri"/>
                <a:cs typeface="Calibri"/>
                <a:sym typeface="Calibri"/>
              </a:rPr>
              <a:t>Results &amp; Comparison</a:t>
            </a:r>
            <a:endParaRPr sz="1300">
              <a:solidFill>
                <a:schemeClr val="dk1"/>
              </a:solidFill>
              <a:latin typeface="Calibri"/>
              <a:ea typeface="Calibri"/>
              <a:cs typeface="Calibri"/>
              <a:sym typeface="Calibri"/>
            </a:endParaRPr>
          </a:p>
        </p:txBody>
      </p:sp>
      <p:sp>
        <p:nvSpPr>
          <p:cNvPr id="47" name="Google Shape;47;p2"/>
          <p:cNvSpPr/>
          <p:nvPr/>
        </p:nvSpPr>
        <p:spPr>
          <a:xfrm>
            <a:off x="931701" y="4223534"/>
            <a:ext cx="3474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Skeleton TEDS, Pipeline TEDS, F1 across 5 systems</a:t>
            </a:r>
            <a:endParaRPr sz="1000">
              <a:solidFill>
                <a:schemeClr val="dk1"/>
              </a:solidFill>
              <a:latin typeface="Calibri"/>
              <a:ea typeface="Calibri"/>
              <a:cs typeface="Calibri"/>
              <a:sym typeface="Calibri"/>
            </a:endParaRPr>
          </a:p>
        </p:txBody>
      </p:sp>
      <p:sp>
        <p:nvSpPr>
          <p:cNvPr id="48" name="Google Shape;48;p2"/>
          <p:cNvSpPr/>
          <p:nvPr/>
        </p:nvSpPr>
        <p:spPr>
          <a:xfrm>
            <a:off x="4711258" y="1124145"/>
            <a:ext cx="4114800" cy="7131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 name="Google Shape;49;p2"/>
          <p:cNvSpPr/>
          <p:nvPr/>
        </p:nvSpPr>
        <p:spPr>
          <a:xfrm>
            <a:off x="4711258" y="1124145"/>
            <a:ext cx="457200" cy="7131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2"/>
          <p:cNvSpPr/>
          <p:nvPr/>
        </p:nvSpPr>
        <p:spPr>
          <a:xfrm>
            <a:off x="4711258" y="1124145"/>
            <a:ext cx="457200" cy="71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ACE2"/>
              </a:buClr>
              <a:buSzPts val="1300"/>
              <a:buFont typeface="Calibri"/>
              <a:buNone/>
            </a:pPr>
            <a:r>
              <a:rPr b="1" lang="en-US" sz="1300">
                <a:solidFill>
                  <a:srgbClr val="2AACE2"/>
                </a:solidFill>
                <a:latin typeface="Calibri"/>
                <a:ea typeface="Calibri"/>
                <a:cs typeface="Calibri"/>
                <a:sym typeface="Calibri"/>
              </a:rPr>
              <a:t>05</a:t>
            </a:r>
            <a:endParaRPr sz="1300">
              <a:solidFill>
                <a:schemeClr val="dk1"/>
              </a:solidFill>
              <a:latin typeface="Calibri"/>
              <a:ea typeface="Calibri"/>
              <a:cs typeface="Calibri"/>
              <a:sym typeface="Calibri"/>
            </a:endParaRPr>
          </a:p>
        </p:txBody>
      </p:sp>
      <p:sp>
        <p:nvSpPr>
          <p:cNvPr id="51" name="Google Shape;51;p2"/>
          <p:cNvSpPr/>
          <p:nvPr/>
        </p:nvSpPr>
        <p:spPr>
          <a:xfrm>
            <a:off x="5302635" y="1187726"/>
            <a:ext cx="3474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1" lang="en-US" sz="1300">
                <a:solidFill>
                  <a:srgbClr val="1E293B"/>
                </a:solidFill>
                <a:latin typeface="Calibri"/>
                <a:ea typeface="Calibri"/>
                <a:cs typeface="Calibri"/>
                <a:sym typeface="Calibri"/>
              </a:rPr>
              <a:t>Error Analysis</a:t>
            </a:r>
            <a:endParaRPr sz="1300">
              <a:solidFill>
                <a:schemeClr val="dk1"/>
              </a:solidFill>
              <a:latin typeface="Calibri"/>
              <a:ea typeface="Calibri"/>
              <a:cs typeface="Calibri"/>
              <a:sym typeface="Calibri"/>
            </a:endParaRPr>
          </a:p>
        </p:txBody>
      </p:sp>
      <p:sp>
        <p:nvSpPr>
          <p:cNvPr id="52" name="Google Shape;52;p2"/>
          <p:cNvSpPr/>
          <p:nvPr/>
        </p:nvSpPr>
        <p:spPr>
          <a:xfrm>
            <a:off x="5302635" y="1480334"/>
            <a:ext cx="3474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Where and why each model fails</a:t>
            </a:r>
            <a:endParaRPr sz="1000">
              <a:solidFill>
                <a:schemeClr val="dk1"/>
              </a:solidFill>
              <a:latin typeface="Calibri"/>
              <a:ea typeface="Calibri"/>
              <a:cs typeface="Calibri"/>
              <a:sym typeface="Calibri"/>
            </a:endParaRPr>
          </a:p>
        </p:txBody>
      </p:sp>
      <p:sp>
        <p:nvSpPr>
          <p:cNvPr id="53" name="Google Shape;53;p2"/>
          <p:cNvSpPr/>
          <p:nvPr/>
        </p:nvSpPr>
        <p:spPr>
          <a:xfrm>
            <a:off x="4711258" y="2038545"/>
            <a:ext cx="4114800" cy="7131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2"/>
          <p:cNvSpPr/>
          <p:nvPr/>
        </p:nvSpPr>
        <p:spPr>
          <a:xfrm>
            <a:off x="4711258" y="2038545"/>
            <a:ext cx="457200" cy="7131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2"/>
          <p:cNvSpPr/>
          <p:nvPr/>
        </p:nvSpPr>
        <p:spPr>
          <a:xfrm>
            <a:off x="4711258" y="2038545"/>
            <a:ext cx="457200" cy="71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ACE2"/>
              </a:buClr>
              <a:buSzPts val="1300"/>
              <a:buFont typeface="Calibri"/>
              <a:buNone/>
            </a:pPr>
            <a:r>
              <a:rPr b="1" lang="en-US" sz="1300">
                <a:solidFill>
                  <a:srgbClr val="2AACE2"/>
                </a:solidFill>
                <a:latin typeface="Calibri"/>
                <a:ea typeface="Calibri"/>
                <a:cs typeface="Calibri"/>
                <a:sym typeface="Calibri"/>
              </a:rPr>
              <a:t>06</a:t>
            </a:r>
            <a:endParaRPr sz="1300">
              <a:solidFill>
                <a:schemeClr val="dk1"/>
              </a:solidFill>
              <a:latin typeface="Calibri"/>
              <a:ea typeface="Calibri"/>
              <a:cs typeface="Calibri"/>
              <a:sym typeface="Calibri"/>
            </a:endParaRPr>
          </a:p>
        </p:txBody>
      </p:sp>
      <p:sp>
        <p:nvSpPr>
          <p:cNvPr id="56" name="Google Shape;56;p2"/>
          <p:cNvSpPr/>
          <p:nvPr/>
        </p:nvSpPr>
        <p:spPr>
          <a:xfrm>
            <a:off x="5302635" y="2102126"/>
            <a:ext cx="3474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1" lang="en-US" sz="1300">
                <a:solidFill>
                  <a:srgbClr val="1E293B"/>
                </a:solidFill>
                <a:latin typeface="Calibri"/>
                <a:ea typeface="Calibri"/>
                <a:cs typeface="Calibri"/>
                <a:sym typeface="Calibri"/>
              </a:rPr>
              <a:t>TableSight Dashboard</a:t>
            </a:r>
            <a:endParaRPr sz="1300">
              <a:solidFill>
                <a:schemeClr val="dk1"/>
              </a:solidFill>
              <a:latin typeface="Calibri"/>
              <a:ea typeface="Calibri"/>
              <a:cs typeface="Calibri"/>
              <a:sym typeface="Calibri"/>
            </a:endParaRPr>
          </a:p>
        </p:txBody>
      </p:sp>
      <p:sp>
        <p:nvSpPr>
          <p:cNvPr id="57" name="Google Shape;57;p2"/>
          <p:cNvSpPr/>
          <p:nvPr/>
        </p:nvSpPr>
        <p:spPr>
          <a:xfrm>
            <a:off x="5302635" y="2394734"/>
            <a:ext cx="3474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Deployment &amp; demo interface</a:t>
            </a:r>
            <a:endParaRPr sz="1000">
              <a:solidFill>
                <a:schemeClr val="dk1"/>
              </a:solidFill>
              <a:latin typeface="Calibri"/>
              <a:ea typeface="Calibri"/>
              <a:cs typeface="Calibri"/>
              <a:sym typeface="Calibri"/>
            </a:endParaRPr>
          </a:p>
        </p:txBody>
      </p:sp>
      <p:sp>
        <p:nvSpPr>
          <p:cNvPr id="58" name="Google Shape;58;p2"/>
          <p:cNvSpPr/>
          <p:nvPr/>
        </p:nvSpPr>
        <p:spPr>
          <a:xfrm>
            <a:off x="4711258" y="2952945"/>
            <a:ext cx="4114800" cy="7131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2"/>
          <p:cNvSpPr/>
          <p:nvPr/>
        </p:nvSpPr>
        <p:spPr>
          <a:xfrm>
            <a:off x="4711258" y="2952945"/>
            <a:ext cx="457200" cy="7131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2"/>
          <p:cNvSpPr/>
          <p:nvPr/>
        </p:nvSpPr>
        <p:spPr>
          <a:xfrm>
            <a:off x="4711258" y="2952945"/>
            <a:ext cx="457200" cy="71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ACE2"/>
              </a:buClr>
              <a:buSzPts val="1300"/>
              <a:buFont typeface="Calibri"/>
              <a:buNone/>
            </a:pPr>
            <a:r>
              <a:rPr b="1" lang="en-US" sz="1300">
                <a:solidFill>
                  <a:srgbClr val="2AACE2"/>
                </a:solidFill>
                <a:latin typeface="Calibri"/>
                <a:ea typeface="Calibri"/>
                <a:cs typeface="Calibri"/>
                <a:sym typeface="Calibri"/>
              </a:rPr>
              <a:t>07</a:t>
            </a:r>
            <a:endParaRPr sz="1300">
              <a:solidFill>
                <a:schemeClr val="dk1"/>
              </a:solidFill>
              <a:latin typeface="Calibri"/>
              <a:ea typeface="Calibri"/>
              <a:cs typeface="Calibri"/>
              <a:sym typeface="Calibri"/>
            </a:endParaRPr>
          </a:p>
        </p:txBody>
      </p:sp>
      <p:sp>
        <p:nvSpPr>
          <p:cNvPr id="61" name="Google Shape;61;p2"/>
          <p:cNvSpPr/>
          <p:nvPr/>
        </p:nvSpPr>
        <p:spPr>
          <a:xfrm>
            <a:off x="5302635" y="3016526"/>
            <a:ext cx="3474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1" lang="en-US" sz="1300">
                <a:solidFill>
                  <a:srgbClr val="1E293B"/>
                </a:solidFill>
                <a:latin typeface="Calibri"/>
                <a:ea typeface="Calibri"/>
                <a:cs typeface="Calibri"/>
                <a:sym typeface="Calibri"/>
              </a:rPr>
              <a:t>Conclusions</a:t>
            </a:r>
            <a:endParaRPr sz="1300">
              <a:solidFill>
                <a:schemeClr val="dk1"/>
              </a:solidFill>
              <a:latin typeface="Calibri"/>
              <a:ea typeface="Calibri"/>
              <a:cs typeface="Calibri"/>
              <a:sym typeface="Calibri"/>
            </a:endParaRPr>
          </a:p>
        </p:txBody>
      </p:sp>
      <p:sp>
        <p:nvSpPr>
          <p:cNvPr id="62" name="Google Shape;62;p2"/>
          <p:cNvSpPr/>
          <p:nvPr/>
        </p:nvSpPr>
        <p:spPr>
          <a:xfrm>
            <a:off x="5302635" y="3309134"/>
            <a:ext cx="3474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Key findings &amp; hybrid architecture recommendation</a:t>
            </a:r>
            <a:endParaRPr sz="1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 name="Shape 67"/>
        <p:cNvGrpSpPr/>
        <p:nvPr/>
      </p:nvGrpSpPr>
      <p:grpSpPr>
        <a:xfrm>
          <a:off x="0" y="0"/>
          <a:ext cx="0" cy="0"/>
          <a:chOff x="0" y="0"/>
          <a:chExt cx="0" cy="0"/>
        </a:xfrm>
      </p:grpSpPr>
      <p:sp>
        <p:nvSpPr>
          <p:cNvPr id="68" name="Google Shape;68;p3"/>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 name="Google Shape;69;p3"/>
          <p:cNvSpPr/>
          <p:nvPr/>
        </p:nvSpPr>
        <p:spPr>
          <a:xfrm>
            <a:off x="365760" y="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Problem Statement</a:t>
            </a:r>
            <a:endParaRPr sz="2200">
              <a:solidFill>
                <a:schemeClr val="dk1"/>
              </a:solidFill>
              <a:latin typeface="Calibri"/>
              <a:ea typeface="Calibri"/>
              <a:cs typeface="Calibri"/>
              <a:sym typeface="Calibri"/>
            </a:endParaRPr>
          </a:p>
        </p:txBody>
      </p:sp>
      <p:sp>
        <p:nvSpPr>
          <p:cNvPr id="70" name="Google Shape;70;p3"/>
          <p:cNvSpPr/>
          <p:nvPr/>
        </p:nvSpPr>
        <p:spPr>
          <a:xfrm>
            <a:off x="365760" y="1106192"/>
            <a:ext cx="3840600" cy="34746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3"/>
          <p:cNvSpPr/>
          <p:nvPr/>
        </p:nvSpPr>
        <p:spPr>
          <a:xfrm>
            <a:off x="502920" y="1197632"/>
            <a:ext cx="35661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400"/>
              <a:buFont typeface="Calibri"/>
              <a:buNone/>
            </a:pPr>
            <a:r>
              <a:rPr b="1" lang="en-US" sz="1500">
                <a:solidFill>
                  <a:srgbClr val="0A2342"/>
                </a:solidFill>
                <a:latin typeface="Calibri"/>
                <a:ea typeface="Calibri"/>
                <a:cs typeface="Calibri"/>
                <a:sym typeface="Calibri"/>
              </a:rPr>
              <a:t>The Challenge</a:t>
            </a:r>
            <a:endParaRPr sz="1500">
              <a:solidFill>
                <a:schemeClr val="dk1"/>
              </a:solidFill>
              <a:latin typeface="Calibri"/>
              <a:ea typeface="Calibri"/>
              <a:cs typeface="Calibri"/>
              <a:sym typeface="Calibri"/>
            </a:endParaRPr>
          </a:p>
        </p:txBody>
      </p:sp>
      <p:sp>
        <p:nvSpPr>
          <p:cNvPr id="72" name="Google Shape;72;p3"/>
          <p:cNvSpPr/>
          <p:nvPr/>
        </p:nvSpPr>
        <p:spPr>
          <a:xfrm>
            <a:off x="502920" y="1654832"/>
            <a:ext cx="3566100" cy="27432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1E293B"/>
              </a:buClr>
              <a:buSzPts val="1200"/>
              <a:buFont typeface="Calibri"/>
              <a:buNone/>
            </a:pPr>
            <a:r>
              <a:rPr lang="en-US" sz="1300">
                <a:solidFill>
                  <a:srgbClr val="1E293B"/>
                </a:solidFill>
                <a:latin typeface="Calibri"/>
                <a:ea typeface="Calibri"/>
                <a:cs typeface="Calibri"/>
                <a:sym typeface="Calibri"/>
              </a:rPr>
              <a:t>Financial documents contain tables with:</a:t>
            </a:r>
            <a:br>
              <a:rPr lang="en-US" sz="1300">
                <a:solidFill>
                  <a:srgbClr val="1E293B"/>
                </a:solidFill>
                <a:latin typeface="Calibri"/>
                <a:ea typeface="Calibri"/>
                <a:cs typeface="Calibri"/>
                <a:sym typeface="Calibri"/>
              </a:rPr>
            </a:br>
            <a:endParaRPr sz="1300">
              <a:solidFill>
                <a:srgbClr val="1E293B"/>
              </a:solidFill>
              <a:latin typeface="Calibri"/>
              <a:ea typeface="Calibri"/>
              <a:cs typeface="Calibri"/>
              <a:sym typeface="Calibri"/>
            </a:endParaRPr>
          </a:p>
          <a:p>
            <a:pPr indent="-349250" lvl="0" marL="342900" marR="0" rtl="0" algn="l">
              <a:lnSpc>
                <a:spcPct val="115000"/>
              </a:lnSpc>
              <a:spcBef>
                <a:spcPts val="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Multi-level headers &amp; merged cells</a:t>
            </a:r>
            <a:endParaRPr sz="1300">
              <a:solidFill>
                <a:srgbClr val="1E293B"/>
              </a:solidFill>
              <a:latin typeface="Calibri"/>
              <a:ea typeface="Calibri"/>
              <a:cs typeface="Calibri"/>
              <a:sym typeface="Calibri"/>
            </a:endParaRPr>
          </a:p>
          <a:p>
            <a:pPr indent="-349250" lvl="0" marL="342900" marR="0" rtl="0" algn="l">
              <a:lnSpc>
                <a:spcPct val="115000"/>
              </a:lnSpc>
              <a:spcBef>
                <a:spcPts val="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Irregular layouts (wide, tall, borderless)</a:t>
            </a:r>
            <a:endParaRPr sz="1300">
              <a:solidFill>
                <a:srgbClr val="1E293B"/>
              </a:solidFill>
              <a:latin typeface="Calibri"/>
              <a:ea typeface="Calibri"/>
              <a:cs typeface="Calibri"/>
              <a:sym typeface="Calibri"/>
            </a:endParaRPr>
          </a:p>
          <a:p>
            <a:pPr indent="-349250" lvl="0" marL="342900" marR="0" rtl="0" algn="l">
              <a:lnSpc>
                <a:spcPct val="115000"/>
              </a:lnSpc>
              <a:spcBef>
                <a:spcPts val="0"/>
              </a:spcBef>
              <a:spcAft>
                <a:spcPts val="0"/>
              </a:spcAft>
              <a:buClr>
                <a:srgbClr val="1E293B"/>
              </a:buClr>
              <a:buSzPts val="1300"/>
              <a:buFont typeface="Calibri"/>
              <a:buChar char="•"/>
            </a:pPr>
            <a:r>
              <a:rPr lang="en-US" sz="1300">
                <a:solidFill>
                  <a:srgbClr val="1E293B"/>
                </a:solidFill>
                <a:latin typeface="Calibri"/>
                <a:ea typeface="Calibri"/>
                <a:cs typeface="Calibri"/>
                <a:sym typeface="Calibri"/>
              </a:rPr>
              <a:t>Low contrast &amp; poor scan quality</a:t>
            </a:r>
            <a:endParaRPr sz="1300">
              <a:solidFill>
                <a:srgbClr val="1E293B"/>
              </a:solidFill>
              <a:latin typeface="Calibri"/>
              <a:ea typeface="Calibri"/>
              <a:cs typeface="Calibri"/>
              <a:sym typeface="Calibri"/>
            </a:endParaRPr>
          </a:p>
          <a:p>
            <a:pPr indent="0" lvl="0" marL="0" marR="0" rtl="0" algn="l">
              <a:lnSpc>
                <a:spcPct val="115000"/>
              </a:lnSpc>
              <a:spcBef>
                <a:spcPts val="0"/>
              </a:spcBef>
              <a:spcAft>
                <a:spcPts val="0"/>
              </a:spcAft>
              <a:buNone/>
            </a:pPr>
            <a:r>
              <a:t/>
            </a:r>
            <a:endParaRPr sz="1300">
              <a:solidFill>
                <a:srgbClr val="1E293B"/>
              </a:solidFill>
              <a:latin typeface="Calibri"/>
              <a:ea typeface="Calibri"/>
              <a:cs typeface="Calibri"/>
              <a:sym typeface="Calibri"/>
            </a:endParaRPr>
          </a:p>
          <a:p>
            <a:pPr indent="0" lvl="0" marL="0" marR="0" rtl="0" algn="l">
              <a:lnSpc>
                <a:spcPct val="115000"/>
              </a:lnSpc>
              <a:spcBef>
                <a:spcPts val="0"/>
              </a:spcBef>
              <a:spcAft>
                <a:spcPts val="0"/>
              </a:spcAft>
              <a:buClr>
                <a:srgbClr val="1E293B"/>
              </a:buClr>
              <a:buSzPts val="1200"/>
              <a:buFont typeface="Calibri"/>
              <a:buNone/>
            </a:pPr>
            <a:r>
              <a:rPr lang="en-US" sz="1300">
                <a:solidFill>
                  <a:srgbClr val="1E293B"/>
                </a:solidFill>
                <a:latin typeface="Calibri"/>
                <a:ea typeface="Calibri"/>
                <a:cs typeface="Calibri"/>
                <a:sym typeface="Calibri"/>
              </a:rPr>
              <a:t>Traditional OCR extracts text but loses the logical table structure, making downstream analytics impossible.</a:t>
            </a:r>
            <a:endParaRPr sz="1300">
              <a:solidFill>
                <a:srgbClr val="1E293B"/>
              </a:solidFill>
              <a:latin typeface="Calibri"/>
              <a:ea typeface="Calibri"/>
              <a:cs typeface="Calibri"/>
              <a:sym typeface="Calibri"/>
            </a:endParaRPr>
          </a:p>
        </p:txBody>
      </p:sp>
      <p:sp>
        <p:nvSpPr>
          <p:cNvPr id="73" name="Google Shape;73;p3"/>
          <p:cNvSpPr/>
          <p:nvPr/>
        </p:nvSpPr>
        <p:spPr>
          <a:xfrm>
            <a:off x="4572000" y="1106192"/>
            <a:ext cx="4206300" cy="34746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 name="Google Shape;74;p3"/>
          <p:cNvSpPr/>
          <p:nvPr/>
        </p:nvSpPr>
        <p:spPr>
          <a:xfrm>
            <a:off x="4709160" y="1197632"/>
            <a:ext cx="3931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ACE2"/>
              </a:buClr>
              <a:buSzPts val="1400"/>
              <a:buFont typeface="Calibri"/>
              <a:buNone/>
            </a:pPr>
            <a:r>
              <a:rPr b="1" lang="en-US" sz="1500">
                <a:solidFill>
                  <a:srgbClr val="2AACE2"/>
                </a:solidFill>
                <a:latin typeface="Calibri"/>
                <a:ea typeface="Calibri"/>
                <a:cs typeface="Calibri"/>
                <a:sym typeface="Calibri"/>
              </a:rPr>
              <a:t>End-to-End Pipeline</a:t>
            </a:r>
            <a:endParaRPr sz="1500">
              <a:solidFill>
                <a:schemeClr val="dk1"/>
              </a:solidFill>
              <a:latin typeface="Calibri"/>
              <a:ea typeface="Calibri"/>
              <a:cs typeface="Calibri"/>
              <a:sym typeface="Calibri"/>
            </a:endParaRPr>
          </a:p>
        </p:txBody>
      </p:sp>
      <p:sp>
        <p:nvSpPr>
          <p:cNvPr id="75" name="Google Shape;75;p3"/>
          <p:cNvSpPr/>
          <p:nvPr/>
        </p:nvSpPr>
        <p:spPr>
          <a:xfrm>
            <a:off x="4754880" y="1700552"/>
            <a:ext cx="3749100" cy="502800"/>
          </a:xfrm>
          <a:prstGeom prst="rect">
            <a:avLst/>
          </a:prstGeom>
          <a:solidFill>
            <a:srgbClr val="2AACE2"/>
          </a:solidFill>
          <a:ln cap="flat" cmpd="sng" w="12700">
            <a:solidFill>
              <a:srgbClr val="2AAC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 name="Google Shape;76;p3"/>
          <p:cNvSpPr/>
          <p:nvPr/>
        </p:nvSpPr>
        <p:spPr>
          <a:xfrm>
            <a:off x="4754880" y="1700552"/>
            <a:ext cx="37491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1  Document Image</a:t>
            </a:r>
            <a:endParaRPr sz="1300">
              <a:solidFill>
                <a:schemeClr val="dk1"/>
              </a:solidFill>
              <a:latin typeface="Calibri"/>
              <a:ea typeface="Calibri"/>
              <a:cs typeface="Calibri"/>
              <a:sym typeface="Calibri"/>
            </a:endParaRPr>
          </a:p>
        </p:txBody>
      </p:sp>
      <p:sp>
        <p:nvSpPr>
          <p:cNvPr id="77" name="Google Shape;77;p3"/>
          <p:cNvSpPr/>
          <p:nvPr/>
        </p:nvSpPr>
        <p:spPr>
          <a:xfrm>
            <a:off x="4754880" y="2386352"/>
            <a:ext cx="3749100" cy="502800"/>
          </a:xfrm>
          <a:prstGeom prst="rect">
            <a:avLst/>
          </a:prstGeom>
          <a:solidFill>
            <a:srgbClr val="4ECDC4"/>
          </a:solidFill>
          <a:ln cap="flat" cmpd="sng" w="12700">
            <a:solidFill>
              <a:srgbClr val="4ECD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3"/>
          <p:cNvSpPr/>
          <p:nvPr/>
        </p:nvSpPr>
        <p:spPr>
          <a:xfrm>
            <a:off x="4754880" y="2386352"/>
            <a:ext cx="37491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2  Table Structure Recognition (TSR) → HTML Structure</a:t>
            </a:r>
            <a:endParaRPr sz="1300">
              <a:solidFill>
                <a:schemeClr val="dk1"/>
              </a:solidFill>
              <a:latin typeface="Calibri"/>
              <a:ea typeface="Calibri"/>
              <a:cs typeface="Calibri"/>
              <a:sym typeface="Calibri"/>
            </a:endParaRPr>
          </a:p>
        </p:txBody>
      </p:sp>
      <p:sp>
        <p:nvSpPr>
          <p:cNvPr id="79" name="Google Shape;79;p3"/>
          <p:cNvSpPr/>
          <p:nvPr/>
        </p:nvSpPr>
        <p:spPr>
          <a:xfrm>
            <a:off x="4754880" y="3072152"/>
            <a:ext cx="3749100" cy="502800"/>
          </a:xfrm>
          <a:prstGeom prst="rect">
            <a:avLst/>
          </a:prstGeom>
          <a:solidFill>
            <a:srgbClr val="F4A261"/>
          </a:solidFill>
          <a:ln cap="flat" cmpd="sng" w="12700">
            <a:solidFill>
              <a:srgbClr val="F4A2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p3"/>
          <p:cNvSpPr/>
          <p:nvPr/>
        </p:nvSpPr>
        <p:spPr>
          <a:xfrm>
            <a:off x="4754880" y="3072152"/>
            <a:ext cx="37491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3  HTML → DataFrame</a:t>
            </a:r>
            <a:endParaRPr sz="1300">
              <a:solidFill>
                <a:schemeClr val="dk1"/>
              </a:solidFill>
              <a:latin typeface="Calibri"/>
              <a:ea typeface="Calibri"/>
              <a:cs typeface="Calibri"/>
              <a:sym typeface="Calibri"/>
            </a:endParaRPr>
          </a:p>
        </p:txBody>
      </p:sp>
      <p:sp>
        <p:nvSpPr>
          <p:cNvPr id="81" name="Google Shape;81;p3"/>
          <p:cNvSpPr/>
          <p:nvPr/>
        </p:nvSpPr>
        <p:spPr>
          <a:xfrm>
            <a:off x="4754880" y="3757952"/>
            <a:ext cx="3749100" cy="502800"/>
          </a:xfrm>
          <a:prstGeom prst="rect">
            <a:avLst/>
          </a:prstGeom>
          <a:solidFill>
            <a:srgbClr val="2A9D8F"/>
          </a:solidFill>
          <a:ln cap="flat" cmpd="sng" w="12700">
            <a:solidFill>
              <a:srgbClr val="2A9D8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3"/>
          <p:cNvSpPr/>
          <p:nvPr/>
        </p:nvSpPr>
        <p:spPr>
          <a:xfrm>
            <a:off x="4754880" y="3757952"/>
            <a:ext cx="37491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4  Key Information Extraction (KIE) → Business Records</a:t>
            </a:r>
            <a:endParaRPr sz="13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4"/>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4"/>
          <p:cNvSpPr/>
          <p:nvPr/>
        </p:nvSpPr>
        <p:spPr>
          <a:xfrm>
            <a:off x="365760" y="0"/>
            <a:ext cx="82296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2000"/>
              <a:buFont typeface="Calibri"/>
              <a:buNone/>
            </a:pPr>
            <a:r>
              <a:rPr b="1" lang="en-US" sz="2000">
                <a:solidFill>
                  <a:schemeClr val="lt1"/>
                </a:solidFill>
                <a:latin typeface="Calibri"/>
                <a:ea typeface="Calibri"/>
                <a:cs typeface="Calibri"/>
                <a:sym typeface="Calibri"/>
              </a:rPr>
              <a:t>Dataset: FinTabNet EDA — Overview &amp; Distribution</a:t>
            </a:r>
            <a:endParaRPr b="1" sz="2200">
              <a:solidFill>
                <a:srgbClr val="FFFFFF"/>
              </a:solidFill>
              <a:latin typeface="Calibri"/>
              <a:ea typeface="Calibri"/>
              <a:cs typeface="Calibri"/>
              <a:sym typeface="Calibri"/>
            </a:endParaRPr>
          </a:p>
        </p:txBody>
      </p:sp>
      <p:sp>
        <p:nvSpPr>
          <p:cNvPr id="90" name="Google Shape;90;p4"/>
          <p:cNvSpPr/>
          <p:nvPr/>
        </p:nvSpPr>
        <p:spPr>
          <a:xfrm>
            <a:off x="441679" y="1774989"/>
            <a:ext cx="4114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Image Type Distribution</a:t>
            </a:r>
            <a:endParaRPr sz="1300">
              <a:solidFill>
                <a:schemeClr val="dk1"/>
              </a:solidFill>
              <a:latin typeface="Calibri"/>
              <a:ea typeface="Calibri"/>
              <a:cs typeface="Calibri"/>
              <a:sym typeface="Calibri"/>
            </a:endParaRPr>
          </a:p>
        </p:txBody>
      </p:sp>
      <p:graphicFrame>
        <p:nvGraphicFramePr>
          <p:cNvPr id="91" name="Google Shape;91;p4"/>
          <p:cNvGraphicFramePr/>
          <p:nvPr/>
        </p:nvGraphicFramePr>
        <p:xfrm>
          <a:off x="367687" y="2166324"/>
          <a:ext cx="3902100" cy="2427600"/>
        </p:xfrm>
        <a:graphic>
          <a:graphicData uri="http://schemas.openxmlformats.org/drawingml/2006/chart">
            <c:chart r:id="rId4"/>
          </a:graphicData>
        </a:graphic>
      </p:graphicFrame>
      <p:sp>
        <p:nvSpPr>
          <p:cNvPr id="92" name="Google Shape;92;p4"/>
          <p:cNvSpPr/>
          <p:nvPr/>
        </p:nvSpPr>
        <p:spPr>
          <a:xfrm>
            <a:off x="4754880" y="1774989"/>
            <a:ext cx="4114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Avg Hard Score by Image Type</a:t>
            </a:r>
            <a:endParaRPr sz="1300">
              <a:solidFill>
                <a:schemeClr val="dk1"/>
              </a:solidFill>
              <a:latin typeface="Calibri"/>
              <a:ea typeface="Calibri"/>
              <a:cs typeface="Calibri"/>
              <a:sym typeface="Calibri"/>
            </a:endParaRPr>
          </a:p>
        </p:txBody>
      </p:sp>
      <p:graphicFrame>
        <p:nvGraphicFramePr>
          <p:cNvPr id="93" name="Google Shape;93;p4"/>
          <p:cNvGraphicFramePr/>
          <p:nvPr/>
        </p:nvGraphicFramePr>
        <p:xfrm>
          <a:off x="4678615" y="2166324"/>
          <a:ext cx="3902100" cy="2427600"/>
        </p:xfrm>
        <a:graphic>
          <a:graphicData uri="http://schemas.openxmlformats.org/drawingml/2006/chart">
            <c:chart r:id="rId5"/>
          </a:graphicData>
        </a:graphic>
      </p:graphicFrame>
      <p:sp>
        <p:nvSpPr>
          <p:cNvPr id="94" name="Google Shape;94;p4"/>
          <p:cNvSpPr/>
          <p:nvPr/>
        </p:nvSpPr>
        <p:spPr>
          <a:xfrm>
            <a:off x="457085" y="4698304"/>
            <a:ext cx="84126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7A8C"/>
              </a:buClr>
              <a:buSzPts val="1100"/>
              <a:buFont typeface="Calibri"/>
              <a:buNone/>
            </a:pPr>
            <a:r>
              <a:rPr b="1" i="1" lang="en-US" sz="1100">
                <a:solidFill>
                  <a:srgbClr val="1B7A8C"/>
                </a:solidFill>
                <a:latin typeface="Calibri"/>
                <a:ea typeface="Calibri"/>
                <a:cs typeface="Calibri"/>
                <a:sym typeface="Calibri"/>
              </a:rPr>
              <a:t>Key finding: </a:t>
            </a:r>
            <a:r>
              <a:rPr b="1" i="1" lang="en-US" sz="1100">
                <a:solidFill>
                  <a:srgbClr val="1B7A8C"/>
                </a:solidFill>
                <a:latin typeface="Calibri"/>
                <a:ea typeface="Calibri"/>
                <a:cs typeface="Calibri"/>
                <a:sym typeface="Calibri"/>
              </a:rPr>
              <a:t>Wide tables dominate the dataset (48.6%), but tall tables score hardest (avg difficulty 29). Image type — not image quality — is the primary difficulty axis, driving our stratified sampling strategy.</a:t>
            </a:r>
            <a:endParaRPr b="1" sz="1100">
              <a:solidFill>
                <a:schemeClr val="dk1"/>
              </a:solidFill>
              <a:latin typeface="Calibri"/>
              <a:ea typeface="Calibri"/>
              <a:cs typeface="Calibri"/>
              <a:sym typeface="Calibri"/>
            </a:endParaRPr>
          </a:p>
        </p:txBody>
      </p:sp>
      <p:sp>
        <p:nvSpPr>
          <p:cNvPr id="95" name="Google Shape;95;p4"/>
          <p:cNvSpPr/>
          <p:nvPr/>
        </p:nvSpPr>
        <p:spPr>
          <a:xfrm>
            <a:off x="228600" y="777240"/>
            <a:ext cx="1920300" cy="91440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228600" y="804672"/>
            <a:ext cx="19203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ACE2"/>
              </a:buClr>
              <a:buSzPts val="2400"/>
              <a:buFont typeface="Calibri"/>
              <a:buNone/>
            </a:pPr>
            <a:r>
              <a:rPr b="1" i="0" lang="en-US" sz="2400" u="none" cap="none" strike="noStrike">
                <a:solidFill>
                  <a:srgbClr val="2AACE2"/>
                </a:solidFill>
                <a:latin typeface="Calibri"/>
                <a:ea typeface="Calibri"/>
                <a:cs typeface="Calibri"/>
                <a:sym typeface="Calibri"/>
              </a:rPr>
              <a:t>32,670</a:t>
            </a:r>
            <a:endParaRPr b="0" i="0" sz="2400" u="none" cap="none" strike="noStrike">
              <a:solidFill>
                <a:srgbClr val="000000"/>
              </a:solidFill>
              <a:latin typeface="Calibri"/>
              <a:ea typeface="Calibri"/>
              <a:cs typeface="Calibri"/>
              <a:sym typeface="Calibri"/>
            </a:endParaRPr>
          </a:p>
        </p:txBody>
      </p:sp>
      <p:sp>
        <p:nvSpPr>
          <p:cNvPr id="97" name="Google Shape;97;p4"/>
          <p:cNvSpPr/>
          <p:nvPr/>
        </p:nvSpPr>
        <p:spPr>
          <a:xfrm>
            <a:off x="228600" y="1307592"/>
            <a:ext cx="19203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6EAF3"/>
              </a:buClr>
              <a:buSzPts val="1000"/>
              <a:buFont typeface="Calibri"/>
              <a:buNone/>
            </a:pPr>
            <a:r>
              <a:rPr b="0" i="0" lang="en-US" sz="1200" u="none" cap="none" strike="noStrike">
                <a:solidFill>
                  <a:srgbClr val="D6EAF3"/>
                </a:solidFill>
                <a:latin typeface="Calibri"/>
                <a:ea typeface="Calibri"/>
                <a:cs typeface="Calibri"/>
                <a:sym typeface="Calibri"/>
              </a:rPr>
              <a:t>Total Records</a:t>
            </a:r>
            <a:endParaRPr b="0" i="0" sz="1200" u="none" cap="none" strike="noStrike">
              <a:solidFill>
                <a:srgbClr val="000000"/>
              </a:solidFill>
              <a:latin typeface="Calibri"/>
              <a:ea typeface="Calibri"/>
              <a:cs typeface="Calibri"/>
              <a:sym typeface="Calibri"/>
            </a:endParaRPr>
          </a:p>
        </p:txBody>
      </p:sp>
      <p:sp>
        <p:nvSpPr>
          <p:cNvPr id="98" name="Google Shape;98;p4"/>
          <p:cNvSpPr/>
          <p:nvPr/>
        </p:nvSpPr>
        <p:spPr>
          <a:xfrm>
            <a:off x="2423160" y="777240"/>
            <a:ext cx="1920300" cy="91440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2423160" y="804672"/>
            <a:ext cx="19203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ACE2"/>
              </a:buClr>
              <a:buSzPts val="2400"/>
              <a:buFont typeface="Calibri"/>
              <a:buNone/>
            </a:pPr>
            <a:r>
              <a:rPr b="1" i="0" lang="en-US" sz="2400" u="none" cap="none" strike="noStrike">
                <a:solidFill>
                  <a:srgbClr val="2AACE2"/>
                </a:solidFill>
                <a:latin typeface="Calibri"/>
                <a:ea typeface="Calibri"/>
                <a:cs typeface="Calibri"/>
                <a:sym typeface="Calibri"/>
              </a:rPr>
              <a:t>850</a:t>
            </a:r>
            <a:endParaRPr b="0" i="0" sz="2400" u="none" cap="none" strike="noStrike">
              <a:solidFill>
                <a:srgbClr val="000000"/>
              </a:solidFill>
              <a:latin typeface="Calibri"/>
              <a:ea typeface="Calibri"/>
              <a:cs typeface="Calibri"/>
              <a:sym typeface="Calibri"/>
            </a:endParaRPr>
          </a:p>
        </p:txBody>
      </p:sp>
      <p:sp>
        <p:nvSpPr>
          <p:cNvPr id="100" name="Google Shape;100;p4"/>
          <p:cNvSpPr/>
          <p:nvPr/>
        </p:nvSpPr>
        <p:spPr>
          <a:xfrm>
            <a:off x="2423160" y="1307592"/>
            <a:ext cx="19203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6EAF3"/>
              </a:buClr>
              <a:buSzPts val="1000"/>
              <a:buFont typeface="Calibri"/>
              <a:buNone/>
            </a:pPr>
            <a:r>
              <a:rPr b="0" i="0" lang="en-US" sz="1200" u="none" cap="none" strike="noStrike">
                <a:solidFill>
                  <a:srgbClr val="D6EAF3"/>
                </a:solidFill>
                <a:latin typeface="Calibri"/>
                <a:ea typeface="Calibri"/>
                <a:cs typeface="Calibri"/>
                <a:sym typeface="Calibri"/>
              </a:rPr>
              <a:t>Train split</a:t>
            </a:r>
            <a:endParaRPr b="0" i="0" sz="1200" u="none" cap="none" strike="noStrike">
              <a:solidFill>
                <a:srgbClr val="000000"/>
              </a:solidFill>
              <a:latin typeface="Calibri"/>
              <a:ea typeface="Calibri"/>
              <a:cs typeface="Calibri"/>
              <a:sym typeface="Calibri"/>
            </a:endParaRPr>
          </a:p>
        </p:txBody>
      </p:sp>
      <p:sp>
        <p:nvSpPr>
          <p:cNvPr id="101" name="Google Shape;101;p4"/>
          <p:cNvSpPr/>
          <p:nvPr/>
        </p:nvSpPr>
        <p:spPr>
          <a:xfrm>
            <a:off x="4617720" y="777240"/>
            <a:ext cx="1920300" cy="91440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4617720" y="804672"/>
            <a:ext cx="19203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ACE2"/>
              </a:buClr>
              <a:buSzPts val="2400"/>
              <a:buFont typeface="Calibri"/>
              <a:buNone/>
            </a:pPr>
            <a:r>
              <a:rPr b="1" i="0" lang="en-US" sz="2400" u="none" cap="none" strike="noStrike">
                <a:solidFill>
                  <a:srgbClr val="2AACE2"/>
                </a:solidFill>
                <a:latin typeface="Calibri"/>
                <a:ea typeface="Calibri"/>
                <a:cs typeface="Calibri"/>
                <a:sym typeface="Calibri"/>
              </a:rPr>
              <a:t>150</a:t>
            </a:r>
            <a:endParaRPr b="0" i="0" sz="2400" u="none" cap="none" strike="noStrike">
              <a:solidFill>
                <a:srgbClr val="000000"/>
              </a:solidFill>
              <a:latin typeface="Calibri"/>
              <a:ea typeface="Calibri"/>
              <a:cs typeface="Calibri"/>
              <a:sym typeface="Calibri"/>
            </a:endParaRPr>
          </a:p>
        </p:txBody>
      </p:sp>
      <p:sp>
        <p:nvSpPr>
          <p:cNvPr id="103" name="Google Shape;103;p4"/>
          <p:cNvSpPr/>
          <p:nvPr/>
        </p:nvSpPr>
        <p:spPr>
          <a:xfrm>
            <a:off x="4617720" y="1307592"/>
            <a:ext cx="19203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6EAF3"/>
              </a:buClr>
              <a:buSzPts val="1000"/>
              <a:buFont typeface="Calibri"/>
              <a:buNone/>
            </a:pPr>
            <a:r>
              <a:rPr b="0" i="0" lang="en-US" sz="1200" u="none" cap="none" strike="noStrike">
                <a:solidFill>
                  <a:srgbClr val="D6EAF3"/>
                </a:solidFill>
                <a:latin typeface="Calibri"/>
                <a:ea typeface="Calibri"/>
                <a:cs typeface="Calibri"/>
                <a:sym typeface="Calibri"/>
              </a:rPr>
              <a:t>Validation split</a:t>
            </a:r>
            <a:endParaRPr b="0" i="0" sz="1200" u="none" cap="none" strike="noStrike">
              <a:solidFill>
                <a:srgbClr val="000000"/>
              </a:solidFill>
              <a:latin typeface="Calibri"/>
              <a:ea typeface="Calibri"/>
              <a:cs typeface="Calibri"/>
              <a:sym typeface="Calibri"/>
            </a:endParaRPr>
          </a:p>
        </p:txBody>
      </p:sp>
      <p:sp>
        <p:nvSpPr>
          <p:cNvPr id="104" name="Google Shape;104;p4"/>
          <p:cNvSpPr/>
          <p:nvPr/>
        </p:nvSpPr>
        <p:spPr>
          <a:xfrm>
            <a:off x="6812280" y="777240"/>
            <a:ext cx="1920300" cy="91440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6812280" y="804672"/>
            <a:ext cx="19203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ACE2"/>
              </a:buClr>
              <a:buSzPts val="2400"/>
              <a:buFont typeface="Calibri"/>
              <a:buNone/>
            </a:pPr>
            <a:r>
              <a:rPr b="1" i="0" lang="en-US" sz="2400" u="none" cap="none" strike="noStrike">
                <a:solidFill>
                  <a:srgbClr val="2AACE2"/>
                </a:solidFill>
                <a:latin typeface="Calibri"/>
                <a:ea typeface="Calibri"/>
                <a:cs typeface="Calibri"/>
                <a:sym typeface="Calibri"/>
              </a:rPr>
              <a:t>300</a:t>
            </a:r>
            <a:endParaRPr b="0" i="0" sz="2400" u="none" cap="none" strike="noStrike">
              <a:solidFill>
                <a:srgbClr val="000000"/>
              </a:solidFill>
              <a:latin typeface="Calibri"/>
              <a:ea typeface="Calibri"/>
              <a:cs typeface="Calibri"/>
              <a:sym typeface="Calibri"/>
            </a:endParaRPr>
          </a:p>
        </p:txBody>
      </p:sp>
      <p:sp>
        <p:nvSpPr>
          <p:cNvPr id="106" name="Google Shape;106;p4"/>
          <p:cNvSpPr/>
          <p:nvPr/>
        </p:nvSpPr>
        <p:spPr>
          <a:xfrm>
            <a:off x="6812280" y="1307592"/>
            <a:ext cx="19203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6EAF3"/>
              </a:buClr>
              <a:buSzPts val="1000"/>
              <a:buFont typeface="Calibri"/>
              <a:buNone/>
            </a:pPr>
            <a:r>
              <a:rPr b="0" i="0" lang="en-US" sz="1200" u="none" cap="none" strike="noStrike">
                <a:solidFill>
                  <a:srgbClr val="D6EAF3"/>
                </a:solidFill>
                <a:latin typeface="Calibri"/>
                <a:ea typeface="Calibri"/>
                <a:cs typeface="Calibri"/>
                <a:sym typeface="Calibri"/>
              </a:rPr>
              <a:t>Test split</a:t>
            </a:r>
            <a:endParaRPr b="0" i="0" sz="12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 name="Shape 111"/>
        <p:cNvGrpSpPr/>
        <p:nvPr/>
      </p:nvGrpSpPr>
      <p:grpSpPr>
        <a:xfrm>
          <a:off x="0" y="0"/>
          <a:ext cx="0" cy="0"/>
          <a:chOff x="0" y="0"/>
          <a:chExt cx="0" cy="0"/>
        </a:xfrm>
      </p:grpSpPr>
      <p:sp>
        <p:nvSpPr>
          <p:cNvPr id="112" name="Google Shape;112;g3e51979973e_2_113"/>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g3e51979973e_2_113"/>
          <p:cNvSpPr/>
          <p:nvPr/>
        </p:nvSpPr>
        <p:spPr>
          <a:xfrm>
            <a:off x="365760" y="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Dataset: FinTabNet EDA — Structural Complexity</a:t>
            </a:r>
            <a:endParaRPr b="0" i="0" sz="2000" u="none" cap="none" strike="noStrike">
              <a:solidFill>
                <a:schemeClr val="dk1"/>
              </a:solidFill>
              <a:latin typeface="Calibri"/>
              <a:ea typeface="Calibri"/>
              <a:cs typeface="Calibri"/>
              <a:sym typeface="Calibri"/>
            </a:endParaRPr>
          </a:p>
        </p:txBody>
      </p:sp>
      <p:sp>
        <p:nvSpPr>
          <p:cNvPr id="114" name="Google Shape;114;g3e51979973e_2_113"/>
          <p:cNvSpPr/>
          <p:nvPr/>
        </p:nvSpPr>
        <p:spPr>
          <a:xfrm>
            <a:off x="274325" y="865699"/>
            <a:ext cx="4023300" cy="3684900"/>
          </a:xfrm>
          <a:prstGeom prst="rect">
            <a:avLst/>
          </a:prstGeom>
          <a:solidFill>
            <a:srgbClr val="F0F6FA"/>
          </a:solidFill>
          <a:ln cap="flat" cmpd="sng" w="12700">
            <a:solidFill>
              <a:srgbClr val="D6EA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3e51979973e_2_113"/>
          <p:cNvSpPr/>
          <p:nvPr/>
        </p:nvSpPr>
        <p:spPr>
          <a:xfrm>
            <a:off x="411480" y="947993"/>
            <a:ext cx="3749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i="0" lang="en-US" sz="1300" u="none" cap="none" strike="noStrike">
                <a:solidFill>
                  <a:srgbClr val="0A2342"/>
                </a:solidFill>
                <a:latin typeface="Calibri"/>
                <a:ea typeface="Calibri"/>
                <a:cs typeface="Calibri"/>
                <a:sym typeface="Calibri"/>
              </a:rPr>
              <a:t>Structural Feature Ranges</a:t>
            </a:r>
            <a:endParaRPr b="0" i="0" sz="1300" u="none" cap="none" strike="noStrike">
              <a:solidFill>
                <a:schemeClr val="dk1"/>
              </a:solidFill>
              <a:latin typeface="Calibri"/>
              <a:ea typeface="Calibri"/>
              <a:cs typeface="Calibri"/>
              <a:sym typeface="Calibri"/>
            </a:endParaRPr>
          </a:p>
        </p:txBody>
      </p:sp>
      <p:graphicFrame>
        <p:nvGraphicFramePr>
          <p:cNvPr id="116" name="Google Shape;116;g3e51979973e_2_113"/>
          <p:cNvGraphicFramePr/>
          <p:nvPr/>
        </p:nvGraphicFramePr>
        <p:xfrm>
          <a:off x="320040" y="1304609"/>
          <a:ext cx="3000000" cy="3000000"/>
        </p:xfrm>
        <a:graphic>
          <a:graphicData uri="http://schemas.openxmlformats.org/drawingml/2006/table">
            <a:tbl>
              <a:tblPr>
                <a:noFill/>
                <a:tableStyleId>{8DB30D4F-66EB-4527-AC73-EDC8B3BA2A07}</a:tableStyleId>
              </a:tblPr>
              <a:tblGrid>
                <a:gridCol w="1051550"/>
                <a:gridCol w="777250"/>
                <a:gridCol w="868675"/>
                <a:gridCol w="1234450"/>
              </a:tblGrid>
              <a:tr h="493775">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Feature</a:t>
                      </a:r>
                      <a:endParaRPr sz="11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Range</a:t>
                      </a:r>
                      <a:endParaRPr sz="11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Mean / Median</a:t>
                      </a:r>
                      <a:endParaRPr sz="11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Implication</a:t>
                      </a:r>
                      <a:endParaRPr sz="11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solidFill>
                      <a:srgbClr val="0A2342"/>
                    </a:solidFill>
                  </a:tcPr>
                </a:tc>
              </a:tr>
              <a:tr h="493775">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num_rows</a:t>
                      </a:r>
                      <a:endParaRPr sz="11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64748B"/>
                        </a:buClr>
                        <a:buSzPts val="1000"/>
                        <a:buFont typeface="Calibri"/>
                        <a:buNone/>
                      </a:pPr>
                      <a:r>
                        <a:rPr lang="en-US" sz="1000" u="none" cap="none" strike="noStrike">
                          <a:solidFill>
                            <a:srgbClr val="64748B"/>
                          </a:solidFill>
                          <a:latin typeface="Calibri"/>
                          <a:ea typeface="Calibri"/>
                          <a:cs typeface="Calibri"/>
                          <a:sym typeface="Calibri"/>
                        </a:rPr>
                        <a:t>2 – 83</a:t>
                      </a:r>
                      <a:endParaRPr sz="10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64748B"/>
                        </a:buClr>
                        <a:buSzPts val="1000"/>
                        <a:buFont typeface="Calibri"/>
                        <a:buNone/>
                      </a:pPr>
                      <a:r>
                        <a:rPr lang="en-US" sz="1000" u="none" cap="none" strike="noStrike">
                          <a:solidFill>
                            <a:srgbClr val="64748B"/>
                          </a:solidFill>
                          <a:latin typeface="Calibri"/>
                          <a:ea typeface="Calibri"/>
                          <a:cs typeface="Calibri"/>
                          <a:sym typeface="Calibri"/>
                        </a:rPr>
                        <a:t>Mean 15.1</a:t>
                      </a:r>
                      <a:endParaRPr sz="10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l">
                        <a:spcBef>
                          <a:spcPts val="0"/>
                        </a:spcBef>
                        <a:spcAft>
                          <a:spcPts val="0"/>
                        </a:spcAft>
                        <a:buClr>
                          <a:srgbClr val="E63946"/>
                        </a:buClr>
                        <a:buSzPts val="1000"/>
                        <a:buFont typeface="Calibri"/>
                        <a:buNone/>
                      </a:pPr>
                      <a:r>
                        <a:rPr lang="en-US" sz="1000" u="none" cap="none" strike="noStrike">
                          <a:solidFill>
                            <a:srgbClr val="E63946"/>
                          </a:solidFill>
                          <a:latin typeface="Calibri"/>
                          <a:ea typeface="Calibri"/>
                          <a:cs typeface="Calibri"/>
                          <a:sym typeface="Calibri"/>
                        </a:rPr>
                        <a:t>Long sequences → truncation risk</a:t>
                      </a:r>
                      <a:endParaRPr sz="10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r>
              <a:tr h="493775">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num_cells</a:t>
                      </a:r>
                      <a:endParaRPr sz="11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64748B"/>
                        </a:buClr>
                        <a:buSzPts val="1000"/>
                        <a:buFont typeface="Calibri"/>
                        <a:buNone/>
                      </a:pPr>
                      <a:r>
                        <a:rPr lang="en-US" sz="1000" u="none" cap="none" strike="noStrike">
                          <a:solidFill>
                            <a:srgbClr val="64748B"/>
                          </a:solidFill>
                          <a:latin typeface="Calibri"/>
                          <a:ea typeface="Calibri"/>
                          <a:cs typeface="Calibri"/>
                          <a:sym typeface="Calibri"/>
                        </a:rPr>
                        <a:t>4 – 963</a:t>
                      </a:r>
                      <a:endParaRPr sz="10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64748B"/>
                        </a:buClr>
                        <a:buSzPts val="1000"/>
                        <a:buFont typeface="Calibri"/>
                        <a:buNone/>
                      </a:pPr>
                      <a:r>
                        <a:rPr lang="en-US" sz="1000" u="none" cap="none" strike="noStrike">
                          <a:solidFill>
                            <a:srgbClr val="64748B"/>
                          </a:solidFill>
                          <a:latin typeface="Calibri"/>
                          <a:ea typeface="Calibri"/>
                          <a:cs typeface="Calibri"/>
                          <a:sym typeface="Calibri"/>
                        </a:rPr>
                        <a:t>Mean 75.1</a:t>
                      </a:r>
                      <a:endParaRPr sz="10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l">
                        <a:spcBef>
                          <a:spcPts val="0"/>
                        </a:spcBef>
                        <a:spcAft>
                          <a:spcPts val="0"/>
                        </a:spcAft>
                        <a:buClr>
                          <a:srgbClr val="64748B"/>
                        </a:buClr>
                        <a:buSzPts val="1000"/>
                        <a:buFont typeface="Calibri"/>
                        <a:buNone/>
                      </a:pPr>
                      <a:r>
                        <a:rPr lang="en-US" sz="1000" u="none" cap="none" strike="noStrike">
                          <a:solidFill>
                            <a:srgbClr val="64748B"/>
                          </a:solidFill>
                          <a:latin typeface="Calibri"/>
                          <a:ea typeface="Calibri"/>
                          <a:cs typeface="Calibri"/>
                          <a:sym typeface="Calibri"/>
                        </a:rPr>
                        <a:t>Dense tables amplify alignment errors</a:t>
                      </a:r>
                      <a:endParaRPr sz="10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r>
              <a:tr h="493775">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max_colspan</a:t>
                      </a:r>
                      <a:endParaRPr sz="11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64748B"/>
                        </a:buClr>
                        <a:buSzPts val="1000"/>
                        <a:buFont typeface="Calibri"/>
                        <a:buNone/>
                      </a:pPr>
                      <a:r>
                        <a:rPr lang="en-US" sz="1000" u="none" cap="none" strike="noStrike">
                          <a:solidFill>
                            <a:srgbClr val="64748B"/>
                          </a:solidFill>
                          <a:latin typeface="Calibri"/>
                          <a:ea typeface="Calibri"/>
                          <a:cs typeface="Calibri"/>
                          <a:sym typeface="Calibri"/>
                        </a:rPr>
                        <a:t>1 – 25</a:t>
                      </a:r>
                      <a:endParaRPr sz="10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2AACE2"/>
                        </a:buClr>
                        <a:buSzPts val="1100"/>
                        <a:buFont typeface="Calibri"/>
                        <a:buNone/>
                      </a:pPr>
                      <a:r>
                        <a:rPr b="1" lang="en-US" sz="1100" u="none" cap="none" strike="noStrike">
                          <a:solidFill>
                            <a:srgbClr val="2AACE2"/>
                          </a:solidFill>
                          <a:latin typeface="Calibri"/>
                          <a:ea typeface="Calibri"/>
                          <a:cs typeface="Calibri"/>
                          <a:sym typeface="Calibri"/>
                        </a:rPr>
                        <a:t>Median 3</a:t>
                      </a:r>
                      <a:endParaRPr sz="11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l">
                        <a:spcBef>
                          <a:spcPts val="0"/>
                        </a:spcBef>
                        <a:spcAft>
                          <a:spcPts val="0"/>
                        </a:spcAft>
                        <a:buClr>
                          <a:srgbClr val="1B7A8C"/>
                        </a:buClr>
                        <a:buSzPts val="1000"/>
                        <a:buFont typeface="Calibri"/>
                        <a:buNone/>
                      </a:pPr>
                      <a:r>
                        <a:rPr b="1" lang="en-US" sz="1000" u="none" cap="none" strike="noStrike">
                          <a:solidFill>
                            <a:srgbClr val="1B7A8C"/>
                          </a:solidFill>
                          <a:latin typeface="Calibri"/>
                          <a:ea typeface="Calibri"/>
                          <a:cs typeface="Calibri"/>
                          <a:sym typeface="Calibri"/>
                        </a:rPr>
                        <a:t>Grouped headers universal</a:t>
                      </a:r>
                      <a:endParaRPr sz="10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r>
              <a:tr h="493775">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max_rowspan</a:t>
                      </a:r>
                      <a:endParaRPr sz="11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64748B"/>
                        </a:buClr>
                        <a:buSzPts val="1000"/>
                        <a:buFont typeface="Calibri"/>
                        <a:buNone/>
                      </a:pPr>
                      <a:r>
                        <a:rPr lang="en-US" sz="1000" u="none" cap="none" strike="noStrike">
                          <a:solidFill>
                            <a:srgbClr val="64748B"/>
                          </a:solidFill>
                          <a:latin typeface="Calibri"/>
                          <a:ea typeface="Calibri"/>
                          <a:cs typeface="Calibri"/>
                          <a:sym typeface="Calibri"/>
                        </a:rPr>
                        <a:t>1 – 9</a:t>
                      </a:r>
                      <a:endParaRPr sz="10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64748B"/>
                        </a:buClr>
                        <a:buSzPts val="1000"/>
                        <a:buFont typeface="Calibri"/>
                        <a:buNone/>
                      </a:pPr>
                      <a:r>
                        <a:rPr lang="en-US" sz="1000" u="none" cap="none" strike="noStrike">
                          <a:solidFill>
                            <a:srgbClr val="64748B"/>
                          </a:solidFill>
                          <a:latin typeface="Calibri"/>
                          <a:ea typeface="Calibri"/>
                          <a:cs typeface="Calibri"/>
                          <a:sym typeface="Calibri"/>
                        </a:rPr>
                        <a:t>Median 1</a:t>
                      </a:r>
                      <a:endParaRPr sz="10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l">
                        <a:spcBef>
                          <a:spcPts val="0"/>
                        </a:spcBef>
                        <a:spcAft>
                          <a:spcPts val="0"/>
                        </a:spcAft>
                        <a:buClr>
                          <a:srgbClr val="64748B"/>
                        </a:buClr>
                        <a:buSzPts val="1000"/>
                        <a:buFont typeface="Calibri"/>
                        <a:buNone/>
                      </a:pPr>
                      <a:r>
                        <a:rPr lang="en-US" sz="1000" u="none" cap="none" strike="noStrike">
                          <a:solidFill>
                            <a:srgbClr val="64748B"/>
                          </a:solidFill>
                          <a:latin typeface="Calibri"/>
                          <a:ea typeface="Calibri"/>
                          <a:cs typeface="Calibri"/>
                          <a:sym typeface="Calibri"/>
                        </a:rPr>
                        <a:t>Rare but disrupts row hierarchy</a:t>
                      </a:r>
                      <a:endParaRPr sz="10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r>
              <a:tr h="493775">
                <a:tc>
                  <a:txBody>
                    <a:bodyPr/>
                    <a:lstStyle/>
                    <a:p>
                      <a:pPr indent="0" lvl="0" marL="0" marR="0" rtl="0" algn="l">
                        <a:spcBef>
                          <a:spcPts val="0"/>
                        </a:spcBef>
                        <a:spcAft>
                          <a:spcPts val="0"/>
                        </a:spcAft>
                        <a:buClr>
                          <a:srgbClr val="1E293B"/>
                        </a:buClr>
                        <a:buSzPts val="1100"/>
                        <a:buFont typeface="Calibri"/>
                        <a:buNone/>
                      </a:pPr>
                      <a:r>
                        <a:rPr lang="en-US" sz="1100" u="none" cap="none" strike="noStrike">
                          <a:solidFill>
                            <a:srgbClr val="1E293B"/>
                          </a:solidFill>
                          <a:latin typeface="Calibri"/>
                          <a:ea typeface="Calibri"/>
                          <a:cs typeface="Calibri"/>
                          <a:sym typeface="Calibri"/>
                        </a:rPr>
                        <a:t>aspect_ratio</a:t>
                      </a:r>
                      <a:endParaRPr sz="11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64748B"/>
                        </a:buClr>
                        <a:buSzPts val="1000"/>
                        <a:buFont typeface="Calibri"/>
                        <a:buNone/>
                      </a:pPr>
                      <a:r>
                        <a:rPr lang="en-US" sz="1000" u="none" cap="none" strike="noStrike">
                          <a:solidFill>
                            <a:srgbClr val="64748B"/>
                          </a:solidFill>
                          <a:latin typeface="Calibri"/>
                          <a:ea typeface="Calibri"/>
                          <a:cs typeface="Calibri"/>
                          <a:sym typeface="Calibri"/>
                        </a:rPr>
                        <a:t>0.38 – 21.4</a:t>
                      </a:r>
                      <a:endParaRPr sz="10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64748B"/>
                        </a:buClr>
                        <a:buSzPts val="1000"/>
                        <a:buFont typeface="Calibri"/>
                        <a:buNone/>
                      </a:pPr>
                      <a:r>
                        <a:rPr lang="en-US" sz="1000" u="none" cap="none" strike="noStrike">
                          <a:solidFill>
                            <a:srgbClr val="64748B"/>
                          </a:solidFill>
                          <a:latin typeface="Calibri"/>
                          <a:ea typeface="Calibri"/>
                          <a:cs typeface="Calibri"/>
                          <a:sym typeface="Calibri"/>
                        </a:rPr>
                        <a:t>Median 2.93</a:t>
                      </a:r>
                      <a:endParaRPr sz="10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l">
                        <a:spcBef>
                          <a:spcPts val="0"/>
                        </a:spcBef>
                        <a:spcAft>
                          <a:spcPts val="0"/>
                        </a:spcAft>
                        <a:buClr>
                          <a:srgbClr val="F4A261"/>
                        </a:buClr>
                        <a:buSzPts val="1000"/>
                        <a:buFont typeface="Calibri"/>
                        <a:buNone/>
                      </a:pPr>
                      <a:r>
                        <a:rPr b="1" lang="en-US" sz="1000" u="none" cap="none" strike="noStrike">
                          <a:solidFill>
                            <a:srgbClr val="F4A261"/>
                          </a:solidFill>
                          <a:latin typeface="Calibri"/>
                          <a:ea typeface="Calibri"/>
                          <a:cs typeface="Calibri"/>
                          <a:sym typeface="Calibri"/>
                        </a:rPr>
                        <a:t>Wide layout = compressed columns</a:t>
                      </a:r>
                      <a:endParaRPr sz="1000" u="none" cap="none" strike="noStrike">
                        <a:latin typeface="Calibri"/>
                        <a:ea typeface="Calibri"/>
                        <a:cs typeface="Calibri"/>
                        <a:sym typeface="Calibri"/>
                      </a:endParaRPr>
                    </a:p>
                  </a:txBody>
                  <a:tcPr marT="0" marB="0" marR="73150" marL="731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r>
            </a:tbl>
          </a:graphicData>
        </a:graphic>
      </p:graphicFrame>
      <p:sp>
        <p:nvSpPr>
          <p:cNvPr id="117" name="Google Shape;117;g3e51979973e_2_113"/>
          <p:cNvSpPr/>
          <p:nvPr/>
        </p:nvSpPr>
        <p:spPr>
          <a:xfrm>
            <a:off x="4508950" y="865689"/>
            <a:ext cx="2211900" cy="3684900"/>
          </a:xfrm>
          <a:prstGeom prst="rect">
            <a:avLst/>
          </a:prstGeom>
          <a:solidFill>
            <a:srgbClr val="0A2342"/>
          </a:solidFill>
          <a:ln cap="flat" cmpd="sng" w="12700">
            <a:solidFill>
              <a:srgbClr val="0A23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3e51979973e_2_113"/>
          <p:cNvSpPr/>
          <p:nvPr/>
        </p:nvSpPr>
        <p:spPr>
          <a:xfrm>
            <a:off x="4572000" y="947993"/>
            <a:ext cx="2057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ACE2"/>
              </a:buClr>
              <a:buSzPts val="1300"/>
              <a:buFont typeface="Calibri"/>
              <a:buNone/>
            </a:pPr>
            <a:r>
              <a:rPr b="1" i="0" lang="en-US" sz="1300" u="none" cap="none" strike="noStrike">
                <a:solidFill>
                  <a:srgbClr val="2AACE2"/>
                </a:solidFill>
                <a:latin typeface="Calibri"/>
                <a:ea typeface="Calibri"/>
                <a:cs typeface="Calibri"/>
                <a:sym typeface="Calibri"/>
              </a:rPr>
              <a:t>Span Distribution</a:t>
            </a:r>
            <a:endParaRPr b="0" i="0" sz="1300" u="none" cap="none" strike="noStrike">
              <a:solidFill>
                <a:schemeClr val="dk1"/>
              </a:solidFill>
              <a:latin typeface="Calibri"/>
              <a:ea typeface="Calibri"/>
              <a:cs typeface="Calibri"/>
              <a:sym typeface="Calibri"/>
            </a:endParaRPr>
          </a:p>
        </p:txBody>
      </p:sp>
      <p:sp>
        <p:nvSpPr>
          <p:cNvPr id="119" name="Google Shape;119;g3e51979973e_2_113"/>
          <p:cNvSpPr/>
          <p:nvPr/>
        </p:nvSpPr>
        <p:spPr>
          <a:xfrm>
            <a:off x="4609002" y="1377761"/>
            <a:ext cx="2011800" cy="1417200"/>
          </a:xfrm>
          <a:prstGeom prst="rect">
            <a:avLst/>
          </a:prstGeom>
          <a:solidFill>
            <a:srgbClr val="4ECDC4"/>
          </a:solidFill>
          <a:ln cap="flat" cmpd="sng" w="12700">
            <a:solidFill>
              <a:srgbClr val="4ECD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g3e51979973e_2_113"/>
          <p:cNvSpPr/>
          <p:nvPr/>
        </p:nvSpPr>
        <p:spPr>
          <a:xfrm>
            <a:off x="4609002" y="1414337"/>
            <a:ext cx="2011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100"/>
              <a:buFont typeface="Calibri"/>
              <a:buNone/>
            </a:pPr>
            <a:r>
              <a:rPr b="1" i="0" lang="en-US" sz="1100" u="none" cap="none" strike="noStrike">
                <a:solidFill>
                  <a:srgbClr val="0A2342"/>
                </a:solidFill>
                <a:latin typeface="Calibri"/>
                <a:ea typeface="Calibri"/>
                <a:cs typeface="Calibri"/>
                <a:sym typeface="Calibri"/>
              </a:rPr>
              <a:t>colspan &gt; 1</a:t>
            </a:r>
            <a:endParaRPr b="0" i="0" sz="1100" u="none" cap="none" strike="noStrike">
              <a:solidFill>
                <a:schemeClr val="dk1"/>
              </a:solidFill>
              <a:latin typeface="Calibri"/>
              <a:ea typeface="Calibri"/>
              <a:cs typeface="Calibri"/>
              <a:sym typeface="Calibri"/>
            </a:endParaRPr>
          </a:p>
        </p:txBody>
      </p:sp>
      <p:sp>
        <p:nvSpPr>
          <p:cNvPr id="121" name="Google Shape;121;g3e51979973e_2_113"/>
          <p:cNvSpPr/>
          <p:nvPr/>
        </p:nvSpPr>
        <p:spPr>
          <a:xfrm>
            <a:off x="4609002" y="1688657"/>
            <a:ext cx="2011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3000"/>
              <a:buFont typeface="Calibri"/>
              <a:buNone/>
            </a:pPr>
            <a:r>
              <a:rPr b="1" i="0" lang="en-US" sz="3000" u="none" cap="none" strike="noStrike">
                <a:solidFill>
                  <a:srgbClr val="0A2342"/>
                </a:solidFill>
                <a:latin typeface="Calibri"/>
                <a:ea typeface="Calibri"/>
                <a:cs typeface="Calibri"/>
                <a:sym typeface="Calibri"/>
              </a:rPr>
              <a:t>98.1%</a:t>
            </a:r>
            <a:endParaRPr b="0" i="0" sz="3000" u="none" cap="none" strike="noStrike">
              <a:solidFill>
                <a:schemeClr val="dk1"/>
              </a:solidFill>
              <a:latin typeface="Calibri"/>
              <a:ea typeface="Calibri"/>
              <a:cs typeface="Calibri"/>
              <a:sym typeface="Calibri"/>
            </a:endParaRPr>
          </a:p>
        </p:txBody>
      </p:sp>
      <p:sp>
        <p:nvSpPr>
          <p:cNvPr id="122" name="Google Shape;122;g3e51979973e_2_113"/>
          <p:cNvSpPr/>
          <p:nvPr/>
        </p:nvSpPr>
        <p:spPr>
          <a:xfrm>
            <a:off x="4609002" y="2182433"/>
            <a:ext cx="20118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alibri"/>
              <a:buNone/>
            </a:pPr>
            <a:r>
              <a:rPr b="1" i="0" lang="en-US" sz="1000" u="none" cap="none" strike="noStrike">
                <a:solidFill>
                  <a:srgbClr val="1E293B"/>
                </a:solidFill>
                <a:latin typeface="Calibri"/>
                <a:ea typeface="Calibri"/>
                <a:cs typeface="Calibri"/>
                <a:sym typeface="Calibri"/>
              </a:rPr>
              <a:t>of all tables</a:t>
            </a:r>
            <a:endParaRPr b="1" i="0" sz="1000" u="none" cap="none" strike="noStrike">
              <a:solidFill>
                <a:schemeClr val="dk1"/>
              </a:solidFill>
              <a:latin typeface="Calibri"/>
              <a:ea typeface="Calibri"/>
              <a:cs typeface="Calibri"/>
              <a:sym typeface="Calibri"/>
            </a:endParaRPr>
          </a:p>
        </p:txBody>
      </p:sp>
      <p:sp>
        <p:nvSpPr>
          <p:cNvPr id="123" name="Google Shape;123;g3e51979973e_2_113"/>
          <p:cNvSpPr/>
          <p:nvPr/>
        </p:nvSpPr>
        <p:spPr>
          <a:xfrm>
            <a:off x="4609002" y="2438465"/>
            <a:ext cx="20118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950"/>
              <a:buFont typeface="Calibri"/>
              <a:buNone/>
            </a:pPr>
            <a:r>
              <a:rPr b="1" i="1" lang="en-US" sz="950" u="none" cap="none" strike="noStrike">
                <a:solidFill>
                  <a:srgbClr val="1E293B"/>
                </a:solidFill>
                <a:latin typeface="Calibri"/>
                <a:ea typeface="Calibri"/>
                <a:cs typeface="Calibri"/>
                <a:sym typeface="Calibri"/>
              </a:rPr>
              <a:t>Most = 2 or 3</a:t>
            </a:r>
            <a:endParaRPr b="1" i="0" sz="950" u="none" cap="none" strike="noStrike">
              <a:solidFill>
                <a:schemeClr val="dk1"/>
              </a:solidFill>
              <a:latin typeface="Calibri"/>
              <a:ea typeface="Calibri"/>
              <a:cs typeface="Calibri"/>
              <a:sym typeface="Calibri"/>
            </a:endParaRPr>
          </a:p>
        </p:txBody>
      </p:sp>
      <p:sp>
        <p:nvSpPr>
          <p:cNvPr id="124" name="Google Shape;124;g3e51979973e_2_113"/>
          <p:cNvSpPr/>
          <p:nvPr/>
        </p:nvSpPr>
        <p:spPr>
          <a:xfrm>
            <a:off x="4609002" y="2913953"/>
            <a:ext cx="2011800" cy="1417200"/>
          </a:xfrm>
          <a:prstGeom prst="rect">
            <a:avLst/>
          </a:prstGeom>
          <a:solidFill>
            <a:srgbClr val="F0F6FA"/>
          </a:solidFill>
          <a:ln cap="flat" cmpd="sng" w="12700">
            <a:solidFill>
              <a:srgbClr val="D6EA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g3e51979973e_2_113"/>
          <p:cNvSpPr/>
          <p:nvPr/>
        </p:nvSpPr>
        <p:spPr>
          <a:xfrm>
            <a:off x="4609002" y="2950529"/>
            <a:ext cx="2011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100"/>
              <a:buFont typeface="Calibri"/>
              <a:buNone/>
            </a:pPr>
            <a:r>
              <a:rPr b="1" i="0" lang="en-US" sz="1100" u="none" cap="none" strike="noStrike">
                <a:solidFill>
                  <a:srgbClr val="0A2342"/>
                </a:solidFill>
                <a:latin typeface="Calibri"/>
                <a:ea typeface="Calibri"/>
                <a:cs typeface="Calibri"/>
                <a:sym typeface="Calibri"/>
              </a:rPr>
              <a:t>rowspan &gt; 1</a:t>
            </a:r>
            <a:endParaRPr b="0" i="0" sz="1100" u="none" cap="none" strike="noStrike">
              <a:solidFill>
                <a:schemeClr val="dk1"/>
              </a:solidFill>
              <a:latin typeface="Calibri"/>
              <a:ea typeface="Calibri"/>
              <a:cs typeface="Calibri"/>
              <a:sym typeface="Calibri"/>
            </a:endParaRPr>
          </a:p>
        </p:txBody>
      </p:sp>
      <p:sp>
        <p:nvSpPr>
          <p:cNvPr id="126" name="Google Shape;126;g3e51979973e_2_113"/>
          <p:cNvSpPr/>
          <p:nvPr/>
        </p:nvSpPr>
        <p:spPr>
          <a:xfrm>
            <a:off x="4609002" y="3224849"/>
            <a:ext cx="2011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3000"/>
              <a:buFont typeface="Calibri"/>
              <a:buNone/>
            </a:pPr>
            <a:r>
              <a:rPr b="1" i="0" lang="en-US" sz="3000" u="none" cap="none" strike="noStrike">
                <a:solidFill>
                  <a:srgbClr val="64748B"/>
                </a:solidFill>
                <a:latin typeface="Calibri"/>
                <a:ea typeface="Calibri"/>
                <a:cs typeface="Calibri"/>
                <a:sym typeface="Calibri"/>
              </a:rPr>
              <a:t>6.5%</a:t>
            </a:r>
            <a:endParaRPr b="0" i="0" sz="3000" u="none" cap="none" strike="noStrike">
              <a:solidFill>
                <a:schemeClr val="dk1"/>
              </a:solidFill>
              <a:latin typeface="Calibri"/>
              <a:ea typeface="Calibri"/>
              <a:cs typeface="Calibri"/>
              <a:sym typeface="Calibri"/>
            </a:endParaRPr>
          </a:p>
        </p:txBody>
      </p:sp>
      <p:sp>
        <p:nvSpPr>
          <p:cNvPr id="127" name="Google Shape;127;g3e51979973e_2_113"/>
          <p:cNvSpPr/>
          <p:nvPr/>
        </p:nvSpPr>
        <p:spPr>
          <a:xfrm>
            <a:off x="4609002" y="3718625"/>
            <a:ext cx="20118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Calibri"/>
              <a:buNone/>
            </a:pPr>
            <a:r>
              <a:rPr b="1" i="0" lang="en-US" sz="1000" u="none" cap="none" strike="noStrike">
                <a:solidFill>
                  <a:srgbClr val="64748B"/>
                </a:solidFill>
                <a:latin typeface="Calibri"/>
                <a:ea typeface="Calibri"/>
                <a:cs typeface="Calibri"/>
                <a:sym typeface="Calibri"/>
              </a:rPr>
              <a:t>of all tables</a:t>
            </a:r>
            <a:endParaRPr b="1" i="0" sz="1000" u="none" cap="none" strike="noStrike">
              <a:solidFill>
                <a:schemeClr val="dk1"/>
              </a:solidFill>
              <a:latin typeface="Calibri"/>
              <a:ea typeface="Calibri"/>
              <a:cs typeface="Calibri"/>
              <a:sym typeface="Calibri"/>
            </a:endParaRPr>
          </a:p>
        </p:txBody>
      </p:sp>
      <p:sp>
        <p:nvSpPr>
          <p:cNvPr id="128" name="Google Shape;128;g3e51979973e_2_113"/>
          <p:cNvSpPr/>
          <p:nvPr/>
        </p:nvSpPr>
        <p:spPr>
          <a:xfrm>
            <a:off x="4609002" y="3974657"/>
            <a:ext cx="20118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50"/>
              <a:buFont typeface="Calibri"/>
              <a:buNone/>
            </a:pPr>
            <a:r>
              <a:rPr b="1" i="1" lang="en-US" sz="950" u="none" cap="none" strike="noStrike">
                <a:solidFill>
                  <a:srgbClr val="64748B"/>
                </a:solidFill>
                <a:latin typeface="Calibri"/>
                <a:ea typeface="Calibri"/>
                <a:cs typeface="Calibri"/>
                <a:sym typeface="Calibri"/>
              </a:rPr>
              <a:t>Critical for row hierarchy</a:t>
            </a:r>
            <a:endParaRPr b="1" i="0" sz="950" u="none" cap="none" strike="noStrike">
              <a:solidFill>
                <a:schemeClr val="dk1"/>
              </a:solidFill>
              <a:latin typeface="Calibri"/>
              <a:ea typeface="Calibri"/>
              <a:cs typeface="Calibri"/>
              <a:sym typeface="Calibri"/>
            </a:endParaRPr>
          </a:p>
        </p:txBody>
      </p:sp>
      <p:sp>
        <p:nvSpPr>
          <p:cNvPr id="129" name="Google Shape;129;g3e51979973e_2_113"/>
          <p:cNvSpPr/>
          <p:nvPr/>
        </p:nvSpPr>
        <p:spPr>
          <a:xfrm>
            <a:off x="6942853" y="773637"/>
            <a:ext cx="1783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i="0" lang="en-US" sz="1300" u="none" cap="none" strike="noStrike">
                <a:solidFill>
                  <a:srgbClr val="0A2342"/>
                </a:solidFill>
                <a:latin typeface="Calibri"/>
                <a:ea typeface="Calibri"/>
                <a:cs typeface="Calibri"/>
                <a:sym typeface="Calibri"/>
              </a:rPr>
              <a:t>Key Correlations</a:t>
            </a:r>
            <a:endParaRPr b="0" i="0" sz="1300" u="none" cap="none" strike="noStrike">
              <a:solidFill>
                <a:schemeClr val="dk1"/>
              </a:solidFill>
              <a:latin typeface="Calibri"/>
              <a:ea typeface="Calibri"/>
              <a:cs typeface="Calibri"/>
              <a:sym typeface="Calibri"/>
            </a:endParaRPr>
          </a:p>
        </p:txBody>
      </p:sp>
      <p:sp>
        <p:nvSpPr>
          <p:cNvPr id="130" name="Google Shape;130;g3e51979973e_2_113"/>
          <p:cNvSpPr/>
          <p:nvPr/>
        </p:nvSpPr>
        <p:spPr>
          <a:xfrm>
            <a:off x="6949450" y="1141525"/>
            <a:ext cx="1964700" cy="594300"/>
          </a:xfrm>
          <a:prstGeom prst="rect">
            <a:avLst/>
          </a:prstGeom>
          <a:solidFill>
            <a:srgbClr val="FFFFFF"/>
          </a:solidFill>
          <a:ln cap="flat" cmpd="sng" w="12700">
            <a:solidFill>
              <a:srgbClr val="D6EA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g3e51979973e_2_113"/>
          <p:cNvSpPr/>
          <p:nvPr/>
        </p:nvSpPr>
        <p:spPr>
          <a:xfrm>
            <a:off x="6949440" y="1141528"/>
            <a:ext cx="73200" cy="594300"/>
          </a:xfrm>
          <a:prstGeom prst="rect">
            <a:avLst/>
          </a:prstGeom>
          <a:solidFill>
            <a:srgbClr val="E63946"/>
          </a:solidFill>
          <a:ln cap="flat" cmpd="sng" w="12700">
            <a:solidFill>
              <a:srgbClr val="E639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3e51979973e_2_113"/>
          <p:cNvSpPr/>
          <p:nvPr/>
        </p:nvSpPr>
        <p:spPr>
          <a:xfrm>
            <a:off x="7101905" y="1178104"/>
            <a:ext cx="17373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3946"/>
              </a:buClr>
              <a:buSzPts val="1200"/>
              <a:buFont typeface="Calibri"/>
              <a:buNone/>
            </a:pPr>
            <a:r>
              <a:rPr b="1" i="0" lang="en-US" sz="1200" u="none" cap="none" strike="noStrike">
                <a:solidFill>
                  <a:srgbClr val="E63946"/>
                </a:solidFill>
                <a:latin typeface="Calibri"/>
                <a:ea typeface="Calibri"/>
                <a:cs typeface="Calibri"/>
                <a:sym typeface="Calibri"/>
              </a:rPr>
              <a:t>r = 0.91</a:t>
            </a:r>
            <a:endParaRPr b="0" i="0" sz="1200" u="none" cap="none" strike="noStrike">
              <a:solidFill>
                <a:schemeClr val="dk1"/>
              </a:solidFill>
              <a:latin typeface="Calibri"/>
              <a:ea typeface="Calibri"/>
              <a:cs typeface="Calibri"/>
              <a:sym typeface="Calibri"/>
            </a:endParaRPr>
          </a:p>
        </p:txBody>
      </p:sp>
      <p:sp>
        <p:nvSpPr>
          <p:cNvPr id="133" name="Google Shape;133;g3e51979973e_2_113"/>
          <p:cNvSpPr/>
          <p:nvPr/>
        </p:nvSpPr>
        <p:spPr>
          <a:xfrm>
            <a:off x="7084476" y="1452425"/>
            <a:ext cx="19647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1000" u="none" cap="none" strike="noStrike">
                <a:solidFill>
                  <a:srgbClr val="64748B"/>
                </a:solidFill>
                <a:latin typeface="Calibri"/>
                <a:ea typeface="Calibri"/>
                <a:cs typeface="Calibri"/>
                <a:sym typeface="Calibri"/>
              </a:rPr>
              <a:t>Taller image = more rows = harder</a:t>
            </a:r>
            <a:endParaRPr b="0" i="0" sz="1000" u="none" cap="none" strike="noStrike">
              <a:solidFill>
                <a:schemeClr val="dk1"/>
              </a:solidFill>
              <a:latin typeface="Calibri"/>
              <a:ea typeface="Calibri"/>
              <a:cs typeface="Calibri"/>
              <a:sym typeface="Calibri"/>
            </a:endParaRPr>
          </a:p>
        </p:txBody>
      </p:sp>
      <p:sp>
        <p:nvSpPr>
          <p:cNvPr id="134" name="Google Shape;134;g3e51979973e_2_113"/>
          <p:cNvSpPr/>
          <p:nvPr/>
        </p:nvSpPr>
        <p:spPr>
          <a:xfrm>
            <a:off x="6949450" y="1845613"/>
            <a:ext cx="1964700" cy="594300"/>
          </a:xfrm>
          <a:prstGeom prst="rect">
            <a:avLst/>
          </a:prstGeom>
          <a:solidFill>
            <a:srgbClr val="FFFFFF"/>
          </a:solidFill>
          <a:ln cap="flat" cmpd="sng" w="12700">
            <a:solidFill>
              <a:srgbClr val="D6EA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g3e51979973e_2_113"/>
          <p:cNvSpPr/>
          <p:nvPr/>
        </p:nvSpPr>
        <p:spPr>
          <a:xfrm>
            <a:off x="6949440" y="1845616"/>
            <a:ext cx="73200" cy="594300"/>
          </a:xfrm>
          <a:prstGeom prst="rect">
            <a:avLst/>
          </a:prstGeom>
          <a:solidFill>
            <a:srgbClr val="E63946"/>
          </a:solidFill>
          <a:ln cap="flat" cmpd="sng" w="12700">
            <a:solidFill>
              <a:srgbClr val="E639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e51979973e_2_113"/>
          <p:cNvSpPr/>
          <p:nvPr/>
        </p:nvSpPr>
        <p:spPr>
          <a:xfrm>
            <a:off x="7101905" y="1882192"/>
            <a:ext cx="17373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3946"/>
              </a:buClr>
              <a:buSzPts val="1200"/>
              <a:buFont typeface="Calibri"/>
              <a:buNone/>
            </a:pPr>
            <a:r>
              <a:rPr b="1" i="0" lang="en-US" sz="1200" u="none" cap="none" strike="noStrike">
                <a:solidFill>
                  <a:srgbClr val="E63946"/>
                </a:solidFill>
                <a:latin typeface="Calibri"/>
                <a:ea typeface="Calibri"/>
                <a:cs typeface="Calibri"/>
                <a:sym typeface="Calibri"/>
              </a:rPr>
              <a:t>r = 0.87</a:t>
            </a:r>
            <a:endParaRPr b="0" i="0" sz="1200" u="none" cap="none" strike="noStrike">
              <a:solidFill>
                <a:schemeClr val="dk1"/>
              </a:solidFill>
              <a:latin typeface="Calibri"/>
              <a:ea typeface="Calibri"/>
              <a:cs typeface="Calibri"/>
              <a:sym typeface="Calibri"/>
            </a:endParaRPr>
          </a:p>
        </p:txBody>
      </p:sp>
      <p:sp>
        <p:nvSpPr>
          <p:cNvPr id="137" name="Google Shape;137;g3e51979973e_2_113"/>
          <p:cNvSpPr/>
          <p:nvPr/>
        </p:nvSpPr>
        <p:spPr>
          <a:xfrm>
            <a:off x="7084476" y="2156513"/>
            <a:ext cx="19647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1000" u="none" cap="none" strike="noStrike">
                <a:solidFill>
                  <a:srgbClr val="64748B"/>
                </a:solidFill>
                <a:latin typeface="Calibri"/>
                <a:ea typeface="Calibri"/>
                <a:cs typeface="Calibri"/>
                <a:sym typeface="Calibri"/>
              </a:rPr>
              <a:t>Row count drives difficulty score</a:t>
            </a:r>
            <a:endParaRPr b="0" i="0" sz="1000" u="none" cap="none" strike="noStrike">
              <a:solidFill>
                <a:schemeClr val="dk1"/>
              </a:solidFill>
              <a:latin typeface="Calibri"/>
              <a:ea typeface="Calibri"/>
              <a:cs typeface="Calibri"/>
              <a:sym typeface="Calibri"/>
            </a:endParaRPr>
          </a:p>
        </p:txBody>
      </p:sp>
      <p:sp>
        <p:nvSpPr>
          <p:cNvPr id="138" name="Google Shape;138;g3e51979973e_2_113"/>
          <p:cNvSpPr/>
          <p:nvPr/>
        </p:nvSpPr>
        <p:spPr>
          <a:xfrm>
            <a:off x="6949450" y="2549701"/>
            <a:ext cx="1964700" cy="594300"/>
          </a:xfrm>
          <a:prstGeom prst="rect">
            <a:avLst/>
          </a:prstGeom>
          <a:solidFill>
            <a:srgbClr val="FFFFFF"/>
          </a:solidFill>
          <a:ln cap="flat" cmpd="sng" w="12700">
            <a:solidFill>
              <a:srgbClr val="D6EA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e51979973e_2_113"/>
          <p:cNvSpPr/>
          <p:nvPr/>
        </p:nvSpPr>
        <p:spPr>
          <a:xfrm>
            <a:off x="6949440" y="2549704"/>
            <a:ext cx="73200" cy="594300"/>
          </a:xfrm>
          <a:prstGeom prst="rect">
            <a:avLst/>
          </a:prstGeom>
          <a:solidFill>
            <a:srgbClr val="F4A261"/>
          </a:solidFill>
          <a:ln cap="flat" cmpd="sng" w="12700">
            <a:solidFill>
              <a:srgbClr val="F4A26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e51979973e_2_113"/>
          <p:cNvSpPr/>
          <p:nvPr/>
        </p:nvSpPr>
        <p:spPr>
          <a:xfrm>
            <a:off x="7101905" y="2586280"/>
            <a:ext cx="17373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200"/>
              <a:buFont typeface="Calibri"/>
              <a:buNone/>
            </a:pPr>
            <a:r>
              <a:rPr b="1" i="0" lang="en-US" sz="1200" u="none" cap="none" strike="noStrike">
                <a:solidFill>
                  <a:srgbClr val="F4A261"/>
                </a:solidFill>
                <a:latin typeface="Calibri"/>
                <a:ea typeface="Calibri"/>
                <a:cs typeface="Calibri"/>
                <a:sym typeface="Calibri"/>
              </a:rPr>
              <a:t>r = 0.85</a:t>
            </a:r>
            <a:endParaRPr b="0" i="0" sz="1200" u="none" cap="none" strike="noStrike">
              <a:solidFill>
                <a:schemeClr val="dk1"/>
              </a:solidFill>
              <a:latin typeface="Calibri"/>
              <a:ea typeface="Calibri"/>
              <a:cs typeface="Calibri"/>
              <a:sym typeface="Calibri"/>
            </a:endParaRPr>
          </a:p>
        </p:txBody>
      </p:sp>
      <p:sp>
        <p:nvSpPr>
          <p:cNvPr id="141" name="Google Shape;141;g3e51979973e_2_113"/>
          <p:cNvSpPr/>
          <p:nvPr/>
        </p:nvSpPr>
        <p:spPr>
          <a:xfrm>
            <a:off x="7084476" y="2860600"/>
            <a:ext cx="19647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1000" u="none" cap="none" strike="noStrike">
                <a:solidFill>
                  <a:srgbClr val="64748B"/>
                </a:solidFill>
                <a:latin typeface="Calibri"/>
                <a:ea typeface="Calibri"/>
                <a:cs typeface="Calibri"/>
                <a:sym typeface="Calibri"/>
              </a:rPr>
              <a:t>Dense tables more error-prone</a:t>
            </a:r>
            <a:endParaRPr b="0" i="0" sz="1000" u="none" cap="none" strike="noStrike">
              <a:solidFill>
                <a:schemeClr val="dk1"/>
              </a:solidFill>
              <a:latin typeface="Calibri"/>
              <a:ea typeface="Calibri"/>
              <a:cs typeface="Calibri"/>
              <a:sym typeface="Calibri"/>
            </a:endParaRPr>
          </a:p>
        </p:txBody>
      </p:sp>
      <p:sp>
        <p:nvSpPr>
          <p:cNvPr id="142" name="Google Shape;142;g3e51979973e_2_113"/>
          <p:cNvSpPr/>
          <p:nvPr/>
        </p:nvSpPr>
        <p:spPr>
          <a:xfrm>
            <a:off x="6949450" y="3253788"/>
            <a:ext cx="1964700" cy="594300"/>
          </a:xfrm>
          <a:prstGeom prst="rect">
            <a:avLst/>
          </a:prstGeom>
          <a:solidFill>
            <a:srgbClr val="FFFFFF"/>
          </a:solidFill>
          <a:ln cap="flat" cmpd="sng" w="12700">
            <a:solidFill>
              <a:srgbClr val="D6EA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g3e51979973e_2_113"/>
          <p:cNvSpPr/>
          <p:nvPr/>
        </p:nvSpPr>
        <p:spPr>
          <a:xfrm>
            <a:off x="6949440" y="3253792"/>
            <a:ext cx="73200" cy="594300"/>
          </a:xfrm>
          <a:prstGeom prst="rect">
            <a:avLst/>
          </a:prstGeom>
          <a:solidFill>
            <a:srgbClr val="64748B"/>
          </a:solidFill>
          <a:ln cap="flat" cmpd="sng" w="127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3e51979973e_2_113"/>
          <p:cNvSpPr/>
          <p:nvPr/>
        </p:nvSpPr>
        <p:spPr>
          <a:xfrm>
            <a:off x="7101905" y="3290368"/>
            <a:ext cx="17373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1" i="0" lang="en-US" sz="1200" u="none" cap="none" strike="noStrike">
                <a:solidFill>
                  <a:srgbClr val="64748B"/>
                </a:solidFill>
                <a:latin typeface="Calibri"/>
                <a:ea typeface="Calibri"/>
                <a:cs typeface="Calibri"/>
                <a:sym typeface="Calibri"/>
              </a:rPr>
              <a:t>r ≈ 0</a:t>
            </a:r>
            <a:endParaRPr b="0" i="0" sz="1200" u="none" cap="none" strike="noStrike">
              <a:solidFill>
                <a:schemeClr val="dk1"/>
              </a:solidFill>
              <a:latin typeface="Calibri"/>
              <a:ea typeface="Calibri"/>
              <a:cs typeface="Calibri"/>
              <a:sym typeface="Calibri"/>
            </a:endParaRPr>
          </a:p>
        </p:txBody>
      </p:sp>
      <p:sp>
        <p:nvSpPr>
          <p:cNvPr id="145" name="Google Shape;145;g3e51979973e_2_113"/>
          <p:cNvSpPr/>
          <p:nvPr/>
        </p:nvSpPr>
        <p:spPr>
          <a:xfrm>
            <a:off x="7084476" y="3564688"/>
            <a:ext cx="19647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1000" u="none" cap="none" strike="noStrike">
                <a:solidFill>
                  <a:srgbClr val="64748B"/>
                </a:solidFill>
                <a:latin typeface="Calibri"/>
                <a:ea typeface="Calibri"/>
                <a:cs typeface="Calibri"/>
                <a:sym typeface="Calibri"/>
              </a:rPr>
              <a:t>Image quality barely matters</a:t>
            </a:r>
            <a:endParaRPr b="0" i="0" sz="1000" u="none" cap="none" strike="noStrike">
              <a:solidFill>
                <a:schemeClr val="dk1"/>
              </a:solidFill>
              <a:latin typeface="Calibri"/>
              <a:ea typeface="Calibri"/>
              <a:cs typeface="Calibri"/>
              <a:sym typeface="Calibri"/>
            </a:endParaRPr>
          </a:p>
        </p:txBody>
      </p:sp>
      <p:sp>
        <p:nvSpPr>
          <p:cNvPr id="146" name="Google Shape;146;g3e51979973e_2_113"/>
          <p:cNvSpPr/>
          <p:nvPr/>
        </p:nvSpPr>
        <p:spPr>
          <a:xfrm>
            <a:off x="6949450" y="3957876"/>
            <a:ext cx="1964700" cy="594300"/>
          </a:xfrm>
          <a:prstGeom prst="rect">
            <a:avLst/>
          </a:prstGeom>
          <a:solidFill>
            <a:srgbClr val="FFFFFF"/>
          </a:solidFill>
          <a:ln cap="flat" cmpd="sng" w="12700">
            <a:solidFill>
              <a:srgbClr val="D6EA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e51979973e_2_113"/>
          <p:cNvSpPr/>
          <p:nvPr/>
        </p:nvSpPr>
        <p:spPr>
          <a:xfrm>
            <a:off x="6949440" y="3957880"/>
            <a:ext cx="73200" cy="594300"/>
          </a:xfrm>
          <a:prstGeom prst="rect">
            <a:avLst/>
          </a:prstGeom>
          <a:solidFill>
            <a:srgbClr val="64748B"/>
          </a:solidFill>
          <a:ln cap="flat" cmpd="sng" w="127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g3e51979973e_2_113"/>
          <p:cNvSpPr/>
          <p:nvPr/>
        </p:nvSpPr>
        <p:spPr>
          <a:xfrm>
            <a:off x="7101905" y="3994456"/>
            <a:ext cx="1737300" cy="246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1" i="0" lang="en-US" sz="1200" u="none" cap="none" strike="noStrike">
                <a:solidFill>
                  <a:srgbClr val="64748B"/>
                </a:solidFill>
                <a:latin typeface="Calibri"/>
                <a:ea typeface="Calibri"/>
                <a:cs typeface="Calibri"/>
                <a:sym typeface="Calibri"/>
              </a:rPr>
              <a:t>r ≈ 0</a:t>
            </a:r>
            <a:endParaRPr b="0" i="0" sz="1200" u="none" cap="none" strike="noStrike">
              <a:solidFill>
                <a:schemeClr val="dk1"/>
              </a:solidFill>
              <a:latin typeface="Calibri"/>
              <a:ea typeface="Calibri"/>
              <a:cs typeface="Calibri"/>
              <a:sym typeface="Calibri"/>
            </a:endParaRPr>
          </a:p>
        </p:txBody>
      </p:sp>
      <p:sp>
        <p:nvSpPr>
          <p:cNvPr id="149" name="Google Shape;149;g3e51979973e_2_113"/>
          <p:cNvSpPr/>
          <p:nvPr/>
        </p:nvSpPr>
        <p:spPr>
          <a:xfrm>
            <a:off x="7084476" y="4268776"/>
            <a:ext cx="19647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1000" u="none" cap="none" strike="noStrike">
                <a:solidFill>
                  <a:srgbClr val="64748B"/>
                </a:solidFill>
                <a:latin typeface="Calibri"/>
                <a:ea typeface="Calibri"/>
                <a:cs typeface="Calibri"/>
                <a:sym typeface="Calibri"/>
              </a:rPr>
              <a:t>Low contrast not the bottleneck</a:t>
            </a:r>
            <a:endParaRPr b="0" i="0" sz="1000" u="none" cap="none" strike="noStrike">
              <a:solidFill>
                <a:schemeClr val="dk1"/>
              </a:solidFill>
              <a:latin typeface="Calibri"/>
              <a:ea typeface="Calibri"/>
              <a:cs typeface="Calibri"/>
              <a:sym typeface="Calibri"/>
            </a:endParaRPr>
          </a:p>
        </p:txBody>
      </p:sp>
      <p:sp>
        <p:nvSpPr>
          <p:cNvPr id="150" name="Google Shape;150;g3e51979973e_2_113"/>
          <p:cNvSpPr/>
          <p:nvPr/>
        </p:nvSpPr>
        <p:spPr>
          <a:xfrm>
            <a:off x="365760" y="4749572"/>
            <a:ext cx="8412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7A8C"/>
              </a:buClr>
              <a:buSzPts val="1000"/>
              <a:buFont typeface="Calibri"/>
              <a:buNone/>
            </a:pPr>
            <a:r>
              <a:rPr b="1" i="1" lang="en-US" sz="1100">
                <a:solidFill>
                  <a:srgbClr val="1B7A8C"/>
                </a:solidFill>
                <a:latin typeface="Calibri"/>
                <a:ea typeface="Calibri"/>
                <a:cs typeface="Calibri"/>
                <a:sym typeface="Calibri"/>
              </a:rPr>
              <a:t>Key finding: Structural complexity — merged headers (98.1% colspan), row count, and cell density — is the core challenge. Image quality is largely irrelevant. Structure-aware metrics (TEDS) and hard examples are both essential for fair evaluation.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D"/>
        </a:solidFill>
      </p:bgPr>
    </p:bg>
    <p:spTree>
      <p:nvGrpSpPr>
        <p:cNvPr id="155" name="Shape 155"/>
        <p:cNvGrpSpPr/>
        <p:nvPr/>
      </p:nvGrpSpPr>
      <p:grpSpPr>
        <a:xfrm>
          <a:off x="0" y="0"/>
          <a:ext cx="0" cy="0"/>
          <a:chOff x="0" y="0"/>
          <a:chExt cx="0" cy="0"/>
        </a:xfrm>
      </p:grpSpPr>
      <p:sp>
        <p:nvSpPr>
          <p:cNvPr id="156" name="Google Shape;156;g3e51979973e_5_2"/>
          <p:cNvSpPr/>
          <p:nvPr/>
        </p:nvSpPr>
        <p:spPr>
          <a:xfrm>
            <a:off x="0" y="0"/>
            <a:ext cx="9144000" cy="658368"/>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3e51979973e_5_2"/>
          <p:cNvSpPr/>
          <p:nvPr/>
        </p:nvSpPr>
        <p:spPr>
          <a:xfrm>
            <a:off x="256032" y="0"/>
            <a:ext cx="8138160" cy="65836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FFFFFF"/>
              </a:buClr>
              <a:buSzPts val="2200"/>
              <a:buFont typeface="Calibri"/>
              <a:buNone/>
            </a:pPr>
            <a:r>
              <a:t/>
            </a:r>
            <a:endParaRPr b="0" i="0" sz="2200" u="none" cap="none" strike="noStrike">
              <a:solidFill>
                <a:schemeClr val="dk1"/>
              </a:solidFill>
              <a:latin typeface="Calibri"/>
              <a:ea typeface="Calibri"/>
              <a:cs typeface="Calibri"/>
              <a:sym typeface="Calibri"/>
            </a:endParaRPr>
          </a:p>
        </p:txBody>
      </p:sp>
      <p:cxnSp>
        <p:nvCxnSpPr>
          <p:cNvPr id="158" name="Google Shape;158;g3e51979973e_5_2"/>
          <p:cNvCxnSpPr/>
          <p:nvPr/>
        </p:nvCxnSpPr>
        <p:spPr>
          <a:xfrm>
            <a:off x="4480560" y="688783"/>
            <a:ext cx="0" cy="4251900"/>
          </a:xfrm>
          <a:prstGeom prst="straightConnector1">
            <a:avLst/>
          </a:prstGeom>
          <a:noFill/>
          <a:ln cap="flat" cmpd="sng" w="19050">
            <a:solidFill>
              <a:srgbClr val="CBD5E1"/>
            </a:solidFill>
            <a:prstDash val="solid"/>
            <a:round/>
            <a:headEnd len="sm" w="sm" type="none"/>
            <a:tailEnd len="sm" w="sm" type="none"/>
          </a:ln>
        </p:spPr>
      </p:cxnSp>
      <p:sp>
        <p:nvSpPr>
          <p:cNvPr id="159" name="Google Shape;159;g3e51979973e_5_2"/>
          <p:cNvSpPr/>
          <p:nvPr/>
        </p:nvSpPr>
        <p:spPr>
          <a:xfrm>
            <a:off x="228600" y="804672"/>
            <a:ext cx="4069080" cy="1143000"/>
          </a:xfrm>
          <a:prstGeom prst="rect">
            <a:avLst/>
          </a:prstGeom>
          <a:solidFill>
            <a:srgbClr val="FFFFFF"/>
          </a:solidFill>
          <a:ln cap="flat" cmpd="sng" w="12700">
            <a:solidFill>
              <a:srgbClr val="DDE3F0"/>
            </a:solidFill>
            <a:prstDash val="solid"/>
            <a:round/>
            <a:headEnd len="sm" w="sm" type="none"/>
            <a:tailEnd len="sm" w="sm" type="none"/>
          </a:ln>
          <a:effectLst>
            <a:outerShdw blurRad="50800" rotWithShape="0" algn="bl" dir="81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g3e51979973e_5_2"/>
          <p:cNvSpPr/>
          <p:nvPr/>
        </p:nvSpPr>
        <p:spPr>
          <a:xfrm>
            <a:off x="365760" y="987552"/>
            <a:ext cx="411480" cy="411480"/>
          </a:xfrm>
          <a:prstGeom prst="ellipse">
            <a:avLst/>
          </a:prstGeom>
          <a:solidFill>
            <a:srgbClr val="EBF2FF"/>
          </a:solidFill>
          <a:ln cap="flat" cmpd="sng" w="12700">
            <a:solidFill>
              <a:srgbClr val="EBF2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1" name="Google Shape;161;g3e51979973e_5_2"/>
          <p:cNvPicPr preferRelativeResize="0"/>
          <p:nvPr/>
        </p:nvPicPr>
        <p:blipFill rotWithShape="1">
          <a:blip r:embed="rId4">
            <a:alphaModFix/>
          </a:blip>
          <a:srcRect b="0" l="0" r="0" t="0"/>
          <a:stretch/>
        </p:blipFill>
        <p:spPr>
          <a:xfrm>
            <a:off x="402336" y="1024128"/>
            <a:ext cx="338328" cy="338328"/>
          </a:xfrm>
          <a:prstGeom prst="rect">
            <a:avLst/>
          </a:prstGeom>
          <a:noFill/>
          <a:ln>
            <a:noFill/>
          </a:ln>
        </p:spPr>
      </p:pic>
      <p:sp>
        <p:nvSpPr>
          <p:cNvPr id="162" name="Google Shape;162;g3e51979973e_5_2"/>
          <p:cNvSpPr/>
          <p:nvPr/>
        </p:nvSpPr>
        <p:spPr>
          <a:xfrm>
            <a:off x="868680" y="932688"/>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Sampling</a:t>
            </a:r>
            <a:endParaRPr b="0" i="0" sz="1200" u="none" cap="none" strike="noStrike">
              <a:solidFill>
                <a:schemeClr val="dk1"/>
              </a:solidFill>
              <a:latin typeface="Calibri"/>
              <a:ea typeface="Calibri"/>
              <a:cs typeface="Calibri"/>
              <a:sym typeface="Calibri"/>
            </a:endParaRPr>
          </a:p>
        </p:txBody>
      </p:sp>
      <p:sp>
        <p:nvSpPr>
          <p:cNvPr id="163" name="Google Shape;163;g3e51979973e_5_2"/>
          <p:cNvSpPr/>
          <p:nvPr/>
        </p:nvSpPr>
        <p:spPr>
          <a:xfrm>
            <a:off x="868680" y="1197864"/>
            <a:ext cx="3291840" cy="65836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475569"/>
              </a:buClr>
              <a:buSzPts val="950"/>
              <a:buFont typeface="Calibri"/>
              <a:buNone/>
            </a:pPr>
            <a:r>
              <a:rPr b="1" i="0" lang="en-US" sz="1000" u="none" cap="none" strike="noStrike">
                <a:solidFill>
                  <a:srgbClr val="1E293B"/>
                </a:solidFill>
                <a:latin typeface="Calibri"/>
                <a:ea typeface="Calibri"/>
                <a:cs typeface="Calibri"/>
                <a:sym typeface="Calibri"/>
              </a:rPr>
              <a:t>Stratified</a:t>
            </a:r>
            <a:r>
              <a:rPr b="0" i="0" lang="en-US" sz="1000" u="none" cap="none" strike="noStrike">
                <a:solidFill>
                  <a:srgbClr val="1E293B"/>
                </a:solidFill>
                <a:latin typeface="Calibri"/>
                <a:ea typeface="Calibri"/>
                <a:cs typeface="Calibri"/>
                <a:sym typeface="Calibri"/>
              </a:rPr>
              <a:t> sampling from hard examples · </a:t>
            </a:r>
            <a:r>
              <a:rPr b="1" i="0" lang="en-US" sz="1000" u="none" cap="none" strike="noStrike">
                <a:solidFill>
                  <a:srgbClr val="1E293B"/>
                </a:solidFill>
                <a:latin typeface="Calibri"/>
                <a:ea typeface="Calibri"/>
                <a:cs typeface="Calibri"/>
                <a:sym typeface="Calibri"/>
              </a:rPr>
              <a:t>260 images × 5 table types</a:t>
            </a:r>
            <a:r>
              <a:rPr b="0" i="0" lang="en-US" sz="1000" u="none" cap="none" strike="noStrike">
                <a:solidFill>
                  <a:srgbClr val="1E293B"/>
                </a:solidFill>
                <a:latin typeface="Calibri"/>
                <a:ea typeface="Calibri"/>
                <a:cs typeface="Calibri"/>
                <a:sym typeface="Calibri"/>
              </a:rPr>
              <a:t> (wide, tall, low-contrast, normal, low-quality)</a:t>
            </a:r>
            <a:endParaRPr b="0" i="0" sz="1000" u="none" cap="none" strike="noStrike">
              <a:solidFill>
                <a:srgbClr val="1E293B"/>
              </a:solidFill>
              <a:latin typeface="Calibri"/>
              <a:ea typeface="Calibri"/>
              <a:cs typeface="Calibri"/>
              <a:sym typeface="Calibri"/>
            </a:endParaRPr>
          </a:p>
          <a:p>
            <a:pPr indent="0" lvl="0" marL="0" marR="0" rtl="0" algn="l">
              <a:lnSpc>
                <a:spcPct val="115000"/>
              </a:lnSpc>
              <a:spcBef>
                <a:spcPts val="0"/>
              </a:spcBef>
              <a:spcAft>
                <a:spcPts val="0"/>
              </a:spcAft>
              <a:buClr>
                <a:srgbClr val="475569"/>
              </a:buClr>
              <a:buSzPts val="950"/>
              <a:buFont typeface="Calibri"/>
              <a:buNone/>
            </a:pPr>
            <a:r>
              <a:t/>
            </a:r>
            <a:endParaRPr b="0" i="0" sz="1000" u="none" cap="none" strike="noStrike">
              <a:solidFill>
                <a:srgbClr val="1E293B"/>
              </a:solidFill>
              <a:latin typeface="Calibri"/>
              <a:ea typeface="Calibri"/>
              <a:cs typeface="Calibri"/>
              <a:sym typeface="Calibri"/>
            </a:endParaRPr>
          </a:p>
        </p:txBody>
      </p:sp>
      <p:sp>
        <p:nvSpPr>
          <p:cNvPr id="164" name="Google Shape;164;g3e51979973e_5_2"/>
          <p:cNvSpPr/>
          <p:nvPr/>
        </p:nvSpPr>
        <p:spPr>
          <a:xfrm>
            <a:off x="228600" y="2039112"/>
            <a:ext cx="4069080" cy="1389888"/>
          </a:xfrm>
          <a:prstGeom prst="rect">
            <a:avLst/>
          </a:prstGeom>
          <a:solidFill>
            <a:srgbClr val="FFFFFF"/>
          </a:solidFill>
          <a:ln cap="flat" cmpd="sng" w="12700">
            <a:solidFill>
              <a:srgbClr val="DDE3F0"/>
            </a:solidFill>
            <a:prstDash val="solid"/>
            <a:round/>
            <a:headEnd len="sm" w="sm" type="none"/>
            <a:tailEnd len="sm" w="sm" type="none"/>
          </a:ln>
          <a:effectLst>
            <a:outerShdw blurRad="50800" rotWithShape="0" algn="bl" dir="81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g3e51979973e_5_2"/>
          <p:cNvSpPr/>
          <p:nvPr/>
        </p:nvSpPr>
        <p:spPr>
          <a:xfrm>
            <a:off x="365760" y="2221992"/>
            <a:ext cx="411480" cy="411480"/>
          </a:xfrm>
          <a:prstGeom prst="ellipse">
            <a:avLst/>
          </a:prstGeom>
          <a:solidFill>
            <a:srgbClr val="E0F9FF"/>
          </a:solidFill>
          <a:ln cap="flat" cmpd="sng" w="12700">
            <a:solidFill>
              <a:srgbClr val="E0F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6" name="Google Shape;166;g3e51979973e_5_2"/>
          <p:cNvPicPr preferRelativeResize="0"/>
          <p:nvPr/>
        </p:nvPicPr>
        <p:blipFill rotWithShape="1">
          <a:blip r:embed="rId5">
            <a:alphaModFix/>
          </a:blip>
          <a:srcRect b="0" l="0" r="0" t="0"/>
          <a:stretch/>
        </p:blipFill>
        <p:spPr>
          <a:xfrm>
            <a:off x="402336" y="2258568"/>
            <a:ext cx="338328" cy="338328"/>
          </a:xfrm>
          <a:prstGeom prst="rect">
            <a:avLst/>
          </a:prstGeom>
          <a:noFill/>
          <a:ln>
            <a:noFill/>
          </a:ln>
        </p:spPr>
      </p:pic>
      <p:sp>
        <p:nvSpPr>
          <p:cNvPr id="167" name="Google Shape;167;g3e51979973e_5_2"/>
          <p:cNvSpPr/>
          <p:nvPr/>
        </p:nvSpPr>
        <p:spPr>
          <a:xfrm>
            <a:off x="868680" y="2167128"/>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Preprocessing</a:t>
            </a:r>
            <a:endParaRPr b="0" i="0" sz="1200" u="none" cap="none" strike="noStrike">
              <a:solidFill>
                <a:schemeClr val="dk1"/>
              </a:solidFill>
              <a:latin typeface="Calibri"/>
              <a:ea typeface="Calibri"/>
              <a:cs typeface="Calibri"/>
              <a:sym typeface="Calibri"/>
            </a:endParaRPr>
          </a:p>
        </p:txBody>
      </p:sp>
      <p:sp>
        <p:nvSpPr>
          <p:cNvPr id="168" name="Google Shape;168;g3e51979973e_5_2"/>
          <p:cNvSpPr/>
          <p:nvPr/>
        </p:nvSpPr>
        <p:spPr>
          <a:xfrm>
            <a:off x="868680" y="2441448"/>
            <a:ext cx="3291840" cy="914400"/>
          </a:xfrm>
          <a:prstGeom prst="rect">
            <a:avLst/>
          </a:prstGeom>
          <a:noFill/>
          <a:ln>
            <a:noFill/>
          </a:ln>
        </p:spPr>
        <p:txBody>
          <a:bodyPr anchorCtr="0" anchor="ctr" bIns="0" lIns="0" spcFirstLastPara="1" rIns="0" wrap="square" tIns="0">
            <a:noAutofit/>
          </a:bodyPr>
          <a:lstStyle/>
          <a:p>
            <a:pPr indent="-346075" lvl="0" marL="342900" marR="0" rtl="0" algn="l">
              <a:lnSpc>
                <a:spcPct val="115000"/>
              </a:lnSpc>
              <a:spcBef>
                <a:spcPts val="0"/>
              </a:spcBef>
              <a:spcAft>
                <a:spcPts val="0"/>
              </a:spcAft>
              <a:buClr>
                <a:srgbClr val="1E293B"/>
              </a:buClr>
              <a:buSzPts val="1000"/>
              <a:buFont typeface="Calibri"/>
              <a:buChar char="•"/>
            </a:pPr>
            <a:r>
              <a:rPr b="0" i="0" lang="en-US" sz="1000" u="none" cap="none" strike="noStrike">
                <a:solidFill>
                  <a:srgbClr val="1E293B"/>
                </a:solidFill>
                <a:latin typeface="Calibri"/>
                <a:ea typeface="Calibri"/>
                <a:cs typeface="Calibri"/>
                <a:sym typeface="Calibri"/>
              </a:rPr>
              <a:t>Standardize images to consistent resolution &amp; format</a:t>
            </a:r>
            <a:endParaRPr b="0" i="0" sz="1000" u="none" cap="none" strike="noStrike">
              <a:solidFill>
                <a:srgbClr val="1E293B"/>
              </a:solidFill>
              <a:latin typeface="Calibri"/>
              <a:ea typeface="Calibri"/>
              <a:cs typeface="Calibri"/>
              <a:sym typeface="Calibri"/>
            </a:endParaRPr>
          </a:p>
          <a:p>
            <a:pPr indent="-346075" lvl="0" marL="342900" marR="0" rtl="0" algn="l">
              <a:lnSpc>
                <a:spcPct val="115000"/>
              </a:lnSpc>
              <a:spcBef>
                <a:spcPts val="0"/>
              </a:spcBef>
              <a:spcAft>
                <a:spcPts val="0"/>
              </a:spcAft>
              <a:buClr>
                <a:srgbClr val="1E293B"/>
              </a:buClr>
              <a:buSzPts val="1000"/>
              <a:buFont typeface="Calibri"/>
              <a:buChar char="•"/>
            </a:pPr>
            <a:r>
              <a:rPr b="0" i="0" lang="en-US" sz="1000" u="none" cap="none" strike="noStrike">
                <a:solidFill>
                  <a:srgbClr val="1E293B"/>
                </a:solidFill>
                <a:latin typeface="Calibri"/>
                <a:ea typeface="Calibri"/>
                <a:cs typeface="Calibri"/>
                <a:sym typeface="Calibri"/>
              </a:rPr>
              <a:t>Clean HTML annotations — remove redundant tags</a:t>
            </a:r>
            <a:endParaRPr b="0" i="0" sz="1000" u="none" cap="none" strike="noStrike">
              <a:solidFill>
                <a:srgbClr val="1E293B"/>
              </a:solidFill>
              <a:latin typeface="Calibri"/>
              <a:ea typeface="Calibri"/>
              <a:cs typeface="Calibri"/>
              <a:sym typeface="Calibri"/>
            </a:endParaRPr>
          </a:p>
          <a:p>
            <a:pPr indent="-346075" lvl="0" marL="342900" marR="0" rtl="0" algn="l">
              <a:lnSpc>
                <a:spcPct val="115000"/>
              </a:lnSpc>
              <a:spcBef>
                <a:spcPts val="0"/>
              </a:spcBef>
              <a:spcAft>
                <a:spcPts val="0"/>
              </a:spcAft>
              <a:buClr>
                <a:srgbClr val="1E293B"/>
              </a:buClr>
              <a:buSzPts val="1000"/>
              <a:buFont typeface="Calibri"/>
              <a:buChar char="•"/>
            </a:pPr>
            <a:r>
              <a:rPr b="0" i="0" lang="en-US" sz="1000" u="none" cap="none" strike="noStrike">
                <a:solidFill>
                  <a:srgbClr val="1E293B"/>
                </a:solidFill>
                <a:latin typeface="Calibri"/>
                <a:ea typeface="Calibri"/>
                <a:cs typeface="Calibri"/>
                <a:sym typeface="Calibri"/>
              </a:rPr>
              <a:t>Filter corrupted or incomplete samples</a:t>
            </a:r>
            <a:endParaRPr b="0" i="0" sz="1000" u="none" cap="none" strike="noStrike">
              <a:solidFill>
                <a:srgbClr val="1E293B"/>
              </a:solidFill>
              <a:latin typeface="Calibri"/>
              <a:ea typeface="Calibri"/>
              <a:cs typeface="Calibri"/>
              <a:sym typeface="Calibri"/>
            </a:endParaRPr>
          </a:p>
          <a:p>
            <a:pPr indent="-346075" lvl="0" marL="342900" marR="0" rtl="0" algn="l">
              <a:lnSpc>
                <a:spcPct val="115000"/>
              </a:lnSpc>
              <a:spcBef>
                <a:spcPts val="0"/>
              </a:spcBef>
              <a:spcAft>
                <a:spcPts val="0"/>
              </a:spcAft>
              <a:buClr>
                <a:srgbClr val="1E293B"/>
              </a:buClr>
              <a:buSzPts val="1000"/>
              <a:buFont typeface="Calibri"/>
              <a:buChar char="•"/>
            </a:pPr>
            <a:r>
              <a:rPr b="0" i="0" lang="en-US" sz="1000" u="none" cap="none" strike="noStrike">
                <a:solidFill>
                  <a:srgbClr val="1E293B"/>
                </a:solidFill>
                <a:latin typeface="Calibri"/>
                <a:ea typeface="Calibri"/>
                <a:cs typeface="Calibri"/>
                <a:sym typeface="Calibri"/>
              </a:rPr>
              <a:t>Validate image–HTML pair alignment &amp; consistency</a:t>
            </a:r>
            <a:endParaRPr b="0" i="0" sz="1000" u="none" cap="none" strike="noStrike">
              <a:solidFill>
                <a:srgbClr val="1E293B"/>
              </a:solidFill>
              <a:latin typeface="Calibri"/>
              <a:ea typeface="Calibri"/>
              <a:cs typeface="Calibri"/>
              <a:sym typeface="Calibri"/>
            </a:endParaRPr>
          </a:p>
        </p:txBody>
      </p:sp>
      <p:sp>
        <p:nvSpPr>
          <p:cNvPr id="169" name="Google Shape;169;g3e51979973e_5_2"/>
          <p:cNvSpPr/>
          <p:nvPr/>
        </p:nvSpPr>
        <p:spPr>
          <a:xfrm>
            <a:off x="228600" y="3520440"/>
            <a:ext cx="4069080" cy="1389888"/>
          </a:xfrm>
          <a:prstGeom prst="rect">
            <a:avLst/>
          </a:prstGeom>
          <a:solidFill>
            <a:srgbClr val="FFFFFF"/>
          </a:solidFill>
          <a:ln cap="flat" cmpd="sng" w="12700">
            <a:solidFill>
              <a:srgbClr val="DDE3F0"/>
            </a:solidFill>
            <a:prstDash val="solid"/>
            <a:round/>
            <a:headEnd len="sm" w="sm" type="none"/>
            <a:tailEnd len="sm" w="sm" type="none"/>
          </a:ln>
          <a:effectLst>
            <a:outerShdw blurRad="50800" rotWithShape="0" algn="bl" dir="81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g3e51979973e_5_2"/>
          <p:cNvSpPr/>
          <p:nvPr/>
        </p:nvSpPr>
        <p:spPr>
          <a:xfrm>
            <a:off x="365760" y="3703320"/>
            <a:ext cx="411480" cy="411480"/>
          </a:xfrm>
          <a:prstGeom prst="ellipse">
            <a:avLst/>
          </a:prstGeom>
          <a:solidFill>
            <a:srgbClr val="F3EEFF"/>
          </a:solidFill>
          <a:ln cap="flat" cmpd="sng" w="12700">
            <a:solidFill>
              <a:srgbClr val="F3EE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1" name="Google Shape;171;g3e51979973e_5_2"/>
          <p:cNvPicPr preferRelativeResize="0"/>
          <p:nvPr/>
        </p:nvPicPr>
        <p:blipFill rotWithShape="1">
          <a:blip r:embed="rId6">
            <a:alphaModFix/>
          </a:blip>
          <a:srcRect b="0" l="0" r="0" t="0"/>
          <a:stretch/>
        </p:blipFill>
        <p:spPr>
          <a:xfrm>
            <a:off x="402336" y="3739896"/>
            <a:ext cx="338328" cy="338328"/>
          </a:xfrm>
          <a:prstGeom prst="rect">
            <a:avLst/>
          </a:prstGeom>
          <a:noFill/>
          <a:ln>
            <a:noFill/>
          </a:ln>
        </p:spPr>
      </p:pic>
      <p:sp>
        <p:nvSpPr>
          <p:cNvPr id="172" name="Google Shape;172;g3e51979973e_5_2"/>
          <p:cNvSpPr/>
          <p:nvPr/>
        </p:nvSpPr>
        <p:spPr>
          <a:xfrm>
            <a:off x="868680" y="3602736"/>
            <a:ext cx="25603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Augmentation</a:t>
            </a:r>
            <a:endParaRPr b="0" i="0" sz="1200" u="none" cap="none" strike="noStrike">
              <a:solidFill>
                <a:schemeClr val="dk1"/>
              </a:solidFill>
              <a:latin typeface="Calibri"/>
              <a:ea typeface="Calibri"/>
              <a:cs typeface="Calibri"/>
              <a:sym typeface="Calibri"/>
            </a:endParaRPr>
          </a:p>
        </p:txBody>
      </p:sp>
      <p:sp>
        <p:nvSpPr>
          <p:cNvPr id="173" name="Google Shape;173;g3e51979973e_5_2"/>
          <p:cNvSpPr/>
          <p:nvPr/>
        </p:nvSpPr>
        <p:spPr>
          <a:xfrm>
            <a:off x="3273415" y="3630854"/>
            <a:ext cx="887100" cy="219600"/>
          </a:xfrm>
          <a:prstGeom prst="rect">
            <a:avLst/>
          </a:prstGeom>
          <a:solidFill>
            <a:srgbClr val="FEF3C7"/>
          </a:solidFill>
          <a:ln cap="flat" cmpd="sng" w="9525">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B45309"/>
              </a:buClr>
              <a:buSzPts val="750"/>
              <a:buFont typeface="Calibri"/>
              <a:buNone/>
            </a:pPr>
            <a:r>
              <a:rPr b="1" i="0" lang="en-US" sz="1000" u="none" cap="none" strike="noStrike">
                <a:solidFill>
                  <a:schemeClr val="dk1"/>
                </a:solidFill>
                <a:latin typeface="Calibri"/>
                <a:ea typeface="Calibri"/>
                <a:cs typeface="Calibri"/>
                <a:sym typeface="Calibri"/>
              </a:rPr>
              <a:t>Training only</a:t>
            </a:r>
            <a:endParaRPr b="0" i="0" sz="1000" u="none" cap="none" strike="noStrike">
              <a:solidFill>
                <a:schemeClr val="dk1"/>
              </a:solidFill>
              <a:latin typeface="Calibri"/>
              <a:ea typeface="Calibri"/>
              <a:cs typeface="Calibri"/>
              <a:sym typeface="Calibri"/>
            </a:endParaRPr>
          </a:p>
        </p:txBody>
      </p:sp>
      <p:sp>
        <p:nvSpPr>
          <p:cNvPr id="174" name="Google Shape;174;g3e51979973e_5_2"/>
          <p:cNvSpPr/>
          <p:nvPr/>
        </p:nvSpPr>
        <p:spPr>
          <a:xfrm>
            <a:off x="868680" y="3895344"/>
            <a:ext cx="3291840" cy="93268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1" i="0" lang="en-US" sz="1000" u="none" cap="none" strike="noStrike">
                <a:solidFill>
                  <a:srgbClr val="1E293B"/>
                </a:solidFill>
                <a:latin typeface="Calibri"/>
                <a:ea typeface="Calibri"/>
                <a:cs typeface="Calibri"/>
                <a:sym typeface="Calibri"/>
              </a:rPr>
              <a:t>Small-angle rotations</a:t>
            </a:r>
            <a:r>
              <a:rPr lang="en-US" sz="1000">
                <a:solidFill>
                  <a:srgbClr val="1E293B"/>
                </a:solidFill>
                <a:latin typeface="Calibri"/>
                <a:ea typeface="Calibri"/>
                <a:cs typeface="Calibri"/>
                <a:sym typeface="Calibri"/>
              </a:rPr>
              <a:t>:</a:t>
            </a:r>
            <a:r>
              <a:rPr b="0" i="0" lang="en-US" sz="1000" u="none" cap="none" strike="noStrike">
                <a:solidFill>
                  <a:srgbClr val="1E293B"/>
                </a:solidFill>
                <a:latin typeface="Calibri"/>
                <a:ea typeface="Calibri"/>
                <a:cs typeface="Calibri"/>
                <a:sym typeface="Calibri"/>
              </a:rPr>
              <a:t> simulate scanning misalignment</a:t>
            </a:r>
            <a:endParaRPr b="0" i="0" sz="1000" u="none" cap="none" strike="noStrike">
              <a:solidFill>
                <a:srgbClr val="1E293B"/>
              </a:solidFill>
              <a:latin typeface="Calibri"/>
              <a:ea typeface="Calibri"/>
              <a:cs typeface="Calibri"/>
              <a:sym typeface="Calibri"/>
            </a:endParaRPr>
          </a:p>
          <a:p>
            <a:pPr indent="0" lvl="0" marL="0" marR="0" rtl="0" algn="l">
              <a:lnSpc>
                <a:spcPct val="115000"/>
              </a:lnSpc>
              <a:spcBef>
                <a:spcPts val="0"/>
              </a:spcBef>
              <a:spcAft>
                <a:spcPts val="0"/>
              </a:spcAft>
              <a:buClr>
                <a:srgbClr val="475569"/>
              </a:buClr>
              <a:buSzPts val="950"/>
              <a:buFont typeface="Calibri"/>
              <a:buNone/>
            </a:pPr>
            <a:r>
              <a:rPr b="1" i="0" lang="en-US" sz="1000" u="none" cap="none" strike="noStrike">
                <a:solidFill>
                  <a:srgbClr val="1E293B"/>
                </a:solidFill>
                <a:latin typeface="Calibri"/>
                <a:ea typeface="Calibri"/>
                <a:cs typeface="Calibri"/>
                <a:sym typeface="Calibri"/>
              </a:rPr>
              <a:t>Scaling</a:t>
            </a:r>
            <a:r>
              <a:rPr lang="en-US" sz="1000">
                <a:solidFill>
                  <a:srgbClr val="1E293B"/>
                </a:solidFill>
                <a:latin typeface="Calibri"/>
                <a:ea typeface="Calibri"/>
                <a:cs typeface="Calibri"/>
                <a:sym typeface="Calibri"/>
              </a:rPr>
              <a:t>:</a:t>
            </a:r>
            <a:r>
              <a:rPr b="0" i="0" lang="en-US" sz="1000" u="none" cap="none" strike="noStrike">
                <a:solidFill>
                  <a:srgbClr val="1E293B"/>
                </a:solidFill>
                <a:latin typeface="Calibri"/>
                <a:ea typeface="Calibri"/>
                <a:cs typeface="Calibri"/>
                <a:sym typeface="Calibri"/>
              </a:rPr>
              <a:t> handle resolution variability</a:t>
            </a:r>
            <a:endParaRPr b="0" i="0" sz="1000" u="none" cap="none" strike="noStrike">
              <a:solidFill>
                <a:srgbClr val="1E293B"/>
              </a:solidFill>
              <a:latin typeface="Calibri"/>
              <a:ea typeface="Calibri"/>
              <a:cs typeface="Calibri"/>
              <a:sym typeface="Calibri"/>
            </a:endParaRPr>
          </a:p>
          <a:p>
            <a:pPr indent="0" lvl="0" marL="0" marR="0" rtl="0" algn="l">
              <a:lnSpc>
                <a:spcPct val="115000"/>
              </a:lnSpc>
              <a:spcBef>
                <a:spcPts val="0"/>
              </a:spcBef>
              <a:spcAft>
                <a:spcPts val="0"/>
              </a:spcAft>
              <a:buClr>
                <a:srgbClr val="475569"/>
              </a:buClr>
              <a:buSzPts val="950"/>
              <a:buFont typeface="Calibri"/>
              <a:buNone/>
            </a:pPr>
            <a:r>
              <a:rPr b="1" i="0" lang="en-US" sz="1000" u="none" cap="none" strike="noStrike">
                <a:solidFill>
                  <a:srgbClr val="1E293B"/>
                </a:solidFill>
                <a:latin typeface="Calibri"/>
                <a:ea typeface="Calibri"/>
                <a:cs typeface="Calibri"/>
                <a:sym typeface="Calibri"/>
              </a:rPr>
              <a:t>Contrast adjustment</a:t>
            </a:r>
            <a:r>
              <a:rPr lang="en-US" sz="1000">
                <a:solidFill>
                  <a:srgbClr val="1E293B"/>
                </a:solidFill>
                <a:latin typeface="Calibri"/>
                <a:ea typeface="Calibri"/>
                <a:cs typeface="Calibri"/>
                <a:sym typeface="Calibri"/>
              </a:rPr>
              <a:t>:</a:t>
            </a:r>
            <a:r>
              <a:rPr b="0" i="0" lang="en-US" sz="1000" u="none" cap="none" strike="noStrike">
                <a:solidFill>
                  <a:srgbClr val="1E293B"/>
                </a:solidFill>
                <a:latin typeface="Calibri"/>
                <a:ea typeface="Calibri"/>
                <a:cs typeface="Calibri"/>
                <a:sym typeface="Calibri"/>
              </a:rPr>
              <a:t> model lighting differences</a:t>
            </a:r>
            <a:endParaRPr b="0" i="0" sz="1000" u="none" cap="none" strike="noStrike">
              <a:solidFill>
                <a:srgbClr val="1E293B"/>
              </a:solidFill>
              <a:latin typeface="Calibri"/>
              <a:ea typeface="Calibri"/>
              <a:cs typeface="Calibri"/>
              <a:sym typeface="Calibri"/>
            </a:endParaRPr>
          </a:p>
          <a:p>
            <a:pPr indent="0" lvl="0" marL="0" marR="0" rtl="0" algn="l">
              <a:lnSpc>
                <a:spcPct val="115000"/>
              </a:lnSpc>
              <a:spcBef>
                <a:spcPts val="0"/>
              </a:spcBef>
              <a:spcAft>
                <a:spcPts val="0"/>
              </a:spcAft>
              <a:buClr>
                <a:srgbClr val="475569"/>
              </a:buClr>
              <a:buSzPts val="950"/>
              <a:buFont typeface="Calibri"/>
              <a:buNone/>
            </a:pPr>
            <a:r>
              <a:rPr b="1" i="0" lang="en-US" sz="1000" u="none" cap="none" strike="noStrike">
                <a:solidFill>
                  <a:srgbClr val="1E293B"/>
                </a:solidFill>
                <a:latin typeface="Calibri"/>
                <a:ea typeface="Calibri"/>
                <a:cs typeface="Calibri"/>
                <a:sym typeface="Calibri"/>
              </a:rPr>
              <a:t>Blur simulation</a:t>
            </a:r>
            <a:r>
              <a:rPr lang="en-US" sz="1000">
                <a:solidFill>
                  <a:srgbClr val="1E293B"/>
                </a:solidFill>
                <a:latin typeface="Calibri"/>
                <a:ea typeface="Calibri"/>
                <a:cs typeface="Calibri"/>
                <a:sym typeface="Calibri"/>
              </a:rPr>
              <a:t>:</a:t>
            </a:r>
            <a:r>
              <a:rPr b="0" i="0" lang="en-US" sz="1000" u="none" cap="none" strike="noStrike">
                <a:solidFill>
                  <a:srgbClr val="1E293B"/>
                </a:solidFill>
                <a:latin typeface="Calibri"/>
                <a:ea typeface="Calibri"/>
                <a:cs typeface="Calibri"/>
                <a:sym typeface="Calibri"/>
              </a:rPr>
              <a:t> mimic low-quality / noisy document images</a:t>
            </a:r>
            <a:endParaRPr b="0" i="0" sz="1000" u="none" cap="none" strike="noStrike">
              <a:solidFill>
                <a:srgbClr val="1E293B"/>
              </a:solidFill>
              <a:latin typeface="Calibri"/>
              <a:ea typeface="Calibri"/>
              <a:cs typeface="Calibri"/>
              <a:sym typeface="Calibri"/>
            </a:endParaRPr>
          </a:p>
        </p:txBody>
      </p:sp>
      <p:sp>
        <p:nvSpPr>
          <p:cNvPr id="175" name="Google Shape;175;g3e51979973e_5_2"/>
          <p:cNvSpPr/>
          <p:nvPr/>
        </p:nvSpPr>
        <p:spPr>
          <a:xfrm>
            <a:off x="4663440" y="756704"/>
            <a:ext cx="4251900" cy="1572900"/>
          </a:xfrm>
          <a:prstGeom prst="rect">
            <a:avLst/>
          </a:prstGeom>
          <a:solidFill>
            <a:srgbClr val="DDE3F0"/>
          </a:solidFill>
          <a:ln cap="flat" cmpd="sng" w="12700">
            <a:solidFill>
              <a:srgbClr val="DDE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6" name="Google Shape;176;g3e51979973e_5_2"/>
          <p:cNvPicPr preferRelativeResize="0"/>
          <p:nvPr/>
        </p:nvPicPr>
        <p:blipFill rotWithShape="1">
          <a:blip r:embed="rId7">
            <a:alphaModFix/>
          </a:blip>
          <a:srcRect b="0" l="0" r="0" t="0"/>
          <a:stretch/>
        </p:blipFill>
        <p:spPr>
          <a:xfrm>
            <a:off x="4837176" y="939584"/>
            <a:ext cx="338328" cy="338328"/>
          </a:xfrm>
          <a:prstGeom prst="rect">
            <a:avLst/>
          </a:prstGeom>
          <a:noFill/>
          <a:ln>
            <a:noFill/>
          </a:ln>
        </p:spPr>
      </p:pic>
      <p:sp>
        <p:nvSpPr>
          <p:cNvPr id="177" name="Google Shape;177;g3e51979973e_5_2"/>
          <p:cNvSpPr/>
          <p:nvPr/>
        </p:nvSpPr>
        <p:spPr>
          <a:xfrm>
            <a:off x="5303520" y="875576"/>
            <a:ext cx="3383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Data Splits</a:t>
            </a:r>
            <a:endParaRPr b="0" i="0" sz="1200" u="none" cap="none" strike="noStrike">
              <a:solidFill>
                <a:schemeClr val="dk1"/>
              </a:solidFill>
              <a:latin typeface="Calibri"/>
              <a:ea typeface="Calibri"/>
              <a:cs typeface="Calibri"/>
              <a:sym typeface="Calibri"/>
            </a:endParaRPr>
          </a:p>
        </p:txBody>
      </p:sp>
      <p:sp>
        <p:nvSpPr>
          <p:cNvPr id="178" name="Google Shape;178;g3e51979973e_5_2"/>
          <p:cNvSpPr/>
          <p:nvPr/>
        </p:nvSpPr>
        <p:spPr>
          <a:xfrm>
            <a:off x="4800600" y="1351064"/>
            <a:ext cx="1261800" cy="841200"/>
          </a:xfrm>
          <a:prstGeom prst="rect">
            <a:avLst/>
          </a:prstGeom>
          <a:solidFill>
            <a:srgbClr val="F0F6FA"/>
          </a:solidFill>
          <a:ln cap="flat" cmpd="sng" w="19050">
            <a:solidFill>
              <a:srgbClr val="86EF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3e51979973e_5_2"/>
          <p:cNvSpPr/>
          <p:nvPr/>
        </p:nvSpPr>
        <p:spPr>
          <a:xfrm>
            <a:off x="4800600" y="1387640"/>
            <a:ext cx="1261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2800"/>
              <a:buFont typeface="Calibri"/>
              <a:buNone/>
            </a:pPr>
            <a:r>
              <a:rPr b="1" i="0" lang="en-US" sz="2800" u="none" cap="none" strike="noStrike">
                <a:solidFill>
                  <a:srgbClr val="10B981"/>
                </a:solidFill>
                <a:latin typeface="Calibri"/>
                <a:ea typeface="Calibri"/>
                <a:cs typeface="Calibri"/>
                <a:sym typeface="Calibri"/>
              </a:rPr>
              <a:t>850</a:t>
            </a:r>
            <a:endParaRPr b="0" i="0" sz="2800" u="none" cap="none" strike="noStrike">
              <a:solidFill>
                <a:schemeClr val="dk1"/>
              </a:solidFill>
              <a:latin typeface="Calibri"/>
              <a:ea typeface="Calibri"/>
              <a:cs typeface="Calibri"/>
              <a:sym typeface="Calibri"/>
            </a:endParaRPr>
          </a:p>
        </p:txBody>
      </p:sp>
      <p:sp>
        <p:nvSpPr>
          <p:cNvPr id="180" name="Google Shape;180;g3e51979973e_5_2"/>
          <p:cNvSpPr/>
          <p:nvPr/>
        </p:nvSpPr>
        <p:spPr>
          <a:xfrm>
            <a:off x="4800600" y="1844840"/>
            <a:ext cx="12618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950"/>
              <a:buFont typeface="Calibri"/>
              <a:buNone/>
            </a:pPr>
            <a:r>
              <a:rPr b="0" i="0" lang="en-US" sz="1100" u="none" cap="none" strike="noStrike">
                <a:solidFill>
                  <a:srgbClr val="475569"/>
                </a:solidFill>
                <a:latin typeface="Calibri"/>
                <a:ea typeface="Calibri"/>
                <a:cs typeface="Calibri"/>
                <a:sym typeface="Calibri"/>
              </a:rPr>
              <a:t>Train</a:t>
            </a:r>
            <a:endParaRPr b="0" i="0" sz="1100" u="none" cap="none" strike="noStrike">
              <a:solidFill>
                <a:schemeClr val="dk1"/>
              </a:solidFill>
              <a:latin typeface="Calibri"/>
              <a:ea typeface="Calibri"/>
              <a:cs typeface="Calibri"/>
              <a:sym typeface="Calibri"/>
            </a:endParaRPr>
          </a:p>
        </p:txBody>
      </p:sp>
      <p:sp>
        <p:nvSpPr>
          <p:cNvPr id="181" name="Google Shape;181;g3e51979973e_5_2"/>
          <p:cNvSpPr/>
          <p:nvPr/>
        </p:nvSpPr>
        <p:spPr>
          <a:xfrm>
            <a:off x="6135624" y="1351064"/>
            <a:ext cx="1261800" cy="841200"/>
          </a:xfrm>
          <a:prstGeom prst="rect">
            <a:avLst/>
          </a:prstGeom>
          <a:solidFill>
            <a:srgbClr val="F0F6FA"/>
          </a:solidFill>
          <a:ln cap="flat" cmpd="sng" w="19050">
            <a:solidFill>
              <a:srgbClr val="FCD3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3e51979973e_5_2"/>
          <p:cNvSpPr/>
          <p:nvPr/>
        </p:nvSpPr>
        <p:spPr>
          <a:xfrm>
            <a:off x="6135624" y="1387640"/>
            <a:ext cx="1261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2800"/>
              <a:buFont typeface="Calibri"/>
              <a:buNone/>
            </a:pPr>
            <a:r>
              <a:rPr b="1" i="0" lang="en-US" sz="2800" u="none" cap="none" strike="noStrike">
                <a:solidFill>
                  <a:srgbClr val="F59E0B"/>
                </a:solidFill>
                <a:latin typeface="Calibri"/>
                <a:ea typeface="Calibri"/>
                <a:cs typeface="Calibri"/>
                <a:sym typeface="Calibri"/>
              </a:rPr>
              <a:t>150</a:t>
            </a:r>
            <a:endParaRPr b="0" i="0" sz="2800" u="none" cap="none" strike="noStrike">
              <a:solidFill>
                <a:schemeClr val="dk1"/>
              </a:solidFill>
              <a:latin typeface="Calibri"/>
              <a:ea typeface="Calibri"/>
              <a:cs typeface="Calibri"/>
              <a:sym typeface="Calibri"/>
            </a:endParaRPr>
          </a:p>
        </p:txBody>
      </p:sp>
      <p:sp>
        <p:nvSpPr>
          <p:cNvPr id="183" name="Google Shape;183;g3e51979973e_5_2"/>
          <p:cNvSpPr/>
          <p:nvPr/>
        </p:nvSpPr>
        <p:spPr>
          <a:xfrm>
            <a:off x="6135624" y="1844840"/>
            <a:ext cx="12618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950"/>
              <a:buFont typeface="Calibri"/>
              <a:buNone/>
            </a:pPr>
            <a:r>
              <a:rPr b="0" i="0" lang="en-US" sz="1100" u="none" cap="none" strike="noStrike">
                <a:solidFill>
                  <a:srgbClr val="475569"/>
                </a:solidFill>
                <a:latin typeface="Calibri"/>
                <a:ea typeface="Calibri"/>
                <a:cs typeface="Calibri"/>
                <a:sym typeface="Calibri"/>
              </a:rPr>
              <a:t>Val</a:t>
            </a:r>
            <a:endParaRPr b="0" i="0" sz="1100" u="none" cap="none" strike="noStrike">
              <a:solidFill>
                <a:schemeClr val="dk1"/>
              </a:solidFill>
              <a:latin typeface="Calibri"/>
              <a:ea typeface="Calibri"/>
              <a:cs typeface="Calibri"/>
              <a:sym typeface="Calibri"/>
            </a:endParaRPr>
          </a:p>
        </p:txBody>
      </p:sp>
      <p:sp>
        <p:nvSpPr>
          <p:cNvPr id="184" name="Google Shape;184;g3e51979973e_5_2"/>
          <p:cNvSpPr/>
          <p:nvPr/>
        </p:nvSpPr>
        <p:spPr>
          <a:xfrm>
            <a:off x="7470648" y="1351064"/>
            <a:ext cx="1261800" cy="841200"/>
          </a:xfrm>
          <a:prstGeom prst="rect">
            <a:avLst/>
          </a:prstGeom>
          <a:solidFill>
            <a:srgbClr val="F0F6FA"/>
          </a:solidFill>
          <a:ln cap="flat" cmpd="sng" w="28575">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3e51979973e_5_2"/>
          <p:cNvSpPr/>
          <p:nvPr/>
        </p:nvSpPr>
        <p:spPr>
          <a:xfrm>
            <a:off x="7470648" y="1387640"/>
            <a:ext cx="12618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82F6"/>
              </a:buClr>
              <a:buSzPts val="2800"/>
              <a:buFont typeface="Calibri"/>
              <a:buNone/>
            </a:pPr>
            <a:r>
              <a:rPr b="1" i="0" lang="en-US" sz="2800" u="none" cap="none" strike="noStrike">
                <a:solidFill>
                  <a:srgbClr val="3B82F6"/>
                </a:solidFill>
                <a:latin typeface="Calibri"/>
                <a:ea typeface="Calibri"/>
                <a:cs typeface="Calibri"/>
                <a:sym typeface="Calibri"/>
              </a:rPr>
              <a:t>300</a:t>
            </a:r>
            <a:endParaRPr b="0" i="0" sz="2800" u="none" cap="none" strike="noStrike">
              <a:solidFill>
                <a:schemeClr val="dk1"/>
              </a:solidFill>
              <a:latin typeface="Calibri"/>
              <a:ea typeface="Calibri"/>
              <a:cs typeface="Calibri"/>
              <a:sym typeface="Calibri"/>
            </a:endParaRPr>
          </a:p>
        </p:txBody>
      </p:sp>
      <p:sp>
        <p:nvSpPr>
          <p:cNvPr id="186" name="Google Shape;186;g3e51979973e_5_2"/>
          <p:cNvSpPr/>
          <p:nvPr/>
        </p:nvSpPr>
        <p:spPr>
          <a:xfrm>
            <a:off x="7470648" y="1844840"/>
            <a:ext cx="12618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950"/>
              <a:buFont typeface="Calibri"/>
              <a:buNone/>
            </a:pPr>
            <a:r>
              <a:rPr b="0" i="0" lang="en-US" sz="1100" u="none" cap="none" strike="noStrike">
                <a:solidFill>
                  <a:srgbClr val="475569"/>
                </a:solidFill>
                <a:latin typeface="Calibri"/>
                <a:ea typeface="Calibri"/>
                <a:cs typeface="Calibri"/>
                <a:sym typeface="Calibri"/>
              </a:rPr>
              <a:t>Test</a:t>
            </a:r>
            <a:endParaRPr b="0" i="0" sz="1100" u="none" cap="none" strike="noStrike">
              <a:solidFill>
                <a:schemeClr val="dk1"/>
              </a:solidFill>
              <a:latin typeface="Calibri"/>
              <a:ea typeface="Calibri"/>
              <a:cs typeface="Calibri"/>
              <a:sym typeface="Calibri"/>
            </a:endParaRPr>
          </a:p>
        </p:txBody>
      </p:sp>
      <p:sp>
        <p:nvSpPr>
          <p:cNvPr id="187" name="Google Shape;187;g3e51979973e_5_2"/>
          <p:cNvSpPr/>
          <p:nvPr/>
        </p:nvSpPr>
        <p:spPr>
          <a:xfrm>
            <a:off x="4663450" y="2386675"/>
            <a:ext cx="4251900" cy="1691700"/>
          </a:xfrm>
          <a:prstGeom prst="rect">
            <a:avLst/>
          </a:prstGeom>
          <a:solidFill>
            <a:srgbClr val="FFFFFF"/>
          </a:solidFill>
          <a:ln cap="flat" cmpd="sng" w="12700">
            <a:solidFill>
              <a:srgbClr val="DDE3F0"/>
            </a:solidFill>
            <a:prstDash val="solid"/>
            <a:round/>
            <a:headEnd len="sm" w="sm" type="none"/>
            <a:tailEnd len="sm" w="sm" type="none"/>
          </a:ln>
          <a:effectLst>
            <a:outerShdw blurRad="50800" rotWithShape="0" algn="bl" dir="81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g3e51979973e_5_2"/>
          <p:cNvSpPr/>
          <p:nvPr/>
        </p:nvSpPr>
        <p:spPr>
          <a:xfrm>
            <a:off x="4800600" y="2454516"/>
            <a:ext cx="411600" cy="411600"/>
          </a:xfrm>
          <a:prstGeom prst="ellipse">
            <a:avLst/>
          </a:prstGeom>
          <a:solidFill>
            <a:srgbClr val="FEF3C7"/>
          </a:solidFill>
          <a:ln cap="flat" cmpd="sng" w="12700">
            <a:solidFill>
              <a:srgbClr val="FEF3C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9" name="Google Shape;189;g3e51979973e_5_2"/>
          <p:cNvPicPr preferRelativeResize="0"/>
          <p:nvPr/>
        </p:nvPicPr>
        <p:blipFill rotWithShape="1">
          <a:blip r:embed="rId8">
            <a:alphaModFix/>
          </a:blip>
          <a:srcRect b="0" l="0" r="0" t="0"/>
          <a:stretch/>
        </p:blipFill>
        <p:spPr>
          <a:xfrm>
            <a:off x="4837176" y="2482374"/>
            <a:ext cx="338328" cy="338328"/>
          </a:xfrm>
          <a:prstGeom prst="rect">
            <a:avLst/>
          </a:prstGeom>
          <a:noFill/>
          <a:ln>
            <a:noFill/>
          </a:ln>
        </p:spPr>
      </p:pic>
      <p:sp>
        <p:nvSpPr>
          <p:cNvPr id="190" name="Google Shape;190;g3e51979973e_5_2"/>
          <p:cNvSpPr/>
          <p:nvPr/>
        </p:nvSpPr>
        <p:spPr>
          <a:xfrm>
            <a:off x="5303520" y="2496826"/>
            <a:ext cx="3474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200" u="none" cap="none" strike="noStrike">
                <a:solidFill>
                  <a:srgbClr val="1E293B"/>
                </a:solidFill>
                <a:latin typeface="Calibri"/>
                <a:ea typeface="Calibri"/>
                <a:cs typeface="Calibri"/>
                <a:sym typeface="Calibri"/>
              </a:rPr>
              <a:t>TEDS — Tree Edit Distance Similarity</a:t>
            </a:r>
            <a:endParaRPr b="0" i="0" sz="1200" u="none" cap="none" strike="noStrike">
              <a:solidFill>
                <a:schemeClr val="dk1"/>
              </a:solidFill>
              <a:latin typeface="Calibri"/>
              <a:ea typeface="Calibri"/>
              <a:cs typeface="Calibri"/>
              <a:sym typeface="Calibri"/>
            </a:endParaRPr>
          </a:p>
        </p:txBody>
      </p:sp>
      <p:sp>
        <p:nvSpPr>
          <p:cNvPr id="191" name="Google Shape;191;g3e51979973e_5_2"/>
          <p:cNvSpPr/>
          <p:nvPr/>
        </p:nvSpPr>
        <p:spPr>
          <a:xfrm>
            <a:off x="4800600" y="2919697"/>
            <a:ext cx="3977700" cy="411600"/>
          </a:xfrm>
          <a:prstGeom prst="rect">
            <a:avLst/>
          </a:prstGeom>
          <a:solidFill>
            <a:schemeClr val="lt1"/>
          </a:solidFill>
          <a:ln cap="flat" cmpd="sng" w="12700">
            <a:solidFill>
              <a:srgbClr val="FCD3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3e51979973e_5_2"/>
          <p:cNvSpPr/>
          <p:nvPr/>
        </p:nvSpPr>
        <p:spPr>
          <a:xfrm>
            <a:off x="4826753" y="3367211"/>
            <a:ext cx="3977700" cy="6585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475569"/>
              </a:buClr>
              <a:buSzPts val="900"/>
              <a:buFont typeface="Calibri"/>
              <a:buNone/>
            </a:pPr>
            <a:r>
              <a:rPr b="1" i="0" lang="en-US" sz="900" u="none" cap="none" strike="noStrike">
                <a:solidFill>
                  <a:srgbClr val="1E293B"/>
                </a:solidFill>
                <a:latin typeface="Calibri"/>
                <a:ea typeface="Calibri"/>
                <a:cs typeface="Calibri"/>
                <a:sym typeface="Calibri"/>
              </a:rPr>
              <a:t>Score 0–1</a:t>
            </a:r>
            <a:r>
              <a:rPr b="0" i="0" lang="en-US" sz="900" u="none" cap="none" strike="noStrike">
                <a:solidFill>
                  <a:srgbClr val="1E293B"/>
                </a:solidFill>
                <a:latin typeface="Calibri"/>
                <a:ea typeface="Calibri"/>
                <a:cs typeface="Calibri"/>
                <a:sym typeface="Calibri"/>
              </a:rPr>
              <a:t> where 1.0 = perfect match. Structural errors (tag, colspan, rowspan) cost </a:t>
            </a:r>
            <a:r>
              <a:rPr b="1" i="0" lang="en-US" sz="900" u="none" cap="none" strike="noStrike">
                <a:solidFill>
                  <a:srgbClr val="1E293B"/>
                </a:solidFill>
                <a:latin typeface="Calibri"/>
                <a:ea typeface="Calibri"/>
                <a:cs typeface="Calibri"/>
                <a:sym typeface="Calibri"/>
              </a:rPr>
              <a:t>1.0</a:t>
            </a:r>
            <a:r>
              <a:rPr b="0" i="0" lang="en-US" sz="900" u="none" cap="none" strike="noStrike">
                <a:solidFill>
                  <a:srgbClr val="1E293B"/>
                </a:solidFill>
                <a:latin typeface="Calibri"/>
                <a:ea typeface="Calibri"/>
                <a:cs typeface="Calibri"/>
                <a:sym typeface="Calibri"/>
              </a:rPr>
              <a:t>; content mismatches cost </a:t>
            </a:r>
            <a:r>
              <a:rPr b="1" i="0" lang="en-US" sz="900" u="none" cap="none" strike="noStrike">
                <a:solidFill>
                  <a:srgbClr val="1E293B"/>
                </a:solidFill>
                <a:latin typeface="Calibri"/>
                <a:ea typeface="Calibri"/>
                <a:cs typeface="Calibri"/>
                <a:sym typeface="Calibri"/>
              </a:rPr>
              <a:t>0.5</a:t>
            </a:r>
            <a:r>
              <a:rPr b="0" i="0" lang="en-US" sz="900" u="none" cap="none" strike="noStrike">
                <a:solidFill>
                  <a:srgbClr val="1E293B"/>
                </a:solidFill>
                <a:latin typeface="Calibri"/>
                <a:ea typeface="Calibri"/>
                <a:cs typeface="Calibri"/>
                <a:sym typeface="Calibri"/>
              </a:rPr>
              <a:t>. Normalized by tree size — penalizes errors proportionally. </a:t>
            </a:r>
            <a:r>
              <a:rPr lang="en-US" sz="900">
                <a:solidFill>
                  <a:srgbClr val="1E293B"/>
                </a:solidFill>
                <a:latin typeface="Calibri"/>
                <a:ea typeface="Calibri"/>
                <a:cs typeface="Calibri"/>
                <a:sym typeface="Calibri"/>
              </a:rPr>
              <a:t>Evaluated in two modes: Skeleton TEDS (structure only) and Pipeline TEDS (full output).</a:t>
            </a:r>
            <a:endParaRPr sz="900">
              <a:solidFill>
                <a:srgbClr val="1E293B"/>
              </a:solidFill>
              <a:latin typeface="Calibri"/>
              <a:ea typeface="Calibri"/>
              <a:cs typeface="Calibri"/>
              <a:sym typeface="Calibri"/>
            </a:endParaRPr>
          </a:p>
        </p:txBody>
      </p:sp>
      <p:sp>
        <p:nvSpPr>
          <p:cNvPr id="193" name="Google Shape;193;g3e51979973e_5_2"/>
          <p:cNvSpPr/>
          <p:nvPr/>
        </p:nvSpPr>
        <p:spPr>
          <a:xfrm>
            <a:off x="4663440" y="4140006"/>
            <a:ext cx="4251900" cy="786300"/>
          </a:xfrm>
          <a:prstGeom prst="rect">
            <a:avLst/>
          </a:prstGeom>
          <a:solidFill>
            <a:srgbClr val="FFFFFF"/>
          </a:solidFill>
          <a:ln cap="flat" cmpd="sng" w="12700">
            <a:solidFill>
              <a:srgbClr val="DDE3F0"/>
            </a:solidFill>
            <a:prstDash val="solid"/>
            <a:round/>
            <a:headEnd len="sm" w="sm" type="none"/>
            <a:tailEnd len="sm" w="sm" type="none"/>
          </a:ln>
          <a:effectLst>
            <a:outerShdw blurRad="50800" rotWithShape="0" algn="bl" dir="81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g3e51979973e_5_2"/>
          <p:cNvSpPr/>
          <p:nvPr/>
        </p:nvSpPr>
        <p:spPr>
          <a:xfrm>
            <a:off x="4800600" y="4268022"/>
            <a:ext cx="347400" cy="347400"/>
          </a:xfrm>
          <a:prstGeom prst="ellipse">
            <a:avLst/>
          </a:prstGeom>
          <a:solidFill>
            <a:srgbClr val="FEE2E2"/>
          </a:solidFill>
          <a:ln cap="flat" cmpd="sng" w="12700">
            <a:solidFill>
              <a:srgbClr val="FEE2E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5" name="Google Shape;195;g3e51979973e_5_2"/>
          <p:cNvPicPr preferRelativeResize="0"/>
          <p:nvPr/>
        </p:nvPicPr>
        <p:blipFill rotWithShape="1">
          <a:blip r:embed="rId9">
            <a:alphaModFix/>
          </a:blip>
          <a:srcRect b="0" l="0" r="0" t="0"/>
          <a:stretch/>
        </p:blipFill>
        <p:spPr>
          <a:xfrm>
            <a:off x="4837176" y="4304598"/>
            <a:ext cx="274320" cy="274320"/>
          </a:xfrm>
          <a:prstGeom prst="rect">
            <a:avLst/>
          </a:prstGeom>
          <a:noFill/>
          <a:ln>
            <a:noFill/>
          </a:ln>
        </p:spPr>
      </p:pic>
      <p:sp>
        <p:nvSpPr>
          <p:cNvPr id="196" name="Google Shape;196;g3e51979973e_5_2"/>
          <p:cNvSpPr/>
          <p:nvPr/>
        </p:nvSpPr>
        <p:spPr>
          <a:xfrm>
            <a:off x="5257800" y="4213158"/>
            <a:ext cx="3474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200" u="none" cap="none" strike="noStrike">
                <a:solidFill>
                  <a:srgbClr val="1E293B"/>
                </a:solidFill>
                <a:latin typeface="Calibri"/>
                <a:ea typeface="Calibri"/>
                <a:cs typeface="Calibri"/>
                <a:sym typeface="Calibri"/>
              </a:rPr>
              <a:t>KIE — Key Information Extraction</a:t>
            </a:r>
            <a:endParaRPr b="0" i="0" sz="1200" u="none" cap="none" strike="noStrike">
              <a:solidFill>
                <a:schemeClr val="dk1"/>
              </a:solidFill>
              <a:latin typeface="Calibri"/>
              <a:ea typeface="Calibri"/>
              <a:cs typeface="Calibri"/>
              <a:sym typeface="Calibri"/>
            </a:endParaRPr>
          </a:p>
        </p:txBody>
      </p:sp>
      <p:sp>
        <p:nvSpPr>
          <p:cNvPr id="197" name="Google Shape;197;g3e51979973e_5_2"/>
          <p:cNvSpPr/>
          <p:nvPr/>
        </p:nvSpPr>
        <p:spPr>
          <a:xfrm>
            <a:off x="5257800" y="4450902"/>
            <a:ext cx="3520500" cy="420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475569"/>
              </a:buClr>
              <a:buSzPts val="900"/>
              <a:buFont typeface="Calibri"/>
              <a:buNone/>
            </a:pPr>
            <a:r>
              <a:rPr b="0" i="0" lang="en-US" sz="900" u="none" cap="none" strike="noStrike">
                <a:solidFill>
                  <a:srgbClr val="1E293B"/>
                </a:solidFill>
                <a:latin typeface="Calibri"/>
                <a:ea typeface="Calibri"/>
                <a:cs typeface="Calibri"/>
                <a:sym typeface="Calibri"/>
              </a:rPr>
              <a:t>Evaluated via entity-level F1 — measures correctness and completeness of extracted structured information.</a:t>
            </a:r>
            <a:endParaRPr b="0" i="0" sz="900" u="none" cap="none" strike="noStrike">
              <a:solidFill>
                <a:srgbClr val="1E293B"/>
              </a:solidFill>
              <a:latin typeface="Calibri"/>
              <a:ea typeface="Calibri"/>
              <a:cs typeface="Calibri"/>
              <a:sym typeface="Calibri"/>
            </a:endParaRPr>
          </a:p>
        </p:txBody>
      </p:sp>
      <p:sp>
        <p:nvSpPr>
          <p:cNvPr id="198" name="Google Shape;198;g3e51979973e_5_2"/>
          <p:cNvSpPr/>
          <p:nvPr/>
        </p:nvSpPr>
        <p:spPr>
          <a:xfrm>
            <a:off x="0" y="4956048"/>
            <a:ext cx="9144000" cy="182880"/>
          </a:xfrm>
          <a:prstGeom prst="rect">
            <a:avLst/>
          </a:prstGeom>
          <a:solidFill>
            <a:srgbClr val="1A2F5A"/>
          </a:solidFill>
          <a:ln cap="flat" cmpd="sng" w="12700">
            <a:solidFill>
              <a:srgbClr val="1A2F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g3e51979973e_5_2"/>
          <p:cNvSpPr/>
          <p:nvPr/>
        </p:nvSpPr>
        <p:spPr>
          <a:xfrm>
            <a:off x="365760" y="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D</a:t>
            </a:r>
            <a:r>
              <a:rPr b="1" lang="en-US" sz="2200">
                <a:solidFill>
                  <a:srgbClr val="FFFFFF"/>
                </a:solidFill>
                <a:latin typeface="Calibri"/>
                <a:ea typeface="Calibri"/>
                <a:cs typeface="Calibri"/>
                <a:sym typeface="Calibri"/>
              </a:rPr>
              <a:t>ataset &amp; Evaluation</a:t>
            </a:r>
            <a:endParaRPr b="1" sz="2200">
              <a:solidFill>
                <a:srgbClr val="FFFFFF"/>
              </a:solidFill>
              <a:latin typeface="Calibri"/>
              <a:ea typeface="Calibri"/>
              <a:cs typeface="Calibri"/>
              <a:sym typeface="Calibri"/>
            </a:endParaRPr>
          </a:p>
        </p:txBody>
      </p:sp>
      <p:pic>
        <p:nvPicPr>
          <p:cNvPr id="200" name="Google Shape;200;g3e51979973e_5_2"/>
          <p:cNvPicPr preferRelativeResize="0"/>
          <p:nvPr/>
        </p:nvPicPr>
        <p:blipFill rotWithShape="1">
          <a:blip r:embed="rId10">
            <a:alphaModFix/>
          </a:blip>
          <a:srcRect b="17779" l="0" r="0" t="15559"/>
          <a:stretch/>
        </p:blipFill>
        <p:spPr>
          <a:xfrm>
            <a:off x="5764088" y="2968869"/>
            <a:ext cx="2050671" cy="3383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6"/>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6"/>
          <p:cNvSpPr/>
          <p:nvPr/>
        </p:nvSpPr>
        <p:spPr>
          <a:xfrm>
            <a:off x="365760" y="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Model Architectures Overview</a:t>
            </a:r>
            <a:endParaRPr sz="2200">
              <a:solidFill>
                <a:schemeClr val="dk1"/>
              </a:solidFill>
              <a:latin typeface="Calibri"/>
              <a:ea typeface="Calibri"/>
              <a:cs typeface="Calibri"/>
              <a:sym typeface="Calibri"/>
            </a:endParaRPr>
          </a:p>
        </p:txBody>
      </p:sp>
      <p:sp>
        <p:nvSpPr>
          <p:cNvPr id="208" name="Google Shape;208;p6"/>
          <p:cNvSpPr/>
          <p:nvPr/>
        </p:nvSpPr>
        <p:spPr>
          <a:xfrm>
            <a:off x="332988" y="1009299"/>
            <a:ext cx="2651700" cy="16917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6"/>
          <p:cNvSpPr/>
          <p:nvPr/>
        </p:nvSpPr>
        <p:spPr>
          <a:xfrm>
            <a:off x="332988" y="1009299"/>
            <a:ext cx="2651700" cy="384000"/>
          </a:xfrm>
          <a:prstGeom prst="rect">
            <a:avLst/>
          </a:prstGeom>
          <a:solidFill>
            <a:srgbClr val="2AACE2"/>
          </a:solidFill>
          <a:ln cap="flat" cmpd="sng" w="12700">
            <a:solidFill>
              <a:srgbClr val="2AAC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6"/>
          <p:cNvSpPr/>
          <p:nvPr/>
        </p:nvSpPr>
        <p:spPr>
          <a:xfrm>
            <a:off x="424428" y="1009299"/>
            <a:ext cx="24690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400"/>
              <a:buFont typeface="Calibri"/>
              <a:buNone/>
            </a:pPr>
            <a:r>
              <a:rPr b="1" lang="en-US" sz="1400">
                <a:solidFill>
                  <a:srgbClr val="0A2342"/>
                </a:solidFill>
                <a:latin typeface="Calibri"/>
                <a:ea typeface="Calibri"/>
                <a:cs typeface="Calibri"/>
                <a:sym typeface="Calibri"/>
              </a:rPr>
              <a:t>UniTable</a:t>
            </a:r>
            <a:endParaRPr sz="1400">
              <a:solidFill>
                <a:schemeClr val="dk1"/>
              </a:solidFill>
              <a:latin typeface="Calibri"/>
              <a:ea typeface="Calibri"/>
              <a:cs typeface="Calibri"/>
              <a:sym typeface="Calibri"/>
            </a:endParaRPr>
          </a:p>
        </p:txBody>
      </p:sp>
      <p:sp>
        <p:nvSpPr>
          <p:cNvPr id="211" name="Google Shape;211;p6"/>
          <p:cNvSpPr/>
          <p:nvPr/>
        </p:nvSpPr>
        <p:spPr>
          <a:xfrm>
            <a:off x="424428" y="1429923"/>
            <a:ext cx="2469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ACE2"/>
              </a:buClr>
              <a:buSzPts val="900"/>
              <a:buFont typeface="Calibri"/>
              <a:buNone/>
            </a:pPr>
            <a:r>
              <a:rPr b="1" lang="en-US" sz="1100">
                <a:solidFill>
                  <a:srgbClr val="2AACE2"/>
                </a:solidFill>
                <a:latin typeface="Calibri"/>
                <a:ea typeface="Calibri"/>
                <a:cs typeface="Calibri"/>
                <a:sym typeface="Calibri"/>
              </a:rPr>
              <a:t>[Trainable]</a:t>
            </a:r>
            <a:endParaRPr sz="1100">
              <a:solidFill>
                <a:schemeClr val="dk1"/>
              </a:solidFill>
              <a:latin typeface="Calibri"/>
              <a:ea typeface="Calibri"/>
              <a:cs typeface="Calibri"/>
              <a:sym typeface="Calibri"/>
            </a:endParaRPr>
          </a:p>
        </p:txBody>
      </p:sp>
      <p:sp>
        <p:nvSpPr>
          <p:cNvPr id="212" name="Google Shape;212;p6"/>
          <p:cNvSpPr/>
          <p:nvPr/>
        </p:nvSpPr>
        <p:spPr>
          <a:xfrm>
            <a:off x="424428" y="1704243"/>
            <a:ext cx="2469000" cy="914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E293B"/>
              </a:buClr>
              <a:buSzPts val="1000"/>
              <a:buFont typeface="Calibri"/>
              <a:buNone/>
            </a:pPr>
            <a:r>
              <a:rPr lang="en-US" sz="1100">
                <a:solidFill>
                  <a:srgbClr val="1E293B"/>
                </a:solidFill>
                <a:latin typeface="Calibri"/>
                <a:ea typeface="Calibri"/>
                <a:cs typeface="Calibri"/>
                <a:sym typeface="Calibri"/>
              </a:rPr>
              <a:t>Pixel-to-text encoder-decoder with ConvStem + Transformer. 3-pass pipeline: structure → bbox → content. LoRA fine-tuned.</a:t>
            </a:r>
            <a:endParaRPr sz="1100">
              <a:solidFill>
                <a:schemeClr val="dk1"/>
              </a:solidFill>
              <a:latin typeface="Calibri"/>
              <a:ea typeface="Calibri"/>
              <a:cs typeface="Calibri"/>
              <a:sym typeface="Calibri"/>
            </a:endParaRPr>
          </a:p>
        </p:txBody>
      </p:sp>
      <p:sp>
        <p:nvSpPr>
          <p:cNvPr id="213" name="Google Shape;213;p6"/>
          <p:cNvSpPr/>
          <p:nvPr/>
        </p:nvSpPr>
        <p:spPr>
          <a:xfrm>
            <a:off x="3259068" y="1009299"/>
            <a:ext cx="2651700" cy="16917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6"/>
          <p:cNvSpPr/>
          <p:nvPr/>
        </p:nvSpPr>
        <p:spPr>
          <a:xfrm>
            <a:off x="3259068" y="1009299"/>
            <a:ext cx="2651700" cy="384000"/>
          </a:xfrm>
          <a:prstGeom prst="rect">
            <a:avLst/>
          </a:prstGeom>
          <a:solidFill>
            <a:srgbClr val="4ECDC4"/>
          </a:solidFill>
          <a:ln cap="flat" cmpd="sng" w="12700">
            <a:solidFill>
              <a:srgbClr val="4ECD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6"/>
          <p:cNvSpPr/>
          <p:nvPr/>
        </p:nvSpPr>
        <p:spPr>
          <a:xfrm>
            <a:off x="3350508" y="1009299"/>
            <a:ext cx="24690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400"/>
              <a:buFont typeface="Calibri"/>
              <a:buNone/>
            </a:pPr>
            <a:r>
              <a:rPr b="1" lang="en-US" sz="1400">
                <a:solidFill>
                  <a:srgbClr val="0A2342"/>
                </a:solidFill>
                <a:latin typeface="Calibri"/>
                <a:ea typeface="Calibri"/>
                <a:cs typeface="Calibri"/>
                <a:sym typeface="Calibri"/>
              </a:rPr>
              <a:t>Florence-2</a:t>
            </a:r>
            <a:endParaRPr sz="1400">
              <a:solidFill>
                <a:schemeClr val="dk1"/>
              </a:solidFill>
              <a:latin typeface="Calibri"/>
              <a:ea typeface="Calibri"/>
              <a:cs typeface="Calibri"/>
              <a:sym typeface="Calibri"/>
            </a:endParaRPr>
          </a:p>
        </p:txBody>
      </p:sp>
      <p:sp>
        <p:nvSpPr>
          <p:cNvPr id="216" name="Google Shape;216;p6"/>
          <p:cNvSpPr/>
          <p:nvPr/>
        </p:nvSpPr>
        <p:spPr>
          <a:xfrm>
            <a:off x="3350508" y="1429923"/>
            <a:ext cx="2469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ECDC4"/>
              </a:buClr>
              <a:buSzPts val="900"/>
              <a:buFont typeface="Calibri"/>
              <a:buNone/>
            </a:pPr>
            <a:r>
              <a:rPr b="1" lang="en-US" sz="1100">
                <a:solidFill>
                  <a:srgbClr val="4ECDC4"/>
                </a:solidFill>
                <a:latin typeface="Calibri"/>
                <a:ea typeface="Calibri"/>
                <a:cs typeface="Calibri"/>
                <a:sym typeface="Calibri"/>
              </a:rPr>
              <a:t>[Trainable]</a:t>
            </a:r>
            <a:endParaRPr sz="1100">
              <a:solidFill>
                <a:schemeClr val="dk1"/>
              </a:solidFill>
              <a:latin typeface="Calibri"/>
              <a:ea typeface="Calibri"/>
              <a:cs typeface="Calibri"/>
              <a:sym typeface="Calibri"/>
            </a:endParaRPr>
          </a:p>
        </p:txBody>
      </p:sp>
      <p:sp>
        <p:nvSpPr>
          <p:cNvPr id="217" name="Google Shape;217;p6"/>
          <p:cNvSpPr/>
          <p:nvPr/>
        </p:nvSpPr>
        <p:spPr>
          <a:xfrm>
            <a:off x="3350508" y="1704243"/>
            <a:ext cx="2469000" cy="914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E293B"/>
              </a:buClr>
              <a:buSzPts val="1000"/>
              <a:buFont typeface="Calibri"/>
              <a:buNone/>
            </a:pPr>
            <a:r>
              <a:rPr lang="en-US" sz="1100">
                <a:solidFill>
                  <a:srgbClr val="1E293B"/>
                </a:solidFill>
                <a:latin typeface="Calibri"/>
                <a:ea typeface="Calibri"/>
                <a:cs typeface="Calibri"/>
                <a:sym typeface="Calibri"/>
              </a:rPr>
              <a:t>Unified vision-language model with prompt-based generation. LoRA fine-tuned for TSR and KIE subtasks.</a:t>
            </a:r>
            <a:endParaRPr sz="1100">
              <a:solidFill>
                <a:schemeClr val="dk1"/>
              </a:solidFill>
              <a:latin typeface="Calibri"/>
              <a:ea typeface="Calibri"/>
              <a:cs typeface="Calibri"/>
              <a:sym typeface="Calibri"/>
            </a:endParaRPr>
          </a:p>
        </p:txBody>
      </p:sp>
      <p:sp>
        <p:nvSpPr>
          <p:cNvPr id="218" name="Google Shape;218;p6"/>
          <p:cNvSpPr/>
          <p:nvPr/>
        </p:nvSpPr>
        <p:spPr>
          <a:xfrm>
            <a:off x="6185148" y="1009299"/>
            <a:ext cx="2651700" cy="16917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6"/>
          <p:cNvSpPr/>
          <p:nvPr/>
        </p:nvSpPr>
        <p:spPr>
          <a:xfrm>
            <a:off x="6185148" y="1009299"/>
            <a:ext cx="2651700" cy="384000"/>
          </a:xfrm>
          <a:prstGeom prst="rect">
            <a:avLst/>
          </a:prstGeom>
          <a:solidFill>
            <a:srgbClr val="F4A261"/>
          </a:solidFill>
          <a:ln cap="flat" cmpd="sng" w="12700">
            <a:solidFill>
              <a:srgbClr val="F4A2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6"/>
          <p:cNvSpPr/>
          <p:nvPr/>
        </p:nvSpPr>
        <p:spPr>
          <a:xfrm>
            <a:off x="6276588" y="1009299"/>
            <a:ext cx="24690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400"/>
              <a:buFont typeface="Calibri"/>
              <a:buNone/>
            </a:pPr>
            <a:r>
              <a:rPr b="1" lang="en-US" sz="1400">
                <a:solidFill>
                  <a:srgbClr val="0A2342"/>
                </a:solidFill>
                <a:latin typeface="Calibri"/>
                <a:ea typeface="Calibri"/>
                <a:cs typeface="Calibri"/>
                <a:sym typeface="Calibri"/>
              </a:rPr>
              <a:t>SPARTAN</a:t>
            </a:r>
            <a:endParaRPr sz="1400">
              <a:solidFill>
                <a:schemeClr val="dk1"/>
              </a:solidFill>
              <a:latin typeface="Calibri"/>
              <a:ea typeface="Calibri"/>
              <a:cs typeface="Calibri"/>
              <a:sym typeface="Calibri"/>
            </a:endParaRPr>
          </a:p>
        </p:txBody>
      </p:sp>
      <p:sp>
        <p:nvSpPr>
          <p:cNvPr id="221" name="Google Shape;221;p6"/>
          <p:cNvSpPr/>
          <p:nvPr/>
        </p:nvSpPr>
        <p:spPr>
          <a:xfrm>
            <a:off x="6276588" y="1429923"/>
            <a:ext cx="2469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900"/>
              <a:buFont typeface="Calibri"/>
              <a:buNone/>
            </a:pPr>
            <a:r>
              <a:rPr b="1" lang="en-US" sz="1100">
                <a:solidFill>
                  <a:srgbClr val="F4A261"/>
                </a:solidFill>
                <a:latin typeface="Calibri"/>
                <a:ea typeface="Calibri"/>
                <a:cs typeface="Calibri"/>
                <a:sym typeface="Calibri"/>
              </a:rPr>
              <a:t>[Heuristic CV]</a:t>
            </a:r>
            <a:endParaRPr sz="1100">
              <a:solidFill>
                <a:schemeClr val="dk1"/>
              </a:solidFill>
              <a:latin typeface="Calibri"/>
              <a:ea typeface="Calibri"/>
              <a:cs typeface="Calibri"/>
              <a:sym typeface="Calibri"/>
            </a:endParaRPr>
          </a:p>
        </p:txBody>
      </p:sp>
      <p:sp>
        <p:nvSpPr>
          <p:cNvPr id="222" name="Google Shape;222;p6"/>
          <p:cNvSpPr/>
          <p:nvPr/>
        </p:nvSpPr>
        <p:spPr>
          <a:xfrm>
            <a:off x="6276588" y="1704243"/>
            <a:ext cx="2469000" cy="914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E293B"/>
              </a:buClr>
              <a:buSzPts val="1000"/>
              <a:buFont typeface="Calibri"/>
              <a:buNone/>
            </a:pPr>
            <a:r>
              <a:rPr lang="en-US" sz="1100">
                <a:solidFill>
                  <a:srgbClr val="1E293B"/>
                </a:solidFill>
                <a:latin typeface="Calibri"/>
                <a:ea typeface="Calibri"/>
                <a:cs typeface="Calibri"/>
                <a:sym typeface="Calibri"/>
              </a:rPr>
              <a:t>No trainable weights. Classical CV: adaptive thresholding → OCR clustering → grid reconstruction. CPU-only.</a:t>
            </a:r>
            <a:endParaRPr sz="1100">
              <a:solidFill>
                <a:schemeClr val="dk1"/>
              </a:solidFill>
              <a:latin typeface="Calibri"/>
              <a:ea typeface="Calibri"/>
              <a:cs typeface="Calibri"/>
              <a:sym typeface="Calibri"/>
            </a:endParaRPr>
          </a:p>
        </p:txBody>
      </p:sp>
      <p:sp>
        <p:nvSpPr>
          <p:cNvPr id="223" name="Google Shape;223;p6"/>
          <p:cNvSpPr/>
          <p:nvPr/>
        </p:nvSpPr>
        <p:spPr>
          <a:xfrm>
            <a:off x="1567428" y="3020979"/>
            <a:ext cx="2651700" cy="16917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6"/>
          <p:cNvSpPr/>
          <p:nvPr/>
        </p:nvSpPr>
        <p:spPr>
          <a:xfrm>
            <a:off x="1567428" y="3020979"/>
            <a:ext cx="2651700" cy="384000"/>
          </a:xfrm>
          <a:prstGeom prst="rect">
            <a:avLst/>
          </a:prstGeom>
          <a:solidFill>
            <a:srgbClr val="B4A7D6"/>
          </a:solidFill>
          <a:ln cap="flat" cmpd="sng" w="12700">
            <a:solidFill>
              <a:srgbClr val="B4A7D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6"/>
          <p:cNvSpPr/>
          <p:nvPr/>
        </p:nvSpPr>
        <p:spPr>
          <a:xfrm>
            <a:off x="1658868" y="3020979"/>
            <a:ext cx="24690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400"/>
              <a:buFont typeface="Calibri"/>
              <a:buNone/>
            </a:pPr>
            <a:r>
              <a:rPr b="1" lang="en-US" sz="1400">
                <a:solidFill>
                  <a:srgbClr val="0A2342"/>
                </a:solidFill>
                <a:latin typeface="Calibri"/>
                <a:ea typeface="Calibri"/>
                <a:cs typeface="Calibri"/>
                <a:sym typeface="Calibri"/>
              </a:rPr>
              <a:t>LlamaParse</a:t>
            </a:r>
            <a:endParaRPr sz="1400">
              <a:solidFill>
                <a:schemeClr val="dk1"/>
              </a:solidFill>
              <a:latin typeface="Calibri"/>
              <a:ea typeface="Calibri"/>
              <a:cs typeface="Calibri"/>
              <a:sym typeface="Calibri"/>
            </a:endParaRPr>
          </a:p>
        </p:txBody>
      </p:sp>
      <p:sp>
        <p:nvSpPr>
          <p:cNvPr id="226" name="Google Shape;226;p6"/>
          <p:cNvSpPr/>
          <p:nvPr/>
        </p:nvSpPr>
        <p:spPr>
          <a:xfrm>
            <a:off x="1658868" y="3441603"/>
            <a:ext cx="2469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1" lang="en-US" sz="1100">
                <a:solidFill>
                  <a:srgbClr val="64748B"/>
                </a:solidFill>
                <a:latin typeface="Calibri"/>
                <a:ea typeface="Calibri"/>
                <a:cs typeface="Calibri"/>
                <a:sym typeface="Calibri"/>
              </a:rPr>
              <a:t>[External API]</a:t>
            </a:r>
            <a:endParaRPr sz="1100">
              <a:solidFill>
                <a:schemeClr val="dk1"/>
              </a:solidFill>
              <a:latin typeface="Calibri"/>
              <a:ea typeface="Calibri"/>
              <a:cs typeface="Calibri"/>
              <a:sym typeface="Calibri"/>
            </a:endParaRPr>
          </a:p>
        </p:txBody>
      </p:sp>
      <p:sp>
        <p:nvSpPr>
          <p:cNvPr id="227" name="Google Shape;227;p6"/>
          <p:cNvSpPr/>
          <p:nvPr/>
        </p:nvSpPr>
        <p:spPr>
          <a:xfrm>
            <a:off x="1658868" y="3715923"/>
            <a:ext cx="2469000" cy="914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E293B"/>
              </a:buClr>
              <a:buSzPts val="1000"/>
              <a:buFont typeface="Calibri"/>
              <a:buNone/>
            </a:pPr>
            <a:r>
              <a:rPr lang="en-US" sz="1100">
                <a:solidFill>
                  <a:srgbClr val="1E293B"/>
                </a:solidFill>
                <a:latin typeface="Calibri"/>
                <a:ea typeface="Calibri"/>
                <a:cs typeface="Calibri"/>
                <a:sym typeface="Calibri"/>
              </a:rPr>
              <a:t>Production document parsing API integrating OCR + layout analysis. Industrial-grade, black-box.</a:t>
            </a:r>
            <a:endParaRPr sz="1100">
              <a:solidFill>
                <a:schemeClr val="dk1"/>
              </a:solidFill>
              <a:latin typeface="Calibri"/>
              <a:ea typeface="Calibri"/>
              <a:cs typeface="Calibri"/>
              <a:sym typeface="Calibri"/>
            </a:endParaRPr>
          </a:p>
        </p:txBody>
      </p:sp>
      <p:sp>
        <p:nvSpPr>
          <p:cNvPr id="228" name="Google Shape;228;p6"/>
          <p:cNvSpPr/>
          <p:nvPr/>
        </p:nvSpPr>
        <p:spPr>
          <a:xfrm>
            <a:off x="4493508" y="3020979"/>
            <a:ext cx="2651700" cy="16917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6"/>
          <p:cNvSpPr/>
          <p:nvPr/>
        </p:nvSpPr>
        <p:spPr>
          <a:xfrm>
            <a:off x="4493508" y="3020979"/>
            <a:ext cx="2651700" cy="384000"/>
          </a:xfrm>
          <a:prstGeom prst="rect">
            <a:avLst/>
          </a:prstGeom>
          <a:solidFill>
            <a:srgbClr val="E63946"/>
          </a:solidFill>
          <a:ln cap="flat" cmpd="sng" w="12700">
            <a:solidFill>
              <a:srgbClr val="E6394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6"/>
          <p:cNvSpPr/>
          <p:nvPr/>
        </p:nvSpPr>
        <p:spPr>
          <a:xfrm>
            <a:off x="4584948" y="3020979"/>
            <a:ext cx="24690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400"/>
              <a:buFont typeface="Calibri"/>
              <a:buNone/>
            </a:pPr>
            <a:r>
              <a:rPr b="1" lang="en-US" sz="1400">
                <a:solidFill>
                  <a:srgbClr val="0A2342"/>
                </a:solidFill>
                <a:latin typeface="Calibri"/>
                <a:ea typeface="Calibri"/>
                <a:cs typeface="Calibri"/>
                <a:sym typeface="Calibri"/>
              </a:rPr>
              <a:t>ChatGPT</a:t>
            </a:r>
            <a:endParaRPr sz="1400">
              <a:solidFill>
                <a:schemeClr val="dk1"/>
              </a:solidFill>
              <a:latin typeface="Calibri"/>
              <a:ea typeface="Calibri"/>
              <a:cs typeface="Calibri"/>
              <a:sym typeface="Calibri"/>
            </a:endParaRPr>
          </a:p>
        </p:txBody>
      </p:sp>
      <p:sp>
        <p:nvSpPr>
          <p:cNvPr id="231" name="Google Shape;231;p6"/>
          <p:cNvSpPr/>
          <p:nvPr/>
        </p:nvSpPr>
        <p:spPr>
          <a:xfrm>
            <a:off x="4584948" y="3441603"/>
            <a:ext cx="2469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3946"/>
              </a:buClr>
              <a:buSzPts val="900"/>
              <a:buFont typeface="Calibri"/>
              <a:buNone/>
            </a:pPr>
            <a:r>
              <a:rPr b="1" lang="en-US" sz="1100">
                <a:solidFill>
                  <a:srgbClr val="E63946"/>
                </a:solidFill>
                <a:latin typeface="Calibri"/>
                <a:ea typeface="Calibri"/>
                <a:cs typeface="Calibri"/>
                <a:sym typeface="Calibri"/>
              </a:rPr>
              <a:t>[External API]</a:t>
            </a:r>
            <a:endParaRPr sz="1100">
              <a:solidFill>
                <a:schemeClr val="dk1"/>
              </a:solidFill>
              <a:latin typeface="Calibri"/>
              <a:ea typeface="Calibri"/>
              <a:cs typeface="Calibri"/>
              <a:sym typeface="Calibri"/>
            </a:endParaRPr>
          </a:p>
        </p:txBody>
      </p:sp>
      <p:sp>
        <p:nvSpPr>
          <p:cNvPr id="232" name="Google Shape;232;p6"/>
          <p:cNvSpPr/>
          <p:nvPr/>
        </p:nvSpPr>
        <p:spPr>
          <a:xfrm>
            <a:off x="4584948" y="3715923"/>
            <a:ext cx="2469000" cy="914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E293B"/>
              </a:buClr>
              <a:buSzPts val="1000"/>
              <a:buFont typeface="Calibri"/>
              <a:buNone/>
            </a:pPr>
            <a:r>
              <a:rPr lang="en-US" sz="1100">
                <a:solidFill>
                  <a:srgbClr val="1E293B"/>
                </a:solidFill>
                <a:latin typeface="Calibri"/>
                <a:ea typeface="Calibri"/>
                <a:cs typeface="Calibri"/>
                <a:sym typeface="Calibri"/>
              </a:rPr>
              <a:t>GPT-4o-mini multimodal API. Prompt-based instruction reasoning. Strong semantic adaptability.</a:t>
            </a:r>
            <a:endParaRPr sz="11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 name="Shape 237"/>
        <p:cNvGrpSpPr/>
        <p:nvPr/>
      </p:nvGrpSpPr>
      <p:grpSpPr>
        <a:xfrm>
          <a:off x="0" y="0"/>
          <a:ext cx="0" cy="0"/>
          <a:chOff x="0" y="0"/>
          <a:chExt cx="0" cy="0"/>
        </a:xfrm>
      </p:grpSpPr>
      <p:sp>
        <p:nvSpPr>
          <p:cNvPr id="238" name="Google Shape;238;p7"/>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7"/>
          <p:cNvSpPr/>
          <p:nvPr/>
        </p:nvSpPr>
        <p:spPr>
          <a:xfrm>
            <a:off x="365760" y="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Model Performance Results</a:t>
            </a:r>
            <a:endParaRPr sz="2200">
              <a:solidFill>
                <a:schemeClr val="dk1"/>
              </a:solidFill>
              <a:latin typeface="Calibri"/>
              <a:ea typeface="Calibri"/>
              <a:cs typeface="Calibri"/>
              <a:sym typeface="Calibri"/>
            </a:endParaRPr>
          </a:p>
        </p:txBody>
      </p:sp>
      <p:graphicFrame>
        <p:nvGraphicFramePr>
          <p:cNvPr id="240" name="Google Shape;240;p7"/>
          <p:cNvGraphicFramePr/>
          <p:nvPr/>
        </p:nvGraphicFramePr>
        <p:xfrm>
          <a:off x="640080" y="1084485"/>
          <a:ext cx="3000000" cy="3000000"/>
        </p:xfrm>
        <a:graphic>
          <a:graphicData uri="http://schemas.openxmlformats.org/drawingml/2006/table">
            <a:tbl>
              <a:tblPr>
                <a:noFill/>
                <a:tableStyleId>{8DB30D4F-66EB-4527-AC73-EDC8B3BA2A07}</a:tableStyleId>
              </a:tblPr>
              <a:tblGrid>
                <a:gridCol w="2560325"/>
                <a:gridCol w="1828800"/>
                <a:gridCol w="1828800"/>
                <a:gridCol w="1645925"/>
              </a:tblGrid>
              <a:tr h="475500">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Model</a:t>
                      </a:r>
                      <a:endParaRPr sz="13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Skeleton TEDS</a:t>
                      </a:r>
                      <a:endParaRPr sz="13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Pipeline TEDS</a:t>
                      </a:r>
                      <a:endParaRPr sz="13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solidFill>
                      <a:srgbClr val="0A2342"/>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F1 Score</a:t>
                      </a:r>
                      <a:endParaRPr sz="13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solidFill>
                      <a:srgbClr val="0A2342"/>
                    </a:solidFill>
                  </a:tcPr>
                </a:tc>
              </a:tr>
              <a:tr h="475500">
                <a:tc>
                  <a:txBody>
                    <a:bodyPr/>
                    <a:lstStyle/>
                    <a:p>
                      <a:pPr indent="0" lvl="0" marL="0" marR="0" rtl="0" algn="l">
                        <a:spcBef>
                          <a:spcPts val="0"/>
                        </a:spcBef>
                        <a:spcAft>
                          <a:spcPts val="0"/>
                        </a:spcAft>
                        <a:buClr>
                          <a:srgbClr val="2AACE2"/>
                        </a:buClr>
                        <a:buSzPts val="1200"/>
                        <a:buFont typeface="Calibri"/>
                        <a:buNone/>
                      </a:pPr>
                      <a:r>
                        <a:rPr b="1" lang="en-US" sz="1200" u="none" cap="none" strike="noStrike">
                          <a:solidFill>
                            <a:srgbClr val="2AACE2"/>
                          </a:solidFill>
                          <a:latin typeface="Calibri"/>
                          <a:ea typeface="Calibri"/>
                          <a:cs typeface="Calibri"/>
                          <a:sym typeface="Calibri"/>
                        </a:rPr>
                        <a:t>UniTable (Fine-tuned)</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2AACE2"/>
                        </a:buClr>
                        <a:buSzPts val="1200"/>
                        <a:buFont typeface="Calibri"/>
                        <a:buNone/>
                      </a:pPr>
                      <a:r>
                        <a:rPr b="1" lang="en-US" sz="1200" u="none" cap="none" strike="noStrike">
                          <a:solidFill>
                            <a:srgbClr val="2AACE2"/>
                          </a:solidFill>
                          <a:latin typeface="Calibri"/>
                          <a:ea typeface="Calibri"/>
                          <a:cs typeface="Calibri"/>
                          <a:sym typeface="Calibri"/>
                        </a:rPr>
                        <a:t>0.8353 ⭐</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E63946"/>
                        </a:buClr>
                        <a:buSzPts val="1200"/>
                        <a:buFont typeface="Calibri"/>
                        <a:buNone/>
                      </a:pPr>
                      <a:r>
                        <a:rPr lang="en-US" sz="1200" u="none" cap="none" strike="noStrike">
                          <a:solidFill>
                            <a:srgbClr val="E63946"/>
                          </a:solidFill>
                          <a:latin typeface="Calibri"/>
                          <a:ea typeface="Calibri"/>
                          <a:cs typeface="Calibri"/>
                          <a:sym typeface="Calibri"/>
                        </a:rPr>
                        <a:t>0.3417</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0.4928</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r>
              <a:tr h="475500">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UniTable (Original)</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2AACE2"/>
                        </a:buClr>
                        <a:buSzPts val="1200"/>
                        <a:buFont typeface="Calibri"/>
                        <a:buNone/>
                      </a:pPr>
                      <a:r>
                        <a:rPr b="1" lang="en-US" sz="1200" u="none" cap="none" strike="noStrike">
                          <a:solidFill>
                            <a:srgbClr val="2AACE2"/>
                          </a:solidFill>
                          <a:latin typeface="Calibri"/>
                          <a:ea typeface="Calibri"/>
                          <a:cs typeface="Calibri"/>
                          <a:sym typeface="Calibri"/>
                        </a:rPr>
                        <a:t>0.8353</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E63946"/>
                        </a:buClr>
                        <a:buSzPts val="1200"/>
                        <a:buFont typeface="Calibri"/>
                        <a:buNone/>
                      </a:pPr>
                      <a:r>
                        <a:rPr lang="en-US" sz="1200" u="none" cap="none" strike="noStrike">
                          <a:solidFill>
                            <a:srgbClr val="E63946"/>
                          </a:solidFill>
                          <a:latin typeface="Calibri"/>
                          <a:ea typeface="Calibri"/>
                          <a:cs typeface="Calibri"/>
                          <a:sym typeface="Calibri"/>
                        </a:rPr>
                        <a:t>0.3389</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0.4829</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r>
              <a:tr h="475500">
                <a:tc>
                  <a:txBody>
                    <a:bodyPr/>
                    <a:lstStyle/>
                    <a:p>
                      <a:pPr indent="0" lvl="0" marL="0" marR="0" rtl="0" algn="l">
                        <a:spcBef>
                          <a:spcPts val="0"/>
                        </a:spcBef>
                        <a:spcAft>
                          <a:spcPts val="0"/>
                        </a:spcAft>
                        <a:buClr>
                          <a:srgbClr val="F4A261"/>
                        </a:buClr>
                        <a:buSzPts val="1200"/>
                        <a:buFont typeface="Calibri"/>
                        <a:buNone/>
                      </a:pPr>
                      <a:r>
                        <a:rPr b="1" lang="en-US" sz="1200" u="none" cap="none" strike="noStrike">
                          <a:solidFill>
                            <a:srgbClr val="F4A261"/>
                          </a:solidFill>
                          <a:latin typeface="Calibri"/>
                          <a:ea typeface="Calibri"/>
                          <a:cs typeface="Calibri"/>
                          <a:sym typeface="Calibri"/>
                        </a:rPr>
                        <a:t>SPARTAN</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0.7253</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2A9D8F"/>
                        </a:buClr>
                        <a:buSzPts val="1200"/>
                        <a:buFont typeface="Calibri"/>
                        <a:buNone/>
                      </a:pPr>
                      <a:r>
                        <a:rPr b="1" lang="en-US" sz="1200" u="none" cap="none" strike="noStrike">
                          <a:solidFill>
                            <a:srgbClr val="2A9D8F"/>
                          </a:solidFill>
                          <a:latin typeface="Calibri"/>
                          <a:ea typeface="Calibri"/>
                          <a:cs typeface="Calibri"/>
                          <a:sym typeface="Calibri"/>
                        </a:rPr>
                        <a:t>0.5391 ⭐</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2A9D8F"/>
                        </a:buClr>
                        <a:buSzPts val="1200"/>
                        <a:buFont typeface="Calibri"/>
                        <a:buNone/>
                      </a:pPr>
                      <a:r>
                        <a:rPr b="1" lang="en-US" sz="1200" u="none" cap="none" strike="noStrike">
                          <a:solidFill>
                            <a:srgbClr val="2A9D8F"/>
                          </a:solidFill>
                          <a:latin typeface="Calibri"/>
                          <a:ea typeface="Calibri"/>
                          <a:cs typeface="Calibri"/>
                          <a:sym typeface="Calibri"/>
                        </a:rPr>
                        <a:t>0.70 ⭐</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r>
              <a:tr h="475500">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Florence-2 (LoRA)</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E63946"/>
                        </a:buClr>
                        <a:buSzPts val="1200"/>
                        <a:buFont typeface="Calibri"/>
                        <a:buNone/>
                      </a:pPr>
                      <a:r>
                        <a:rPr lang="en-US" sz="1200" u="none" cap="none" strike="noStrike">
                          <a:solidFill>
                            <a:srgbClr val="E63946"/>
                          </a:solidFill>
                          <a:latin typeface="Calibri"/>
                          <a:ea typeface="Calibri"/>
                          <a:cs typeface="Calibri"/>
                          <a:sym typeface="Calibri"/>
                        </a:rPr>
                        <a:t>0.0441</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E63946"/>
                        </a:buClr>
                        <a:buSzPts val="1200"/>
                        <a:buFont typeface="Calibri"/>
                        <a:buNone/>
                      </a:pPr>
                      <a:r>
                        <a:rPr lang="en-US" sz="1200" u="none" cap="none" strike="noStrike">
                          <a:solidFill>
                            <a:srgbClr val="E63946"/>
                          </a:solidFill>
                          <a:latin typeface="Calibri"/>
                          <a:ea typeface="Calibri"/>
                          <a:cs typeface="Calibri"/>
                          <a:sym typeface="Calibri"/>
                        </a:rPr>
                        <a:t>0.0287</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64748B"/>
                        </a:buClr>
                        <a:buSzPts val="1200"/>
                        <a:buFont typeface="Calibri"/>
                        <a:buNone/>
                      </a:pPr>
                      <a:r>
                        <a:rPr lang="en-US" sz="1200" u="none" cap="none" strike="noStrike">
                          <a:solidFill>
                            <a:srgbClr val="64748B"/>
                          </a:solidFill>
                          <a:latin typeface="Calibri"/>
                          <a:ea typeface="Calibri"/>
                          <a:cs typeface="Calibri"/>
                          <a:sym typeface="Calibri"/>
                        </a:rPr>
                        <a:t>N/A</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r>
              <a:tr h="475500">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ChatGPT</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64748B"/>
                        </a:buClr>
                        <a:buSzPts val="1200"/>
                        <a:buFont typeface="Calibri"/>
                        <a:buNone/>
                      </a:pPr>
                      <a:r>
                        <a:rPr lang="en-US" sz="1200" u="none" cap="none" strike="noStrike">
                          <a:solidFill>
                            <a:srgbClr val="64748B"/>
                          </a:solidFill>
                          <a:latin typeface="Calibri"/>
                          <a:ea typeface="Calibri"/>
                          <a:cs typeface="Calibri"/>
                          <a:sym typeface="Calibri"/>
                        </a:rPr>
                        <a:t>N/A</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1B7A8C"/>
                        </a:buClr>
                        <a:buSzPts val="1200"/>
                        <a:buFont typeface="Calibri"/>
                        <a:buNone/>
                      </a:pPr>
                      <a:r>
                        <a:rPr lang="en-US" sz="1200" u="none" cap="none" strike="noStrike">
                          <a:solidFill>
                            <a:srgbClr val="1B7A8C"/>
                          </a:solidFill>
                          <a:latin typeface="Calibri"/>
                          <a:ea typeface="Calibri"/>
                          <a:cs typeface="Calibri"/>
                          <a:sym typeface="Calibri"/>
                        </a:rPr>
                        <a:t>0.5109</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64748B"/>
                        </a:buClr>
                        <a:buSzPts val="1200"/>
                        <a:buFont typeface="Calibri"/>
                        <a:buNone/>
                      </a:pPr>
                      <a:r>
                        <a:rPr lang="en-US" sz="1200" u="none" cap="none" strike="noStrike">
                          <a:solidFill>
                            <a:srgbClr val="64748B"/>
                          </a:solidFill>
                          <a:latin typeface="Calibri"/>
                          <a:ea typeface="Calibri"/>
                          <a:cs typeface="Calibri"/>
                          <a:sym typeface="Calibri"/>
                        </a:rPr>
                        <a:t>N/A</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r>
              <a:tr h="475500">
                <a:tc>
                  <a:txBody>
                    <a:bodyPr/>
                    <a:lstStyle/>
                    <a:p>
                      <a:pPr indent="0" lvl="0" marL="0" marR="0" rtl="0" algn="l">
                        <a:spcBef>
                          <a:spcPts val="0"/>
                        </a:spcBef>
                        <a:spcAft>
                          <a:spcPts val="0"/>
                        </a:spcAft>
                        <a:buClr>
                          <a:srgbClr val="1E293B"/>
                        </a:buClr>
                        <a:buSzPts val="1200"/>
                        <a:buFont typeface="Calibri"/>
                        <a:buNone/>
                      </a:pPr>
                      <a:r>
                        <a:rPr lang="en-US" sz="1200" u="none" cap="none" strike="noStrike">
                          <a:solidFill>
                            <a:srgbClr val="1E293B"/>
                          </a:solidFill>
                          <a:latin typeface="Calibri"/>
                          <a:ea typeface="Calibri"/>
                          <a:cs typeface="Calibri"/>
                          <a:sym typeface="Calibri"/>
                        </a:rPr>
                        <a:t>LlamaParse</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64748B"/>
                        </a:buClr>
                        <a:buSzPts val="1200"/>
                        <a:buFont typeface="Calibri"/>
                        <a:buNone/>
                      </a:pPr>
                      <a:r>
                        <a:rPr lang="en-US" sz="1200" u="none" cap="none" strike="noStrike">
                          <a:solidFill>
                            <a:srgbClr val="64748B"/>
                          </a:solidFill>
                          <a:latin typeface="Calibri"/>
                          <a:ea typeface="Calibri"/>
                          <a:cs typeface="Calibri"/>
                          <a:sym typeface="Calibri"/>
                        </a:rPr>
                        <a:t>N/A</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1B7A8C"/>
                        </a:buClr>
                        <a:buSzPts val="1200"/>
                        <a:buFont typeface="Calibri"/>
                        <a:buNone/>
                      </a:pPr>
                      <a:r>
                        <a:rPr lang="en-US" sz="1200" u="none" cap="none" strike="noStrike">
                          <a:solidFill>
                            <a:srgbClr val="1B7A8C"/>
                          </a:solidFill>
                          <a:latin typeface="Calibri"/>
                          <a:ea typeface="Calibri"/>
                          <a:cs typeface="Calibri"/>
                          <a:sym typeface="Calibri"/>
                        </a:rPr>
                        <a:t>0.5120</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c>
                  <a:txBody>
                    <a:bodyPr/>
                    <a:lstStyle/>
                    <a:p>
                      <a:pPr indent="0" lvl="0" marL="0" marR="0" rtl="0" algn="ctr">
                        <a:spcBef>
                          <a:spcPts val="0"/>
                        </a:spcBef>
                        <a:spcAft>
                          <a:spcPts val="0"/>
                        </a:spcAft>
                        <a:buClr>
                          <a:srgbClr val="64748B"/>
                        </a:buClr>
                        <a:buSzPts val="1200"/>
                        <a:buFont typeface="Calibri"/>
                        <a:buNone/>
                      </a:pPr>
                      <a:r>
                        <a:rPr lang="en-US" sz="1200" u="none" cap="none" strike="noStrike">
                          <a:solidFill>
                            <a:srgbClr val="64748B"/>
                          </a:solidFill>
                          <a:latin typeface="Calibri"/>
                          <a:ea typeface="Calibri"/>
                          <a:cs typeface="Calibri"/>
                          <a:sym typeface="Calibri"/>
                        </a:rPr>
                        <a:t>N/A</a:t>
                      </a:r>
                      <a:endParaRPr sz="1200" u="none" cap="none" strike="noStrike">
                        <a:latin typeface="Calibri"/>
                        <a:ea typeface="Calibri"/>
                        <a:cs typeface="Calibri"/>
                        <a:sym typeface="Calibri"/>
                      </a:endParaRPr>
                    </a:p>
                  </a:txBody>
                  <a:tcPr marT="0" marB="0" marR="91450" marL="91450" anchor="ctr">
                    <a:lnL cap="flat" cmpd="sng" w="12700">
                      <a:solidFill>
                        <a:srgbClr val="D6EAF3"/>
                      </a:solidFill>
                      <a:prstDash val="solid"/>
                      <a:round/>
                      <a:headEnd len="sm" w="sm" type="none"/>
                      <a:tailEnd len="sm" w="sm" type="none"/>
                    </a:lnL>
                    <a:lnR cap="flat" cmpd="sng" w="12700">
                      <a:solidFill>
                        <a:srgbClr val="D6EAF3"/>
                      </a:solidFill>
                      <a:prstDash val="solid"/>
                      <a:round/>
                      <a:headEnd len="sm" w="sm" type="none"/>
                      <a:tailEnd len="sm" w="sm" type="none"/>
                    </a:lnR>
                    <a:lnT cap="flat" cmpd="sng" w="12700">
                      <a:solidFill>
                        <a:srgbClr val="D6EAF3"/>
                      </a:solidFill>
                      <a:prstDash val="solid"/>
                      <a:round/>
                      <a:headEnd len="sm" w="sm" type="none"/>
                      <a:tailEnd len="sm" w="sm" type="none"/>
                    </a:lnT>
                    <a:lnB cap="flat" cmpd="sng" w="12700">
                      <a:solidFill>
                        <a:srgbClr val="D6EAF3"/>
                      </a:solidFill>
                      <a:prstDash val="solid"/>
                      <a:round/>
                      <a:headEnd len="sm" w="sm" type="none"/>
                      <a:tailEnd len="sm" w="sm" type="none"/>
                    </a:lnB>
                  </a:tcPr>
                </a:tc>
              </a:tr>
            </a:tbl>
          </a:graphicData>
        </a:graphic>
      </p:graphicFrame>
      <p:sp>
        <p:nvSpPr>
          <p:cNvPr id="241" name="Google Shape;241;p7"/>
          <p:cNvSpPr/>
          <p:nvPr/>
        </p:nvSpPr>
        <p:spPr>
          <a:xfrm>
            <a:off x="640080" y="466344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i="1" lang="en-US" sz="1100">
                <a:solidFill>
                  <a:srgbClr val="64748B"/>
                </a:solidFill>
                <a:latin typeface="Calibri"/>
                <a:ea typeface="Calibri"/>
                <a:cs typeface="Calibri"/>
                <a:sym typeface="Calibri"/>
              </a:rPr>
              <a:t>⭐ = Best in category among all models</a:t>
            </a:r>
            <a:endParaRPr sz="11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D"/>
        </a:solidFill>
      </p:bgPr>
    </p:bg>
    <p:spTree>
      <p:nvGrpSpPr>
        <p:cNvPr id="246" name="Shape 246"/>
        <p:cNvGrpSpPr/>
        <p:nvPr/>
      </p:nvGrpSpPr>
      <p:grpSpPr>
        <a:xfrm>
          <a:off x="0" y="0"/>
          <a:ext cx="0" cy="0"/>
          <a:chOff x="0" y="0"/>
          <a:chExt cx="0" cy="0"/>
        </a:xfrm>
      </p:grpSpPr>
      <p:sp>
        <p:nvSpPr>
          <p:cNvPr id="247" name="Google Shape;247;g3e51979973e_7_0"/>
          <p:cNvSpPr/>
          <p:nvPr/>
        </p:nvSpPr>
        <p:spPr>
          <a:xfrm>
            <a:off x="0" y="0"/>
            <a:ext cx="9144000" cy="658368"/>
          </a:xfrm>
          <a:prstGeom prst="rect">
            <a:avLst/>
          </a:prstGeom>
          <a:solidFill>
            <a:srgbClr val="0D1B3E"/>
          </a:solidFill>
          <a:ln cap="flat" cmpd="sng" w="12700">
            <a:solidFill>
              <a:srgbClr val="0D1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e51979973e_7_0"/>
          <p:cNvSpPr/>
          <p:nvPr/>
        </p:nvSpPr>
        <p:spPr>
          <a:xfrm>
            <a:off x="256032" y="0"/>
            <a:ext cx="8138160" cy="658368"/>
          </a:xfrm>
          <a:prstGeom prst="rect">
            <a:avLst/>
          </a:prstGeom>
          <a:noFill/>
          <a:ln>
            <a:noFill/>
          </a:ln>
        </p:spPr>
        <p:txBody>
          <a:bodyPr anchorCtr="0" anchor="ctr" bIns="0" lIns="0" spcFirstLastPara="1" rIns="0" wrap="square" tIns="101600">
            <a:noAutofit/>
          </a:bodyPr>
          <a:lstStyle/>
          <a:p>
            <a:pPr indent="0" lvl="0" marL="0" marR="0" rtl="0" algn="l">
              <a:spcBef>
                <a:spcPts val="0"/>
              </a:spcBef>
              <a:spcAft>
                <a:spcPts val="0"/>
              </a:spcAft>
              <a:buClr>
                <a:srgbClr val="FFFFFF"/>
              </a:buClr>
              <a:buSzPts val="2200"/>
              <a:buFont typeface="Calibri"/>
              <a:buNone/>
            </a:pPr>
            <a:r>
              <a:t/>
            </a:r>
            <a:endParaRPr b="0" i="0" sz="2200" u="none" cap="none" strike="noStrike">
              <a:solidFill>
                <a:schemeClr val="dk1"/>
              </a:solidFill>
              <a:latin typeface="Calibri"/>
              <a:ea typeface="Calibri"/>
              <a:cs typeface="Calibri"/>
              <a:sym typeface="Calibri"/>
            </a:endParaRPr>
          </a:p>
        </p:txBody>
      </p:sp>
      <p:cxnSp>
        <p:nvCxnSpPr>
          <p:cNvPr id="249" name="Google Shape;249;g3e51979973e_7_0"/>
          <p:cNvCxnSpPr/>
          <p:nvPr/>
        </p:nvCxnSpPr>
        <p:spPr>
          <a:xfrm>
            <a:off x="4480560" y="749808"/>
            <a:ext cx="0" cy="4251960"/>
          </a:xfrm>
          <a:prstGeom prst="straightConnector1">
            <a:avLst/>
          </a:prstGeom>
          <a:noFill/>
          <a:ln cap="flat" cmpd="sng" w="19050">
            <a:solidFill>
              <a:srgbClr val="CBD5E1"/>
            </a:solidFill>
            <a:prstDash val="solid"/>
            <a:round/>
            <a:headEnd len="sm" w="sm" type="none"/>
            <a:tailEnd len="sm" w="sm" type="none"/>
          </a:ln>
        </p:spPr>
      </p:cxnSp>
      <p:sp>
        <p:nvSpPr>
          <p:cNvPr id="250" name="Google Shape;250;g3e51979973e_7_0"/>
          <p:cNvSpPr/>
          <p:nvPr/>
        </p:nvSpPr>
        <p:spPr>
          <a:xfrm>
            <a:off x="228600" y="804672"/>
            <a:ext cx="4069080" cy="4005072"/>
          </a:xfrm>
          <a:prstGeom prst="rect">
            <a:avLst/>
          </a:prstGeom>
          <a:solidFill>
            <a:srgbClr val="FFFFFF"/>
          </a:solidFill>
          <a:ln cap="flat" cmpd="sng" w="12700">
            <a:solidFill>
              <a:srgbClr val="DDE3F0"/>
            </a:solidFill>
            <a:prstDash val="solid"/>
            <a:round/>
            <a:headEnd len="sm" w="sm" type="none"/>
            <a:tailEnd len="sm" w="sm" type="none"/>
          </a:ln>
          <a:effectLst>
            <a:outerShdw blurRad="50800" rotWithShape="0" algn="bl" dir="81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3e51979973e_7_0"/>
          <p:cNvSpPr/>
          <p:nvPr/>
        </p:nvSpPr>
        <p:spPr>
          <a:xfrm>
            <a:off x="365760" y="891729"/>
            <a:ext cx="411600" cy="411600"/>
          </a:xfrm>
          <a:prstGeom prst="ellipse">
            <a:avLst/>
          </a:prstGeom>
          <a:solidFill>
            <a:srgbClr val="E0F9FF"/>
          </a:solidFill>
          <a:ln cap="flat" cmpd="sng" w="12700">
            <a:solidFill>
              <a:srgbClr val="E0F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2" name="Google Shape;252;g3e51979973e_7_0"/>
          <p:cNvPicPr preferRelativeResize="0"/>
          <p:nvPr/>
        </p:nvPicPr>
        <p:blipFill rotWithShape="1">
          <a:blip r:embed="rId3">
            <a:alphaModFix/>
          </a:blip>
          <a:srcRect b="0" l="0" r="0" t="0"/>
          <a:stretch/>
        </p:blipFill>
        <p:spPr>
          <a:xfrm>
            <a:off x="402336" y="913863"/>
            <a:ext cx="338328" cy="338328"/>
          </a:xfrm>
          <a:prstGeom prst="rect">
            <a:avLst/>
          </a:prstGeom>
          <a:noFill/>
          <a:ln>
            <a:noFill/>
          </a:ln>
        </p:spPr>
      </p:pic>
      <p:sp>
        <p:nvSpPr>
          <p:cNvPr id="253" name="Google Shape;253;g3e51979973e_7_0"/>
          <p:cNvSpPr/>
          <p:nvPr/>
        </p:nvSpPr>
        <p:spPr>
          <a:xfrm>
            <a:off x="868680" y="932688"/>
            <a:ext cx="3200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Fine-tuning Setup</a:t>
            </a:r>
            <a:endParaRPr b="0" i="0" sz="1200" u="none" cap="none" strike="noStrike">
              <a:solidFill>
                <a:schemeClr val="dk1"/>
              </a:solidFill>
              <a:latin typeface="Calibri"/>
              <a:ea typeface="Calibri"/>
              <a:cs typeface="Calibri"/>
              <a:sym typeface="Calibri"/>
            </a:endParaRPr>
          </a:p>
        </p:txBody>
      </p:sp>
      <p:cxnSp>
        <p:nvCxnSpPr>
          <p:cNvPr id="254" name="Google Shape;254;g3e51979973e_7_0"/>
          <p:cNvCxnSpPr/>
          <p:nvPr/>
        </p:nvCxnSpPr>
        <p:spPr>
          <a:xfrm>
            <a:off x="365760" y="1371600"/>
            <a:ext cx="3794760" cy="0"/>
          </a:xfrm>
          <a:prstGeom prst="straightConnector1">
            <a:avLst/>
          </a:prstGeom>
          <a:noFill/>
          <a:ln cap="flat" cmpd="sng" w="12700">
            <a:solidFill>
              <a:srgbClr val="E2E8F0"/>
            </a:solidFill>
            <a:prstDash val="solid"/>
            <a:round/>
            <a:headEnd len="sm" w="sm" type="none"/>
            <a:tailEnd len="sm" w="sm" type="none"/>
          </a:ln>
        </p:spPr>
      </p:cxnSp>
      <p:sp>
        <p:nvSpPr>
          <p:cNvPr id="255" name="Google Shape;255;g3e51979973e_7_0"/>
          <p:cNvSpPr/>
          <p:nvPr/>
        </p:nvSpPr>
        <p:spPr>
          <a:xfrm>
            <a:off x="365760" y="1463040"/>
            <a:ext cx="1188720" cy="621792"/>
          </a:xfrm>
          <a:prstGeom prst="rect">
            <a:avLst/>
          </a:prstGeom>
          <a:solidFill>
            <a:srgbClr val="F0F6FA"/>
          </a:solidFill>
          <a:ln cap="flat" cmpd="sng" w="1905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g3e51979973e_7_0"/>
          <p:cNvSpPr/>
          <p:nvPr/>
        </p:nvSpPr>
        <p:spPr>
          <a:xfrm>
            <a:off x="365760" y="1499616"/>
            <a:ext cx="1188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82F6"/>
              </a:buClr>
              <a:buSzPts val="1600"/>
              <a:buFont typeface="Calibri"/>
              <a:buNone/>
            </a:pPr>
            <a:r>
              <a:rPr b="1" i="0" lang="en-US" sz="1600" u="none" cap="none" strike="noStrike">
                <a:solidFill>
                  <a:srgbClr val="3B82F6"/>
                </a:solidFill>
                <a:latin typeface="Calibri"/>
                <a:ea typeface="Calibri"/>
                <a:cs typeface="Calibri"/>
                <a:sym typeface="Calibri"/>
              </a:rPr>
              <a:t>AdamW</a:t>
            </a:r>
            <a:endParaRPr b="0" i="0" sz="1600" u="none" cap="none" strike="noStrike">
              <a:solidFill>
                <a:schemeClr val="dk1"/>
              </a:solidFill>
              <a:latin typeface="Calibri"/>
              <a:ea typeface="Calibri"/>
              <a:cs typeface="Calibri"/>
              <a:sym typeface="Calibri"/>
            </a:endParaRPr>
          </a:p>
        </p:txBody>
      </p:sp>
      <p:sp>
        <p:nvSpPr>
          <p:cNvPr id="257" name="Google Shape;257;g3e51979973e_7_0"/>
          <p:cNvSpPr/>
          <p:nvPr/>
        </p:nvSpPr>
        <p:spPr>
          <a:xfrm>
            <a:off x="365760" y="1847088"/>
            <a:ext cx="11887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850"/>
              <a:buFont typeface="Calibri"/>
              <a:buNone/>
            </a:pPr>
            <a:r>
              <a:rPr b="0" i="0" lang="en-US" sz="950" u="none" cap="none" strike="noStrike">
                <a:solidFill>
                  <a:srgbClr val="1E293B"/>
                </a:solidFill>
                <a:latin typeface="Calibri"/>
                <a:ea typeface="Calibri"/>
                <a:cs typeface="Calibri"/>
                <a:sym typeface="Calibri"/>
              </a:rPr>
              <a:t>Optimizer</a:t>
            </a:r>
            <a:endParaRPr b="0" i="0" sz="950" u="none" cap="none" strike="noStrike">
              <a:solidFill>
                <a:srgbClr val="1E293B"/>
              </a:solidFill>
              <a:latin typeface="Calibri"/>
              <a:ea typeface="Calibri"/>
              <a:cs typeface="Calibri"/>
              <a:sym typeface="Calibri"/>
            </a:endParaRPr>
          </a:p>
        </p:txBody>
      </p:sp>
      <p:sp>
        <p:nvSpPr>
          <p:cNvPr id="258" name="Google Shape;258;g3e51979973e_7_0"/>
          <p:cNvSpPr/>
          <p:nvPr/>
        </p:nvSpPr>
        <p:spPr>
          <a:xfrm>
            <a:off x="1664208" y="1463040"/>
            <a:ext cx="1188720" cy="621792"/>
          </a:xfrm>
          <a:prstGeom prst="rect">
            <a:avLst/>
          </a:prstGeom>
          <a:solidFill>
            <a:srgbClr val="F0F6FA"/>
          </a:solidFill>
          <a:ln cap="flat" cmpd="sng" w="19050">
            <a:solidFill>
              <a:srgbClr val="FCD3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g3e51979973e_7_0"/>
          <p:cNvSpPr/>
          <p:nvPr/>
        </p:nvSpPr>
        <p:spPr>
          <a:xfrm>
            <a:off x="1664208" y="1499616"/>
            <a:ext cx="1188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600"/>
              <a:buFont typeface="Calibri"/>
              <a:buNone/>
            </a:pPr>
            <a:r>
              <a:rPr b="1" i="0" lang="en-US" sz="1600" u="none" cap="none" strike="noStrike">
                <a:solidFill>
                  <a:srgbClr val="F59E0B"/>
                </a:solidFill>
                <a:latin typeface="Calibri"/>
                <a:ea typeface="Calibri"/>
                <a:cs typeface="Calibri"/>
                <a:sym typeface="Calibri"/>
              </a:rPr>
              <a:t>1e-4</a:t>
            </a:r>
            <a:endParaRPr b="0" i="0" sz="1600" u="none" cap="none" strike="noStrike">
              <a:solidFill>
                <a:schemeClr val="dk1"/>
              </a:solidFill>
              <a:latin typeface="Calibri"/>
              <a:ea typeface="Calibri"/>
              <a:cs typeface="Calibri"/>
              <a:sym typeface="Calibri"/>
            </a:endParaRPr>
          </a:p>
        </p:txBody>
      </p:sp>
      <p:sp>
        <p:nvSpPr>
          <p:cNvPr id="260" name="Google Shape;260;g3e51979973e_7_0"/>
          <p:cNvSpPr/>
          <p:nvPr/>
        </p:nvSpPr>
        <p:spPr>
          <a:xfrm>
            <a:off x="1664208" y="1847088"/>
            <a:ext cx="11887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850"/>
              <a:buFont typeface="Calibri"/>
              <a:buNone/>
            </a:pPr>
            <a:r>
              <a:rPr b="0" i="0" lang="en-US" sz="950" u="none" cap="none" strike="noStrike">
                <a:solidFill>
                  <a:srgbClr val="1E293B"/>
                </a:solidFill>
                <a:latin typeface="Calibri"/>
                <a:ea typeface="Calibri"/>
                <a:cs typeface="Calibri"/>
                <a:sym typeface="Calibri"/>
              </a:rPr>
              <a:t>LR</a:t>
            </a:r>
            <a:endParaRPr b="0" i="0" sz="950" u="none" cap="none" strike="noStrike">
              <a:solidFill>
                <a:srgbClr val="1E293B"/>
              </a:solidFill>
              <a:latin typeface="Calibri"/>
              <a:ea typeface="Calibri"/>
              <a:cs typeface="Calibri"/>
              <a:sym typeface="Calibri"/>
            </a:endParaRPr>
          </a:p>
        </p:txBody>
      </p:sp>
      <p:sp>
        <p:nvSpPr>
          <p:cNvPr id="261" name="Google Shape;261;g3e51979973e_7_0"/>
          <p:cNvSpPr/>
          <p:nvPr/>
        </p:nvSpPr>
        <p:spPr>
          <a:xfrm>
            <a:off x="2962656" y="1463040"/>
            <a:ext cx="1188720" cy="621792"/>
          </a:xfrm>
          <a:prstGeom prst="rect">
            <a:avLst/>
          </a:prstGeom>
          <a:solidFill>
            <a:srgbClr val="F0F6FA"/>
          </a:solidFill>
          <a:ln cap="flat" cmpd="sng" w="19050">
            <a:solidFill>
              <a:srgbClr val="DDD6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g3e51979973e_7_0"/>
          <p:cNvSpPr/>
          <p:nvPr/>
        </p:nvSpPr>
        <p:spPr>
          <a:xfrm>
            <a:off x="2962656" y="1499616"/>
            <a:ext cx="11887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5CF6"/>
              </a:buClr>
              <a:buSzPts val="1600"/>
              <a:buFont typeface="Calibri"/>
              <a:buNone/>
            </a:pPr>
            <a:r>
              <a:rPr b="1" i="0" lang="en-US" sz="1600" u="none" cap="none" strike="noStrike">
                <a:solidFill>
                  <a:srgbClr val="8B5CF6"/>
                </a:solidFill>
                <a:latin typeface="Calibri"/>
                <a:ea typeface="Calibri"/>
                <a:cs typeface="Calibri"/>
                <a:sym typeface="Calibri"/>
              </a:rPr>
              <a:t>LoRA</a:t>
            </a:r>
            <a:endParaRPr b="0" i="0" sz="1600" u="none" cap="none" strike="noStrike">
              <a:solidFill>
                <a:schemeClr val="dk1"/>
              </a:solidFill>
              <a:latin typeface="Calibri"/>
              <a:ea typeface="Calibri"/>
              <a:cs typeface="Calibri"/>
              <a:sym typeface="Calibri"/>
            </a:endParaRPr>
          </a:p>
        </p:txBody>
      </p:sp>
      <p:sp>
        <p:nvSpPr>
          <p:cNvPr id="263" name="Google Shape;263;g3e51979973e_7_0"/>
          <p:cNvSpPr/>
          <p:nvPr/>
        </p:nvSpPr>
        <p:spPr>
          <a:xfrm>
            <a:off x="2962656" y="1847088"/>
            <a:ext cx="118872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850"/>
              <a:buFont typeface="Calibri"/>
              <a:buNone/>
            </a:pPr>
            <a:r>
              <a:rPr b="0" i="0" lang="en-US" sz="950" u="none" cap="none" strike="noStrike">
                <a:solidFill>
                  <a:srgbClr val="1E293B"/>
                </a:solidFill>
                <a:latin typeface="Calibri"/>
                <a:ea typeface="Calibri"/>
                <a:cs typeface="Calibri"/>
                <a:sym typeface="Calibri"/>
              </a:rPr>
              <a:t>Method</a:t>
            </a:r>
            <a:endParaRPr b="0" i="0" sz="950" u="none" cap="none" strike="noStrike">
              <a:solidFill>
                <a:srgbClr val="1E293B"/>
              </a:solidFill>
              <a:latin typeface="Calibri"/>
              <a:ea typeface="Calibri"/>
              <a:cs typeface="Calibri"/>
              <a:sym typeface="Calibri"/>
            </a:endParaRPr>
          </a:p>
        </p:txBody>
      </p:sp>
      <p:sp>
        <p:nvSpPr>
          <p:cNvPr id="264" name="Google Shape;264;g3e51979973e_7_0"/>
          <p:cNvSpPr/>
          <p:nvPr/>
        </p:nvSpPr>
        <p:spPr>
          <a:xfrm>
            <a:off x="365760" y="2194560"/>
            <a:ext cx="3794760" cy="438912"/>
          </a:xfrm>
          <a:prstGeom prst="rect">
            <a:avLst/>
          </a:prstGeom>
          <a:solidFill>
            <a:srgbClr val="FFF1F2"/>
          </a:solidFill>
          <a:ln cap="flat" cmpd="sng" w="12700">
            <a:solidFill>
              <a:srgbClr val="FECD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g3e51979973e_7_0"/>
          <p:cNvSpPr/>
          <p:nvPr/>
        </p:nvSpPr>
        <p:spPr>
          <a:xfrm>
            <a:off x="365760" y="2194560"/>
            <a:ext cx="379476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1000"/>
              <a:buFont typeface="Calibri"/>
              <a:buNone/>
            </a:pPr>
            <a:r>
              <a:rPr b="0" i="0" lang="en-US" sz="1000" u="none" cap="none" strike="noStrike">
                <a:solidFill>
                  <a:srgbClr val="475569"/>
                </a:solidFill>
                <a:latin typeface="Calibri"/>
                <a:ea typeface="Calibri"/>
                <a:cs typeface="Calibri"/>
                <a:sym typeface="Calibri"/>
              </a:rPr>
              <a:t>Epochs: </a:t>
            </a:r>
            <a:r>
              <a:rPr b="1" i="0" lang="en-US" sz="1000" u="none" cap="none" strike="noStrike">
                <a:solidFill>
                  <a:srgbClr val="EF4444"/>
                </a:solidFill>
                <a:latin typeface="Calibri"/>
                <a:ea typeface="Calibri"/>
                <a:cs typeface="Calibri"/>
                <a:sym typeface="Calibri"/>
              </a:rPr>
              <a:t>50 </a:t>
            </a:r>
            <a:r>
              <a:rPr b="0" i="0" lang="en-US" sz="1000" u="none" cap="none" strike="noStrike">
                <a:solidFill>
                  <a:srgbClr val="475569"/>
                </a:solidFill>
                <a:latin typeface="Calibri"/>
                <a:ea typeface="Calibri"/>
                <a:cs typeface="Calibri"/>
                <a:sym typeface="Calibri"/>
              </a:rPr>
              <a:t>— early stopped at epoch </a:t>
            </a:r>
            <a:r>
              <a:rPr b="1" i="0" lang="en-US" sz="1000" u="none" cap="none" strike="noStrike">
                <a:solidFill>
                  <a:srgbClr val="EF4444"/>
                </a:solidFill>
                <a:latin typeface="Calibri"/>
                <a:ea typeface="Calibri"/>
                <a:cs typeface="Calibri"/>
                <a:sym typeface="Calibri"/>
              </a:rPr>
              <a:t>17</a:t>
            </a:r>
            <a:r>
              <a:rPr b="0" i="1" lang="en-US" sz="1000" u="none" cap="none" strike="noStrike">
                <a:solidFill>
                  <a:srgbClr val="475569"/>
                </a:solidFill>
                <a:latin typeface="Calibri"/>
                <a:ea typeface="Calibri"/>
                <a:cs typeface="Calibri"/>
                <a:sym typeface="Calibri"/>
              </a:rPr>
              <a:t> (unstable loss)</a:t>
            </a:r>
            <a:endParaRPr b="0" i="0" sz="1000" u="none" cap="none" strike="noStrike">
              <a:solidFill>
                <a:schemeClr val="dk1"/>
              </a:solidFill>
              <a:latin typeface="Calibri"/>
              <a:ea typeface="Calibri"/>
              <a:cs typeface="Calibri"/>
              <a:sym typeface="Calibri"/>
            </a:endParaRPr>
          </a:p>
        </p:txBody>
      </p:sp>
      <p:cxnSp>
        <p:nvCxnSpPr>
          <p:cNvPr id="266" name="Google Shape;266;g3e51979973e_7_0"/>
          <p:cNvCxnSpPr/>
          <p:nvPr/>
        </p:nvCxnSpPr>
        <p:spPr>
          <a:xfrm>
            <a:off x="365760" y="2951977"/>
            <a:ext cx="3794700" cy="0"/>
          </a:xfrm>
          <a:prstGeom prst="straightConnector1">
            <a:avLst/>
          </a:prstGeom>
          <a:noFill/>
          <a:ln cap="flat" cmpd="sng" w="12700">
            <a:solidFill>
              <a:srgbClr val="E2E8F0"/>
            </a:solidFill>
            <a:prstDash val="solid"/>
            <a:round/>
            <a:headEnd len="sm" w="sm" type="none"/>
            <a:tailEnd len="sm" w="sm" type="none"/>
          </a:ln>
        </p:spPr>
      </p:cxnSp>
      <p:sp>
        <p:nvSpPr>
          <p:cNvPr id="267" name="Google Shape;267;g3e51979973e_7_0"/>
          <p:cNvSpPr/>
          <p:nvPr/>
        </p:nvSpPr>
        <p:spPr>
          <a:xfrm>
            <a:off x="365760" y="3101739"/>
            <a:ext cx="37947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b="1" i="0" lang="en-US" sz="1200" u="none" cap="none" strike="noStrike">
                <a:solidFill>
                  <a:srgbClr val="1E293B"/>
                </a:solidFill>
                <a:latin typeface="Calibri"/>
                <a:ea typeface="Calibri"/>
                <a:cs typeface="Calibri"/>
                <a:sym typeface="Calibri"/>
              </a:rPr>
              <a:t>Subtask Decomposition</a:t>
            </a:r>
            <a:endParaRPr b="0" i="0" sz="1200" u="none" cap="none" strike="noStrike">
              <a:solidFill>
                <a:schemeClr val="dk1"/>
              </a:solidFill>
              <a:latin typeface="Calibri"/>
              <a:ea typeface="Calibri"/>
              <a:cs typeface="Calibri"/>
              <a:sym typeface="Calibri"/>
            </a:endParaRPr>
          </a:p>
        </p:txBody>
      </p:sp>
      <p:sp>
        <p:nvSpPr>
          <p:cNvPr id="268" name="Google Shape;268;g3e51979973e_7_0"/>
          <p:cNvSpPr/>
          <p:nvPr/>
        </p:nvSpPr>
        <p:spPr>
          <a:xfrm>
            <a:off x="365760" y="3405912"/>
            <a:ext cx="3794700" cy="3657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475569"/>
              </a:buClr>
              <a:buSzPts val="900"/>
              <a:buFont typeface="Calibri"/>
              <a:buNone/>
            </a:pPr>
            <a:r>
              <a:rPr b="0" i="0" lang="en-US" sz="1000" u="none" cap="none" strike="noStrike">
                <a:solidFill>
                  <a:srgbClr val="1E293B"/>
                </a:solidFill>
                <a:latin typeface="Calibri"/>
                <a:ea typeface="Calibri"/>
                <a:cs typeface="Calibri"/>
                <a:sym typeface="Calibri"/>
              </a:rPr>
              <a:t>Direct HTML generation proved too challenging for Florence-2. The task was decomposed into two subtasks:</a:t>
            </a:r>
            <a:endParaRPr b="0" i="0" sz="1000" u="none" cap="none" strike="noStrike">
              <a:solidFill>
                <a:srgbClr val="1E293B"/>
              </a:solidFill>
              <a:latin typeface="Calibri"/>
              <a:ea typeface="Calibri"/>
              <a:cs typeface="Calibri"/>
              <a:sym typeface="Calibri"/>
            </a:endParaRPr>
          </a:p>
        </p:txBody>
      </p:sp>
      <p:sp>
        <p:nvSpPr>
          <p:cNvPr id="269" name="Google Shape;269;g3e51979973e_7_0"/>
          <p:cNvSpPr/>
          <p:nvPr/>
        </p:nvSpPr>
        <p:spPr>
          <a:xfrm>
            <a:off x="365760" y="3941106"/>
            <a:ext cx="1828800" cy="658500"/>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g3e51979973e_7_0"/>
          <p:cNvSpPr/>
          <p:nvPr/>
        </p:nvSpPr>
        <p:spPr>
          <a:xfrm>
            <a:off x="365760" y="3977682"/>
            <a:ext cx="1828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82F6"/>
              </a:buClr>
              <a:buSzPts val="1400"/>
              <a:buFont typeface="Calibri"/>
              <a:buNone/>
            </a:pPr>
            <a:r>
              <a:rPr b="1" i="0" lang="en-US" sz="1400" u="none" cap="none" strike="noStrike">
                <a:solidFill>
                  <a:srgbClr val="3B82F6"/>
                </a:solidFill>
                <a:latin typeface="Calibri"/>
                <a:ea typeface="Calibri"/>
                <a:cs typeface="Calibri"/>
                <a:sym typeface="Calibri"/>
              </a:rPr>
              <a:t>TSR</a:t>
            </a:r>
            <a:endParaRPr b="0" i="0" sz="1400" u="none" cap="none" strike="noStrike">
              <a:solidFill>
                <a:schemeClr val="dk1"/>
              </a:solidFill>
              <a:latin typeface="Calibri"/>
              <a:ea typeface="Calibri"/>
              <a:cs typeface="Calibri"/>
              <a:sym typeface="Calibri"/>
            </a:endParaRPr>
          </a:p>
        </p:txBody>
      </p:sp>
      <p:sp>
        <p:nvSpPr>
          <p:cNvPr id="271" name="Google Shape;271;g3e51979973e_7_0"/>
          <p:cNvSpPr/>
          <p:nvPr/>
        </p:nvSpPr>
        <p:spPr>
          <a:xfrm>
            <a:off x="365760" y="4288578"/>
            <a:ext cx="18288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850"/>
              <a:buFont typeface="Calibri"/>
              <a:buNone/>
            </a:pPr>
            <a:r>
              <a:rPr b="0" i="0" lang="en-US" sz="950" u="none" cap="none" strike="noStrike">
                <a:solidFill>
                  <a:srgbClr val="1E293B"/>
                </a:solidFill>
                <a:latin typeface="Calibri"/>
                <a:ea typeface="Calibri"/>
                <a:cs typeface="Calibri"/>
                <a:sym typeface="Calibri"/>
              </a:rPr>
              <a:t>HTML Skeleton</a:t>
            </a:r>
            <a:endParaRPr b="0" i="0" sz="950" u="none" cap="none" strike="noStrike">
              <a:solidFill>
                <a:srgbClr val="1E293B"/>
              </a:solidFill>
              <a:latin typeface="Calibri"/>
              <a:ea typeface="Calibri"/>
              <a:cs typeface="Calibri"/>
              <a:sym typeface="Calibri"/>
            </a:endParaRPr>
          </a:p>
        </p:txBody>
      </p:sp>
      <p:sp>
        <p:nvSpPr>
          <p:cNvPr id="272" name="Google Shape;272;g3e51979973e_7_0"/>
          <p:cNvSpPr/>
          <p:nvPr/>
        </p:nvSpPr>
        <p:spPr>
          <a:xfrm>
            <a:off x="2331720" y="3941106"/>
            <a:ext cx="1828800" cy="658500"/>
          </a:xfrm>
          <a:prstGeom prst="rect">
            <a:avLst/>
          </a:prstGeom>
          <a:solidFill>
            <a:srgbClr val="ECFDF5"/>
          </a:solidFill>
          <a:ln cap="flat" cmpd="sng" w="12700">
            <a:solidFill>
              <a:srgbClr val="A7F3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g3e51979973e_7_0"/>
          <p:cNvSpPr/>
          <p:nvPr/>
        </p:nvSpPr>
        <p:spPr>
          <a:xfrm>
            <a:off x="2331720" y="3977682"/>
            <a:ext cx="18288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400"/>
              <a:buFont typeface="Calibri"/>
              <a:buNone/>
            </a:pPr>
            <a:r>
              <a:rPr b="1" i="0" lang="en-US" sz="1400" u="none" cap="none" strike="noStrike">
                <a:solidFill>
                  <a:srgbClr val="10B981"/>
                </a:solidFill>
                <a:latin typeface="Calibri"/>
                <a:ea typeface="Calibri"/>
                <a:cs typeface="Calibri"/>
                <a:sym typeface="Calibri"/>
              </a:rPr>
              <a:t>KIE</a:t>
            </a:r>
            <a:endParaRPr b="0" i="0" sz="1400" u="none" cap="none" strike="noStrike">
              <a:solidFill>
                <a:schemeClr val="dk1"/>
              </a:solidFill>
              <a:latin typeface="Calibri"/>
              <a:ea typeface="Calibri"/>
              <a:cs typeface="Calibri"/>
              <a:sym typeface="Calibri"/>
            </a:endParaRPr>
          </a:p>
        </p:txBody>
      </p:sp>
      <p:sp>
        <p:nvSpPr>
          <p:cNvPr id="274" name="Google Shape;274;g3e51979973e_7_0"/>
          <p:cNvSpPr/>
          <p:nvPr/>
        </p:nvSpPr>
        <p:spPr>
          <a:xfrm>
            <a:off x="2331720" y="4288578"/>
            <a:ext cx="18288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850"/>
              <a:buFont typeface="Calibri"/>
              <a:buNone/>
            </a:pPr>
            <a:r>
              <a:rPr b="0" i="0" lang="en-US" sz="950" u="none" cap="none" strike="noStrike">
                <a:solidFill>
                  <a:srgbClr val="1E293B"/>
                </a:solidFill>
                <a:latin typeface="Calibri"/>
                <a:ea typeface="Calibri"/>
                <a:cs typeface="Calibri"/>
                <a:sym typeface="Calibri"/>
              </a:rPr>
              <a:t>Cell Content</a:t>
            </a:r>
            <a:endParaRPr b="0" i="0" sz="950" u="none" cap="none" strike="noStrike">
              <a:solidFill>
                <a:srgbClr val="1E293B"/>
              </a:solidFill>
              <a:latin typeface="Calibri"/>
              <a:ea typeface="Calibri"/>
              <a:cs typeface="Calibri"/>
              <a:sym typeface="Calibri"/>
            </a:endParaRPr>
          </a:p>
        </p:txBody>
      </p:sp>
      <p:sp>
        <p:nvSpPr>
          <p:cNvPr id="275" name="Google Shape;275;g3e51979973e_7_0"/>
          <p:cNvSpPr/>
          <p:nvPr/>
        </p:nvSpPr>
        <p:spPr>
          <a:xfrm>
            <a:off x="4663440" y="804672"/>
            <a:ext cx="4251960" cy="1920240"/>
          </a:xfrm>
          <a:prstGeom prst="rect">
            <a:avLst/>
          </a:prstGeom>
          <a:solidFill>
            <a:srgbClr val="FFFFFF"/>
          </a:solidFill>
          <a:ln cap="flat" cmpd="sng" w="12700">
            <a:solidFill>
              <a:srgbClr val="DDE3F0"/>
            </a:solidFill>
            <a:prstDash val="solid"/>
            <a:round/>
            <a:headEnd len="sm" w="sm" type="none"/>
            <a:tailEnd len="sm" w="sm" type="none"/>
          </a:ln>
          <a:effectLst>
            <a:outerShdw blurRad="50800" rotWithShape="0" algn="bl" dir="81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e51979973e_7_0"/>
          <p:cNvSpPr/>
          <p:nvPr/>
        </p:nvSpPr>
        <p:spPr>
          <a:xfrm>
            <a:off x="4800600" y="884003"/>
            <a:ext cx="411600" cy="411600"/>
          </a:xfrm>
          <a:prstGeom prst="ellipse">
            <a:avLst/>
          </a:prstGeom>
          <a:solidFill>
            <a:srgbClr val="DCFCE7"/>
          </a:solidFill>
          <a:ln cap="flat" cmpd="sng" w="12700">
            <a:solidFill>
              <a:srgbClr val="DCFC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7" name="Google Shape;277;g3e51979973e_7_0"/>
          <p:cNvPicPr preferRelativeResize="0"/>
          <p:nvPr/>
        </p:nvPicPr>
        <p:blipFill rotWithShape="1">
          <a:blip r:embed="rId4">
            <a:alphaModFix/>
          </a:blip>
          <a:srcRect b="0" l="0" r="0" t="0"/>
          <a:stretch/>
        </p:blipFill>
        <p:spPr>
          <a:xfrm>
            <a:off x="4837176" y="920579"/>
            <a:ext cx="338328" cy="338328"/>
          </a:xfrm>
          <a:prstGeom prst="rect">
            <a:avLst/>
          </a:prstGeom>
          <a:noFill/>
          <a:ln>
            <a:noFill/>
          </a:ln>
        </p:spPr>
      </p:pic>
      <p:sp>
        <p:nvSpPr>
          <p:cNvPr id="278" name="Google Shape;278;g3e51979973e_7_0"/>
          <p:cNvSpPr/>
          <p:nvPr/>
        </p:nvSpPr>
        <p:spPr>
          <a:xfrm>
            <a:off x="5303520" y="932688"/>
            <a:ext cx="3383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TEDS Results</a:t>
            </a:r>
            <a:endParaRPr b="0" i="0" sz="1200" u="none" cap="none" strike="noStrike">
              <a:solidFill>
                <a:schemeClr val="dk1"/>
              </a:solidFill>
              <a:latin typeface="Calibri"/>
              <a:ea typeface="Calibri"/>
              <a:cs typeface="Calibri"/>
              <a:sym typeface="Calibri"/>
            </a:endParaRPr>
          </a:p>
        </p:txBody>
      </p:sp>
      <p:cxnSp>
        <p:nvCxnSpPr>
          <p:cNvPr id="279" name="Google Shape;279;g3e51979973e_7_0"/>
          <p:cNvCxnSpPr/>
          <p:nvPr/>
        </p:nvCxnSpPr>
        <p:spPr>
          <a:xfrm>
            <a:off x="4800600" y="1353312"/>
            <a:ext cx="3977640" cy="0"/>
          </a:xfrm>
          <a:prstGeom prst="straightConnector1">
            <a:avLst/>
          </a:prstGeom>
          <a:noFill/>
          <a:ln cap="flat" cmpd="sng" w="12700">
            <a:solidFill>
              <a:srgbClr val="E2E8F0"/>
            </a:solidFill>
            <a:prstDash val="solid"/>
            <a:round/>
            <a:headEnd len="sm" w="sm" type="none"/>
            <a:tailEnd len="sm" w="sm" type="none"/>
          </a:ln>
        </p:spPr>
      </p:cxnSp>
      <p:sp>
        <p:nvSpPr>
          <p:cNvPr id="280" name="Google Shape;280;g3e51979973e_7_0"/>
          <p:cNvSpPr/>
          <p:nvPr/>
        </p:nvSpPr>
        <p:spPr>
          <a:xfrm>
            <a:off x="4800600" y="1379706"/>
            <a:ext cx="3977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850"/>
              <a:buFont typeface="Calibri"/>
              <a:buNone/>
            </a:pPr>
            <a:r>
              <a:rPr b="1" i="0" lang="en-US" sz="1000" u="none" cap="none" strike="noStrike">
                <a:solidFill>
                  <a:srgbClr val="1E293B"/>
                </a:solidFill>
                <a:latin typeface="Calibri"/>
                <a:ea typeface="Calibri"/>
                <a:cs typeface="Calibri"/>
                <a:sym typeface="Calibri"/>
              </a:rPr>
              <a:t>Fine-tuned (LoRA)</a:t>
            </a:r>
            <a:endParaRPr b="0" i="0" sz="1000" u="none" cap="none" strike="noStrike">
              <a:solidFill>
                <a:srgbClr val="1E293B"/>
              </a:solidFill>
              <a:latin typeface="Calibri"/>
              <a:ea typeface="Calibri"/>
              <a:cs typeface="Calibri"/>
              <a:sym typeface="Calibri"/>
            </a:endParaRPr>
          </a:p>
        </p:txBody>
      </p:sp>
      <p:sp>
        <p:nvSpPr>
          <p:cNvPr id="281" name="Google Shape;281;g3e51979973e_7_0"/>
          <p:cNvSpPr/>
          <p:nvPr/>
        </p:nvSpPr>
        <p:spPr>
          <a:xfrm>
            <a:off x="4800600" y="1627632"/>
            <a:ext cx="1920240" cy="658368"/>
          </a:xfrm>
          <a:prstGeom prst="rect">
            <a:avLst/>
          </a:prstGeom>
          <a:solidFill>
            <a:srgbClr val="EFF6FF"/>
          </a:solidFill>
          <a:ln cap="flat" cmpd="sng" w="1270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g3e51979973e_7_0"/>
          <p:cNvSpPr/>
          <p:nvPr/>
        </p:nvSpPr>
        <p:spPr>
          <a:xfrm>
            <a:off x="4800600" y="1664208"/>
            <a:ext cx="19202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82F6"/>
              </a:buClr>
              <a:buSzPts val="2200"/>
              <a:buFont typeface="Calibri"/>
              <a:buNone/>
            </a:pPr>
            <a:r>
              <a:rPr b="1" i="0" lang="en-US" sz="2200" u="none" cap="none" strike="noStrike">
                <a:solidFill>
                  <a:srgbClr val="3B82F6"/>
                </a:solidFill>
                <a:latin typeface="Calibri"/>
                <a:ea typeface="Calibri"/>
                <a:cs typeface="Calibri"/>
                <a:sym typeface="Calibri"/>
              </a:rPr>
              <a:t>0.0441</a:t>
            </a:r>
            <a:endParaRPr b="0" i="0" sz="2200" u="none" cap="none" strike="noStrike">
              <a:solidFill>
                <a:schemeClr val="dk1"/>
              </a:solidFill>
              <a:latin typeface="Calibri"/>
              <a:ea typeface="Calibri"/>
              <a:cs typeface="Calibri"/>
              <a:sym typeface="Calibri"/>
            </a:endParaRPr>
          </a:p>
        </p:txBody>
      </p:sp>
      <p:sp>
        <p:nvSpPr>
          <p:cNvPr id="283" name="Google Shape;283;g3e51979973e_7_0"/>
          <p:cNvSpPr/>
          <p:nvPr/>
        </p:nvSpPr>
        <p:spPr>
          <a:xfrm>
            <a:off x="4800600" y="2048256"/>
            <a:ext cx="192024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800"/>
              <a:buFont typeface="Calibri"/>
              <a:buNone/>
            </a:pPr>
            <a:r>
              <a:rPr b="0" i="0" lang="en-US" sz="900" u="none" cap="none" strike="noStrike">
                <a:solidFill>
                  <a:srgbClr val="1E293B"/>
                </a:solidFill>
                <a:latin typeface="Calibri"/>
                <a:ea typeface="Calibri"/>
                <a:cs typeface="Calibri"/>
                <a:sym typeface="Calibri"/>
              </a:rPr>
              <a:t>Skeleton TEDS</a:t>
            </a:r>
            <a:endParaRPr b="0" i="0" sz="900" u="none" cap="none" strike="noStrike">
              <a:solidFill>
                <a:srgbClr val="1E293B"/>
              </a:solidFill>
              <a:latin typeface="Calibri"/>
              <a:ea typeface="Calibri"/>
              <a:cs typeface="Calibri"/>
              <a:sym typeface="Calibri"/>
            </a:endParaRPr>
          </a:p>
        </p:txBody>
      </p:sp>
      <p:sp>
        <p:nvSpPr>
          <p:cNvPr id="284" name="Google Shape;284;g3e51979973e_7_0"/>
          <p:cNvSpPr/>
          <p:nvPr/>
        </p:nvSpPr>
        <p:spPr>
          <a:xfrm>
            <a:off x="6858000" y="1627632"/>
            <a:ext cx="1920240" cy="658368"/>
          </a:xfrm>
          <a:prstGeom prst="rect">
            <a:avLst/>
          </a:prstGeom>
          <a:solidFill>
            <a:srgbClr val="F3EEFF"/>
          </a:solidFill>
          <a:ln cap="flat" cmpd="sng" w="12700">
            <a:solidFill>
              <a:srgbClr val="DDD6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g3e51979973e_7_0"/>
          <p:cNvSpPr/>
          <p:nvPr/>
        </p:nvSpPr>
        <p:spPr>
          <a:xfrm>
            <a:off x="6858000" y="1664208"/>
            <a:ext cx="19202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5CF6"/>
              </a:buClr>
              <a:buSzPts val="2200"/>
              <a:buFont typeface="Calibri"/>
              <a:buNone/>
            </a:pPr>
            <a:r>
              <a:rPr b="1" i="0" lang="en-US" sz="2200" u="none" cap="none" strike="noStrike">
                <a:solidFill>
                  <a:srgbClr val="8B5CF6"/>
                </a:solidFill>
                <a:latin typeface="Calibri"/>
                <a:ea typeface="Calibri"/>
                <a:cs typeface="Calibri"/>
                <a:sym typeface="Calibri"/>
              </a:rPr>
              <a:t>0.0287</a:t>
            </a:r>
            <a:endParaRPr b="0" i="0" sz="2200" u="none" cap="none" strike="noStrike">
              <a:solidFill>
                <a:schemeClr val="dk1"/>
              </a:solidFill>
              <a:latin typeface="Calibri"/>
              <a:ea typeface="Calibri"/>
              <a:cs typeface="Calibri"/>
              <a:sym typeface="Calibri"/>
            </a:endParaRPr>
          </a:p>
        </p:txBody>
      </p:sp>
      <p:sp>
        <p:nvSpPr>
          <p:cNvPr id="286" name="Google Shape;286;g3e51979973e_7_0"/>
          <p:cNvSpPr/>
          <p:nvPr/>
        </p:nvSpPr>
        <p:spPr>
          <a:xfrm>
            <a:off x="6858000" y="2048256"/>
            <a:ext cx="192024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800"/>
              <a:buFont typeface="Calibri"/>
              <a:buNone/>
            </a:pPr>
            <a:r>
              <a:rPr b="0" i="0" lang="en-US" sz="900" u="none" cap="none" strike="noStrike">
                <a:solidFill>
                  <a:srgbClr val="1E293B"/>
                </a:solidFill>
                <a:latin typeface="Calibri"/>
                <a:ea typeface="Calibri"/>
                <a:cs typeface="Calibri"/>
                <a:sym typeface="Calibri"/>
              </a:rPr>
              <a:t>Pipeline TEDS</a:t>
            </a:r>
            <a:endParaRPr b="0" i="0" sz="900" u="none" cap="none" strike="noStrike">
              <a:solidFill>
                <a:srgbClr val="1E293B"/>
              </a:solidFill>
              <a:latin typeface="Calibri"/>
              <a:ea typeface="Calibri"/>
              <a:cs typeface="Calibri"/>
              <a:sym typeface="Calibri"/>
            </a:endParaRPr>
          </a:p>
        </p:txBody>
      </p:sp>
      <p:sp>
        <p:nvSpPr>
          <p:cNvPr id="287" name="Google Shape;287;g3e51979973e_7_0"/>
          <p:cNvSpPr/>
          <p:nvPr/>
        </p:nvSpPr>
        <p:spPr>
          <a:xfrm>
            <a:off x="4800600" y="2377440"/>
            <a:ext cx="3977640" cy="274320"/>
          </a:xfrm>
          <a:prstGeom prst="rect">
            <a:avLst/>
          </a:prstGeom>
          <a:solidFill>
            <a:srgbClr val="FFF7ED"/>
          </a:solidFill>
          <a:ln cap="flat" cmpd="sng" w="12700">
            <a:solidFill>
              <a:srgbClr val="FED7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3e51979973e_7_0"/>
          <p:cNvSpPr/>
          <p:nvPr/>
        </p:nvSpPr>
        <p:spPr>
          <a:xfrm>
            <a:off x="4800600" y="2377440"/>
            <a:ext cx="3977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900"/>
              <a:buFont typeface="Calibri"/>
              <a:buNone/>
            </a:pPr>
            <a:r>
              <a:rPr b="0" i="0" lang="en-US" sz="900" u="none" cap="none" strike="noStrike">
                <a:solidFill>
                  <a:srgbClr val="475569"/>
                </a:solidFill>
                <a:latin typeface="Calibri"/>
                <a:ea typeface="Calibri"/>
                <a:cs typeface="Calibri"/>
                <a:sym typeface="Calibri"/>
              </a:rPr>
              <a:t>Zero-shot baseline — Pipeline TEDS: </a:t>
            </a:r>
            <a:r>
              <a:rPr b="1" i="0" lang="en-US" sz="900" u="none" cap="none" strike="noStrike">
                <a:solidFill>
                  <a:srgbClr val="F59E0B"/>
                </a:solidFill>
                <a:latin typeface="Calibri"/>
                <a:ea typeface="Calibri"/>
                <a:cs typeface="Calibri"/>
                <a:sym typeface="Calibri"/>
              </a:rPr>
              <a:t>0.1539</a:t>
            </a:r>
            <a:r>
              <a:rPr b="0" i="1" lang="en-US" sz="900" u="none" cap="none" strike="noStrike">
                <a:solidFill>
                  <a:srgbClr val="F59E0B"/>
                </a:solidFill>
                <a:latin typeface="Calibri"/>
                <a:ea typeface="Calibri"/>
                <a:cs typeface="Calibri"/>
                <a:sym typeface="Calibri"/>
              </a:rPr>
              <a:t>  ▲ outperforms fine-tuned</a:t>
            </a:r>
            <a:endParaRPr b="0" i="0" sz="900" u="none" cap="none" strike="noStrike">
              <a:solidFill>
                <a:schemeClr val="dk1"/>
              </a:solidFill>
              <a:latin typeface="Calibri"/>
              <a:ea typeface="Calibri"/>
              <a:cs typeface="Calibri"/>
              <a:sym typeface="Calibri"/>
            </a:endParaRPr>
          </a:p>
        </p:txBody>
      </p:sp>
      <p:sp>
        <p:nvSpPr>
          <p:cNvPr id="289" name="Google Shape;289;g3e51979973e_7_0"/>
          <p:cNvSpPr/>
          <p:nvPr/>
        </p:nvSpPr>
        <p:spPr>
          <a:xfrm>
            <a:off x="4663440" y="2796681"/>
            <a:ext cx="4251900" cy="2030100"/>
          </a:xfrm>
          <a:prstGeom prst="rect">
            <a:avLst/>
          </a:prstGeom>
          <a:solidFill>
            <a:srgbClr val="FFFFFF"/>
          </a:solidFill>
          <a:ln cap="flat" cmpd="sng" w="12700">
            <a:solidFill>
              <a:srgbClr val="DDE3F0"/>
            </a:solidFill>
            <a:prstDash val="solid"/>
            <a:round/>
            <a:headEnd len="sm" w="sm" type="none"/>
            <a:tailEnd len="sm" w="sm" type="none"/>
          </a:ln>
          <a:effectLst>
            <a:outerShdw blurRad="50800" rotWithShape="0" algn="bl" dir="8100000" dist="12700">
              <a:srgbClr val="000000">
                <a:alpha val="588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3e51979973e_7_0"/>
          <p:cNvSpPr/>
          <p:nvPr/>
        </p:nvSpPr>
        <p:spPr>
          <a:xfrm>
            <a:off x="4800600" y="2852645"/>
            <a:ext cx="338400" cy="338400"/>
          </a:xfrm>
          <a:prstGeom prst="ellipse">
            <a:avLst/>
          </a:prstGeom>
          <a:solidFill>
            <a:srgbClr val="FEF3C7"/>
          </a:solidFill>
          <a:ln cap="flat" cmpd="sng" w="10450">
            <a:solidFill>
              <a:srgbClr val="FEF3C7"/>
            </a:solidFill>
            <a:prstDash val="solid"/>
            <a:round/>
            <a:headEnd len="sm" w="sm" type="none"/>
            <a:tailEnd len="sm" w="sm" type="none"/>
          </a:ln>
        </p:spPr>
        <p:txBody>
          <a:bodyPr anchorCtr="0" anchor="ctr" bIns="75150" lIns="75150" spcFirstLastPara="1" rIns="75150" wrap="square" tIns="75150">
            <a:noAutofit/>
          </a:bodyPr>
          <a:lstStyle/>
          <a:p>
            <a:pPr indent="0" lvl="0" marL="0" rtl="0" algn="l">
              <a:spcBef>
                <a:spcPts val="0"/>
              </a:spcBef>
              <a:spcAft>
                <a:spcPts val="0"/>
              </a:spcAft>
              <a:buNone/>
            </a:pPr>
            <a:r>
              <a:t/>
            </a:r>
            <a:endParaRPr/>
          </a:p>
        </p:txBody>
      </p:sp>
      <p:pic>
        <p:nvPicPr>
          <p:cNvPr descr="preencoded.png" id="291" name="Google Shape;291;g3e51979973e_7_0"/>
          <p:cNvPicPr preferRelativeResize="0"/>
          <p:nvPr/>
        </p:nvPicPr>
        <p:blipFill rotWithShape="1">
          <a:blip r:embed="rId5">
            <a:alphaModFix/>
          </a:blip>
          <a:srcRect b="0" l="0" r="0" t="0"/>
          <a:stretch/>
        </p:blipFill>
        <p:spPr>
          <a:xfrm>
            <a:off x="4830667" y="2861213"/>
            <a:ext cx="278118" cy="278118"/>
          </a:xfrm>
          <a:prstGeom prst="rect">
            <a:avLst/>
          </a:prstGeom>
          <a:noFill/>
          <a:ln>
            <a:noFill/>
          </a:ln>
        </p:spPr>
      </p:pic>
      <p:sp>
        <p:nvSpPr>
          <p:cNvPr id="292" name="Google Shape;292;g3e51979973e_7_0"/>
          <p:cNvSpPr/>
          <p:nvPr/>
        </p:nvSpPr>
        <p:spPr>
          <a:xfrm>
            <a:off x="5303520" y="2862820"/>
            <a:ext cx="3383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0" lang="en-US" sz="1200" u="none" cap="none" strike="noStrike">
                <a:solidFill>
                  <a:srgbClr val="1E293B"/>
                </a:solidFill>
                <a:latin typeface="Calibri"/>
                <a:ea typeface="Calibri"/>
                <a:cs typeface="Calibri"/>
                <a:sym typeface="Calibri"/>
              </a:rPr>
              <a:t>Why Fine-tuned Underperforms Zero-shot</a:t>
            </a:r>
            <a:endParaRPr b="0" i="0" sz="1200" u="none" cap="none" strike="noStrike">
              <a:solidFill>
                <a:schemeClr val="dk1"/>
              </a:solidFill>
              <a:latin typeface="Calibri"/>
              <a:ea typeface="Calibri"/>
              <a:cs typeface="Calibri"/>
              <a:sym typeface="Calibri"/>
            </a:endParaRPr>
          </a:p>
        </p:txBody>
      </p:sp>
      <p:cxnSp>
        <p:nvCxnSpPr>
          <p:cNvPr id="293" name="Google Shape;293;g3e51979973e_7_0"/>
          <p:cNvCxnSpPr/>
          <p:nvPr/>
        </p:nvCxnSpPr>
        <p:spPr>
          <a:xfrm>
            <a:off x="4800600" y="3259912"/>
            <a:ext cx="3977700" cy="0"/>
          </a:xfrm>
          <a:prstGeom prst="straightConnector1">
            <a:avLst/>
          </a:prstGeom>
          <a:noFill/>
          <a:ln cap="flat" cmpd="sng" w="12700">
            <a:solidFill>
              <a:srgbClr val="E2E8F0"/>
            </a:solidFill>
            <a:prstDash val="solid"/>
            <a:round/>
            <a:headEnd len="sm" w="sm" type="none"/>
            <a:tailEnd len="sm" w="sm" type="none"/>
          </a:ln>
        </p:spPr>
      </p:cxnSp>
      <p:sp>
        <p:nvSpPr>
          <p:cNvPr id="294" name="Google Shape;294;g3e51979973e_7_0"/>
          <p:cNvSpPr/>
          <p:nvPr/>
        </p:nvSpPr>
        <p:spPr>
          <a:xfrm>
            <a:off x="4800600" y="3259915"/>
            <a:ext cx="3977700" cy="450600"/>
          </a:xfrm>
          <a:prstGeom prst="rect">
            <a:avLst/>
          </a:prstGeom>
          <a:solidFill>
            <a:srgbClr val="FFF1F2"/>
          </a:solidFill>
          <a:ln cap="flat" cmpd="sng" w="12700">
            <a:solidFill>
              <a:srgbClr val="FECD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g3e51979973e_7_0"/>
          <p:cNvSpPr/>
          <p:nvPr/>
        </p:nvSpPr>
        <p:spPr>
          <a:xfrm>
            <a:off x="4800600" y="3285615"/>
            <a:ext cx="54900" cy="40230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g3e51979973e_7_0"/>
          <p:cNvSpPr/>
          <p:nvPr/>
        </p:nvSpPr>
        <p:spPr>
          <a:xfrm>
            <a:off x="4938452" y="3278948"/>
            <a:ext cx="3813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900"/>
              <a:buFont typeface="Calibri"/>
              <a:buNone/>
            </a:pPr>
            <a:r>
              <a:rPr b="1" i="0" lang="en-US" sz="1000" u="none" cap="none" strike="noStrike">
                <a:solidFill>
                  <a:srgbClr val="EF4444"/>
                </a:solidFill>
                <a:latin typeface="Calibri"/>
                <a:ea typeface="Calibri"/>
                <a:cs typeface="Calibri"/>
                <a:sym typeface="Calibri"/>
              </a:rPr>
              <a:t>Task Mismatch</a:t>
            </a:r>
            <a:endParaRPr b="0" i="0" sz="1000" u="none" cap="none" strike="noStrike">
              <a:solidFill>
                <a:schemeClr val="dk1"/>
              </a:solidFill>
              <a:latin typeface="Calibri"/>
              <a:ea typeface="Calibri"/>
              <a:cs typeface="Calibri"/>
              <a:sym typeface="Calibri"/>
            </a:endParaRPr>
          </a:p>
        </p:txBody>
      </p:sp>
      <p:sp>
        <p:nvSpPr>
          <p:cNvPr id="297" name="Google Shape;297;g3e51979973e_7_0"/>
          <p:cNvSpPr/>
          <p:nvPr/>
        </p:nvSpPr>
        <p:spPr>
          <a:xfrm>
            <a:off x="4938452" y="3460975"/>
            <a:ext cx="3813000" cy="2013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475569"/>
              </a:buClr>
              <a:buSzPts val="800"/>
              <a:buFont typeface="Calibri"/>
              <a:buNone/>
            </a:pPr>
            <a:r>
              <a:rPr b="0" i="0" lang="en-US" sz="900" u="none" cap="none" strike="noStrike">
                <a:solidFill>
                  <a:srgbClr val="1E293B"/>
                </a:solidFill>
                <a:latin typeface="Calibri"/>
                <a:ea typeface="Calibri"/>
                <a:cs typeface="Calibri"/>
                <a:sym typeface="Calibri"/>
              </a:rPr>
              <a:t>Florence-2 pre-trained for OCR, captioning &amp; grounding — not HTML generation. Large domain gap makes the task inherently difficult to learn.</a:t>
            </a:r>
            <a:endParaRPr b="0" i="0" sz="900" u="none" cap="none" strike="noStrike">
              <a:solidFill>
                <a:srgbClr val="1E293B"/>
              </a:solidFill>
              <a:latin typeface="Calibri"/>
              <a:ea typeface="Calibri"/>
              <a:cs typeface="Calibri"/>
              <a:sym typeface="Calibri"/>
            </a:endParaRPr>
          </a:p>
        </p:txBody>
      </p:sp>
      <p:sp>
        <p:nvSpPr>
          <p:cNvPr id="298" name="Google Shape;298;g3e51979973e_7_0"/>
          <p:cNvSpPr/>
          <p:nvPr/>
        </p:nvSpPr>
        <p:spPr>
          <a:xfrm>
            <a:off x="4800600" y="3772171"/>
            <a:ext cx="3977700" cy="450600"/>
          </a:xfrm>
          <a:prstGeom prst="rect">
            <a:avLst/>
          </a:prstGeom>
          <a:solidFill>
            <a:srgbClr val="FFFBEB"/>
          </a:solidFill>
          <a:ln cap="flat" cmpd="sng" w="12700">
            <a:solidFill>
              <a:srgbClr val="FDE6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3e51979973e_7_0"/>
          <p:cNvSpPr/>
          <p:nvPr/>
        </p:nvSpPr>
        <p:spPr>
          <a:xfrm>
            <a:off x="4800600" y="3790264"/>
            <a:ext cx="54900" cy="4023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g3e51979973e_7_0"/>
          <p:cNvSpPr/>
          <p:nvPr/>
        </p:nvSpPr>
        <p:spPr>
          <a:xfrm>
            <a:off x="4938452" y="3783597"/>
            <a:ext cx="3813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900"/>
              <a:buFont typeface="Calibri"/>
              <a:buNone/>
            </a:pPr>
            <a:r>
              <a:rPr b="1" i="0" lang="en-US" sz="1000" u="none" cap="none" strike="noStrike">
                <a:solidFill>
                  <a:srgbClr val="F59E0B"/>
                </a:solidFill>
                <a:latin typeface="Calibri"/>
                <a:ea typeface="Calibri"/>
                <a:cs typeface="Calibri"/>
                <a:sym typeface="Calibri"/>
              </a:rPr>
              <a:t>Training Instability</a:t>
            </a:r>
            <a:endParaRPr b="0" i="0" sz="1000" u="none" cap="none" strike="noStrike">
              <a:solidFill>
                <a:schemeClr val="dk1"/>
              </a:solidFill>
              <a:latin typeface="Calibri"/>
              <a:ea typeface="Calibri"/>
              <a:cs typeface="Calibri"/>
              <a:sym typeface="Calibri"/>
            </a:endParaRPr>
          </a:p>
        </p:txBody>
      </p:sp>
      <p:sp>
        <p:nvSpPr>
          <p:cNvPr id="301" name="Google Shape;301;g3e51979973e_7_0"/>
          <p:cNvSpPr/>
          <p:nvPr/>
        </p:nvSpPr>
        <p:spPr>
          <a:xfrm>
            <a:off x="4938452" y="3965624"/>
            <a:ext cx="3813000" cy="2013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475569"/>
              </a:buClr>
              <a:buSzPts val="800"/>
              <a:buFont typeface="Calibri"/>
              <a:buNone/>
            </a:pPr>
            <a:r>
              <a:rPr b="0" i="0" lang="en-US" sz="900" u="none" cap="none" strike="noStrike">
                <a:solidFill>
                  <a:srgbClr val="1E293B"/>
                </a:solidFill>
                <a:latin typeface="Calibri"/>
                <a:ea typeface="Calibri"/>
                <a:cs typeface="Calibri"/>
                <a:sym typeface="Calibri"/>
              </a:rPr>
              <a:t>Cross-entropy loss did not decrease steadily — model likely failed to converge, triggering early stopping at epoch 17 of 50.</a:t>
            </a:r>
            <a:endParaRPr b="0" i="0" sz="900" u="none" cap="none" strike="noStrike">
              <a:solidFill>
                <a:srgbClr val="1E293B"/>
              </a:solidFill>
              <a:latin typeface="Calibri"/>
              <a:ea typeface="Calibri"/>
              <a:cs typeface="Calibri"/>
              <a:sym typeface="Calibri"/>
            </a:endParaRPr>
          </a:p>
        </p:txBody>
      </p:sp>
      <p:sp>
        <p:nvSpPr>
          <p:cNvPr id="302" name="Google Shape;302;g3e51979973e_7_0"/>
          <p:cNvSpPr/>
          <p:nvPr/>
        </p:nvSpPr>
        <p:spPr>
          <a:xfrm>
            <a:off x="4800600" y="4284427"/>
            <a:ext cx="3977700" cy="450600"/>
          </a:xfrm>
          <a:prstGeom prst="rect">
            <a:avLst/>
          </a:prstGeom>
          <a:solidFill>
            <a:srgbClr val="F5F3FF"/>
          </a:solidFill>
          <a:ln cap="flat" cmpd="sng" w="12700">
            <a:solidFill>
              <a:srgbClr val="DDD6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g3e51979973e_7_0"/>
          <p:cNvSpPr/>
          <p:nvPr/>
        </p:nvSpPr>
        <p:spPr>
          <a:xfrm>
            <a:off x="4800600" y="4304403"/>
            <a:ext cx="54900" cy="402300"/>
          </a:xfrm>
          <a:prstGeom prst="rect">
            <a:avLst/>
          </a:prstGeom>
          <a:solidFill>
            <a:srgbClr val="8B5CF6"/>
          </a:solidFill>
          <a:ln cap="flat" cmpd="sng" w="12700">
            <a:solidFill>
              <a:srgbClr val="8B5C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g3e51979973e_7_0"/>
          <p:cNvSpPr/>
          <p:nvPr/>
        </p:nvSpPr>
        <p:spPr>
          <a:xfrm>
            <a:off x="4938452" y="4307226"/>
            <a:ext cx="3813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5CF6"/>
              </a:buClr>
              <a:buSzPts val="900"/>
              <a:buFont typeface="Calibri"/>
              <a:buNone/>
            </a:pPr>
            <a:r>
              <a:rPr b="1" i="0" lang="en-US" sz="1000" u="none" cap="none" strike="noStrike">
                <a:solidFill>
                  <a:srgbClr val="8B5CF6"/>
                </a:solidFill>
                <a:latin typeface="Calibri"/>
                <a:ea typeface="Calibri"/>
                <a:cs typeface="Calibri"/>
                <a:sym typeface="Calibri"/>
              </a:rPr>
              <a:t>LoRA Misconfiguration</a:t>
            </a:r>
            <a:endParaRPr b="0" i="0" sz="1000" u="none" cap="none" strike="noStrike">
              <a:solidFill>
                <a:schemeClr val="dk1"/>
              </a:solidFill>
              <a:latin typeface="Calibri"/>
              <a:ea typeface="Calibri"/>
              <a:cs typeface="Calibri"/>
              <a:sym typeface="Calibri"/>
            </a:endParaRPr>
          </a:p>
        </p:txBody>
      </p:sp>
      <p:sp>
        <p:nvSpPr>
          <p:cNvPr id="305" name="Google Shape;305;g3e51979973e_7_0"/>
          <p:cNvSpPr/>
          <p:nvPr/>
        </p:nvSpPr>
        <p:spPr>
          <a:xfrm>
            <a:off x="4938452" y="4489253"/>
            <a:ext cx="3813000" cy="2013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Clr>
                <a:srgbClr val="475569"/>
              </a:buClr>
              <a:buSzPts val="800"/>
              <a:buFont typeface="Calibri"/>
              <a:buNone/>
            </a:pPr>
            <a:r>
              <a:rPr b="0" i="0" lang="en-US" sz="900" u="none" cap="none" strike="noStrike">
                <a:solidFill>
                  <a:srgbClr val="1E293B"/>
                </a:solidFill>
                <a:latin typeface="Calibri"/>
                <a:ea typeface="Calibri"/>
                <a:cs typeface="Calibri"/>
                <a:sym typeface="Calibri"/>
              </a:rPr>
              <a:t>Suboptimal rank/alpha may have given the adapter insufficient capacity or destabilized training through excessive parameter updates.</a:t>
            </a:r>
            <a:endParaRPr b="0" i="0" sz="900" u="none" cap="none" strike="noStrike">
              <a:solidFill>
                <a:srgbClr val="1E293B"/>
              </a:solidFill>
              <a:latin typeface="Calibri"/>
              <a:ea typeface="Calibri"/>
              <a:cs typeface="Calibri"/>
              <a:sym typeface="Calibri"/>
            </a:endParaRPr>
          </a:p>
        </p:txBody>
      </p:sp>
      <p:sp>
        <p:nvSpPr>
          <p:cNvPr id="306" name="Google Shape;306;g3e51979973e_7_0"/>
          <p:cNvSpPr/>
          <p:nvPr/>
        </p:nvSpPr>
        <p:spPr>
          <a:xfrm>
            <a:off x="0" y="4956048"/>
            <a:ext cx="9144000" cy="182880"/>
          </a:xfrm>
          <a:prstGeom prst="rect">
            <a:avLst/>
          </a:prstGeom>
          <a:solidFill>
            <a:srgbClr val="1A2F5A"/>
          </a:solidFill>
          <a:ln cap="flat" cmpd="sng" w="12700">
            <a:solidFill>
              <a:srgbClr val="1A2F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g3e51979973e_7_0"/>
          <p:cNvSpPr/>
          <p:nvPr/>
        </p:nvSpPr>
        <p:spPr>
          <a:xfrm>
            <a:off x="365760" y="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Florence-2: Zero-shot Strength vs Fine-tuning </a:t>
            </a:r>
            <a:r>
              <a:rPr b="1" lang="en-US" sz="2200">
                <a:solidFill>
                  <a:srgbClr val="FFFFFF"/>
                </a:solidFill>
                <a:latin typeface="Calibri"/>
                <a:ea typeface="Calibri"/>
                <a:cs typeface="Calibri"/>
                <a:sym typeface="Calibri"/>
              </a:rPr>
              <a:t>Challenges</a:t>
            </a:r>
            <a:endParaRPr b="1" sz="2200">
              <a:solidFill>
                <a:srgbClr val="FFFFFF"/>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2" name="Shape 312"/>
        <p:cNvGrpSpPr/>
        <p:nvPr/>
      </p:nvGrpSpPr>
      <p:grpSpPr>
        <a:xfrm>
          <a:off x="0" y="0"/>
          <a:ext cx="0" cy="0"/>
          <a:chOff x="0" y="0"/>
          <a:chExt cx="0" cy="0"/>
        </a:xfrm>
      </p:grpSpPr>
      <p:sp>
        <p:nvSpPr>
          <p:cNvPr id="313" name="Google Shape;313;p9"/>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9"/>
          <p:cNvSpPr/>
          <p:nvPr/>
        </p:nvSpPr>
        <p:spPr>
          <a:xfrm>
            <a:off x="365760" y="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Pipeline TEDS by Image Type</a:t>
            </a:r>
            <a:endParaRPr sz="2200">
              <a:solidFill>
                <a:schemeClr val="dk1"/>
              </a:solidFill>
              <a:latin typeface="Calibri"/>
              <a:ea typeface="Calibri"/>
              <a:cs typeface="Calibri"/>
              <a:sym typeface="Calibri"/>
            </a:endParaRPr>
          </a:p>
        </p:txBody>
      </p:sp>
      <p:sp>
        <p:nvSpPr>
          <p:cNvPr id="315" name="Google Shape;315;p9"/>
          <p:cNvSpPr/>
          <p:nvPr/>
        </p:nvSpPr>
        <p:spPr>
          <a:xfrm>
            <a:off x="365760" y="4757011"/>
            <a:ext cx="8412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7A8C"/>
              </a:buClr>
              <a:buSzPts val="1000"/>
              <a:buFont typeface="Calibri"/>
              <a:buNone/>
            </a:pPr>
            <a:r>
              <a:rPr b="1" i="1" lang="en-US" sz="1000">
                <a:solidFill>
                  <a:srgbClr val="1B7A8C"/>
                </a:solidFill>
                <a:latin typeface="Calibri"/>
                <a:ea typeface="Calibri"/>
                <a:cs typeface="Calibri"/>
                <a:sym typeface="Calibri"/>
              </a:rPr>
              <a:t>SPARTAN leads on Low Contrast  |  ChatGPT collapses on Tall tables  |  LlamaParse most consistent</a:t>
            </a:r>
            <a:endParaRPr b="1" sz="1000">
              <a:solidFill>
                <a:schemeClr val="dk1"/>
              </a:solidFill>
              <a:latin typeface="Calibri"/>
              <a:ea typeface="Calibri"/>
              <a:cs typeface="Calibri"/>
              <a:sym typeface="Calibri"/>
            </a:endParaRPr>
          </a:p>
        </p:txBody>
      </p:sp>
      <p:pic>
        <p:nvPicPr>
          <p:cNvPr id="316" name="Google Shape;316;p9"/>
          <p:cNvPicPr preferRelativeResize="0"/>
          <p:nvPr/>
        </p:nvPicPr>
        <p:blipFill>
          <a:blip r:embed="rId4">
            <a:alphaModFix/>
          </a:blip>
          <a:stretch>
            <a:fillRect/>
          </a:stretch>
        </p:blipFill>
        <p:spPr>
          <a:xfrm>
            <a:off x="189039" y="923339"/>
            <a:ext cx="8789135" cy="367276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1" name="Shape 321"/>
        <p:cNvGrpSpPr/>
        <p:nvPr/>
      </p:nvGrpSpPr>
      <p:grpSpPr>
        <a:xfrm>
          <a:off x="0" y="0"/>
          <a:ext cx="0" cy="0"/>
          <a:chOff x="0" y="0"/>
          <a:chExt cx="0" cy="0"/>
        </a:xfrm>
      </p:grpSpPr>
      <p:sp>
        <p:nvSpPr>
          <p:cNvPr id="322" name="Google Shape;322;g3eb4a5d0e7e_0_128"/>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g3eb4a5d0e7e_0_128"/>
          <p:cNvSpPr/>
          <p:nvPr/>
        </p:nvSpPr>
        <p:spPr>
          <a:xfrm>
            <a:off x="365760" y="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UniTable: Structure and Fine Tune</a:t>
            </a:r>
            <a:endParaRPr sz="2200">
              <a:solidFill>
                <a:schemeClr val="dk1"/>
              </a:solidFill>
              <a:latin typeface="Calibri"/>
              <a:ea typeface="Calibri"/>
              <a:cs typeface="Calibri"/>
              <a:sym typeface="Calibri"/>
            </a:endParaRPr>
          </a:p>
        </p:txBody>
      </p:sp>
      <p:sp>
        <p:nvSpPr>
          <p:cNvPr id="324" name="Google Shape;324;g3eb4a5d0e7e_0_128"/>
          <p:cNvSpPr/>
          <p:nvPr/>
        </p:nvSpPr>
        <p:spPr>
          <a:xfrm>
            <a:off x="2446723" y="985050"/>
            <a:ext cx="1981500" cy="10059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g3eb4a5d0e7e_0_128"/>
          <p:cNvSpPr/>
          <p:nvPr/>
        </p:nvSpPr>
        <p:spPr>
          <a:xfrm>
            <a:off x="2446720" y="985048"/>
            <a:ext cx="640200" cy="1005900"/>
          </a:xfrm>
          <a:prstGeom prst="rect">
            <a:avLst/>
          </a:prstGeom>
          <a:solidFill>
            <a:srgbClr val="2AACE2"/>
          </a:solidFill>
          <a:ln cap="flat" cmpd="sng" w="12700">
            <a:solidFill>
              <a:srgbClr val="2AAC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g3eb4a5d0e7e_0_128"/>
          <p:cNvSpPr/>
          <p:nvPr/>
        </p:nvSpPr>
        <p:spPr>
          <a:xfrm>
            <a:off x="2446720" y="985048"/>
            <a:ext cx="6402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100"/>
              <a:buFont typeface="Calibri"/>
              <a:buNone/>
            </a:pPr>
            <a:r>
              <a:rPr b="1" lang="en-US" sz="1100">
                <a:solidFill>
                  <a:srgbClr val="0A2342"/>
                </a:solidFill>
                <a:latin typeface="Calibri"/>
                <a:ea typeface="Calibri"/>
                <a:cs typeface="Calibri"/>
                <a:sym typeface="Calibri"/>
              </a:rPr>
              <a:t>Pass 1</a:t>
            </a:r>
            <a:endParaRPr sz="1100">
              <a:solidFill>
                <a:schemeClr val="dk1"/>
              </a:solidFill>
              <a:latin typeface="Calibri"/>
              <a:ea typeface="Calibri"/>
              <a:cs typeface="Calibri"/>
              <a:sym typeface="Calibri"/>
            </a:endParaRPr>
          </a:p>
        </p:txBody>
      </p:sp>
      <p:sp>
        <p:nvSpPr>
          <p:cNvPr id="327" name="Google Shape;327;g3eb4a5d0e7e_0_128"/>
          <p:cNvSpPr/>
          <p:nvPr/>
        </p:nvSpPr>
        <p:spPr>
          <a:xfrm>
            <a:off x="3178256" y="1064759"/>
            <a:ext cx="1135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lang="en-US" sz="1200">
                <a:solidFill>
                  <a:srgbClr val="1E293B"/>
                </a:solidFill>
                <a:latin typeface="Calibri"/>
                <a:ea typeface="Calibri"/>
                <a:cs typeface="Calibri"/>
                <a:sym typeface="Calibri"/>
              </a:rPr>
              <a:t>Structure Model</a:t>
            </a:r>
            <a:endParaRPr sz="1200">
              <a:solidFill>
                <a:schemeClr val="dk1"/>
              </a:solidFill>
              <a:latin typeface="Calibri"/>
              <a:ea typeface="Calibri"/>
              <a:cs typeface="Calibri"/>
              <a:sym typeface="Calibri"/>
            </a:endParaRPr>
          </a:p>
        </p:txBody>
      </p:sp>
      <p:sp>
        <p:nvSpPr>
          <p:cNvPr id="328" name="Google Shape;328;g3eb4a5d0e7e_0_128"/>
          <p:cNvSpPr/>
          <p:nvPr/>
        </p:nvSpPr>
        <p:spPr>
          <a:xfrm>
            <a:off x="3178244" y="1405675"/>
            <a:ext cx="11355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HTML skeleton</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with [] placeholders</a:t>
            </a:r>
            <a:endParaRPr sz="1000">
              <a:solidFill>
                <a:schemeClr val="dk1"/>
              </a:solidFill>
              <a:latin typeface="Calibri"/>
              <a:ea typeface="Calibri"/>
              <a:cs typeface="Calibri"/>
              <a:sym typeface="Calibri"/>
            </a:endParaRPr>
          </a:p>
        </p:txBody>
      </p:sp>
      <p:grpSp>
        <p:nvGrpSpPr>
          <p:cNvPr id="329" name="Google Shape;329;g3eb4a5d0e7e_0_128"/>
          <p:cNvGrpSpPr/>
          <p:nvPr/>
        </p:nvGrpSpPr>
        <p:grpSpPr>
          <a:xfrm>
            <a:off x="4642920" y="985038"/>
            <a:ext cx="1981505" cy="1005912"/>
            <a:chOff x="4695095" y="804663"/>
            <a:chExt cx="1981505" cy="1005912"/>
          </a:xfrm>
        </p:grpSpPr>
        <p:sp>
          <p:nvSpPr>
            <p:cNvPr id="330" name="Google Shape;330;g3eb4a5d0e7e_0_128"/>
            <p:cNvSpPr/>
            <p:nvPr/>
          </p:nvSpPr>
          <p:spPr>
            <a:xfrm>
              <a:off x="4695100" y="804675"/>
              <a:ext cx="1981500" cy="10059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g3eb4a5d0e7e_0_128"/>
            <p:cNvSpPr/>
            <p:nvPr/>
          </p:nvSpPr>
          <p:spPr>
            <a:xfrm>
              <a:off x="4695095" y="804663"/>
              <a:ext cx="640200" cy="1005900"/>
            </a:xfrm>
            <a:prstGeom prst="rect">
              <a:avLst/>
            </a:prstGeom>
            <a:solidFill>
              <a:srgbClr val="4ECDC4"/>
            </a:solidFill>
            <a:ln cap="flat" cmpd="sng" w="12700">
              <a:solidFill>
                <a:srgbClr val="4ECD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g3eb4a5d0e7e_0_128"/>
            <p:cNvSpPr/>
            <p:nvPr/>
          </p:nvSpPr>
          <p:spPr>
            <a:xfrm>
              <a:off x="4695095" y="804663"/>
              <a:ext cx="6402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100"/>
                <a:buFont typeface="Calibri"/>
                <a:buNone/>
              </a:pPr>
              <a:r>
                <a:rPr b="1" lang="en-US" sz="1100">
                  <a:solidFill>
                    <a:srgbClr val="0A2342"/>
                  </a:solidFill>
                  <a:latin typeface="Calibri"/>
                  <a:ea typeface="Calibri"/>
                  <a:cs typeface="Calibri"/>
                  <a:sym typeface="Calibri"/>
                </a:rPr>
                <a:t>Pass 2</a:t>
              </a:r>
              <a:endParaRPr sz="1100">
                <a:solidFill>
                  <a:schemeClr val="dk1"/>
                </a:solidFill>
                <a:latin typeface="Calibri"/>
                <a:ea typeface="Calibri"/>
                <a:cs typeface="Calibri"/>
                <a:sym typeface="Calibri"/>
              </a:endParaRPr>
            </a:p>
          </p:txBody>
        </p:sp>
        <p:sp>
          <p:nvSpPr>
            <p:cNvPr id="333" name="Google Shape;333;g3eb4a5d0e7e_0_128"/>
            <p:cNvSpPr/>
            <p:nvPr/>
          </p:nvSpPr>
          <p:spPr>
            <a:xfrm>
              <a:off x="5426619" y="859525"/>
              <a:ext cx="1135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lang="en-US" sz="1200">
                  <a:solidFill>
                    <a:srgbClr val="1E293B"/>
                  </a:solidFill>
                  <a:latin typeface="Calibri"/>
                  <a:ea typeface="Calibri"/>
                  <a:cs typeface="Calibri"/>
                  <a:sym typeface="Calibri"/>
                </a:rPr>
                <a:t>BBox Model</a:t>
              </a:r>
              <a:endParaRPr sz="1200">
                <a:solidFill>
                  <a:schemeClr val="dk1"/>
                </a:solidFill>
                <a:latin typeface="Calibri"/>
                <a:ea typeface="Calibri"/>
                <a:cs typeface="Calibri"/>
                <a:sym typeface="Calibri"/>
              </a:endParaRPr>
            </a:p>
          </p:txBody>
        </p:sp>
        <p:sp>
          <p:nvSpPr>
            <p:cNvPr id="334" name="Google Shape;334;g3eb4a5d0e7e_0_128"/>
            <p:cNvSpPr/>
            <p:nvPr/>
          </p:nvSpPr>
          <p:spPr>
            <a:xfrm>
              <a:off x="5426619" y="1225275"/>
              <a:ext cx="11355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Cell coordinates</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[y1, x1, y2, x2]</a:t>
              </a:r>
              <a:endParaRPr sz="1000">
                <a:solidFill>
                  <a:schemeClr val="dk1"/>
                </a:solidFill>
                <a:latin typeface="Calibri"/>
                <a:ea typeface="Calibri"/>
                <a:cs typeface="Calibri"/>
                <a:sym typeface="Calibri"/>
              </a:endParaRPr>
            </a:p>
          </p:txBody>
        </p:sp>
      </p:grpSp>
      <p:grpSp>
        <p:nvGrpSpPr>
          <p:cNvPr id="335" name="Google Shape;335;g3eb4a5d0e7e_0_128"/>
          <p:cNvGrpSpPr/>
          <p:nvPr/>
        </p:nvGrpSpPr>
        <p:grpSpPr>
          <a:xfrm>
            <a:off x="6839120" y="985050"/>
            <a:ext cx="3840420" cy="1005903"/>
            <a:chOff x="4825470" y="3725225"/>
            <a:chExt cx="3840420" cy="1005903"/>
          </a:xfrm>
        </p:grpSpPr>
        <p:sp>
          <p:nvSpPr>
            <p:cNvPr id="336" name="Google Shape;336;g3eb4a5d0e7e_0_128"/>
            <p:cNvSpPr/>
            <p:nvPr/>
          </p:nvSpPr>
          <p:spPr>
            <a:xfrm>
              <a:off x="4825473" y="3725225"/>
              <a:ext cx="1981500" cy="10059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 name="Google Shape;337;g3eb4a5d0e7e_0_128"/>
            <p:cNvSpPr/>
            <p:nvPr/>
          </p:nvSpPr>
          <p:spPr>
            <a:xfrm>
              <a:off x="4825470" y="3725228"/>
              <a:ext cx="640200" cy="1005900"/>
            </a:xfrm>
            <a:prstGeom prst="rect">
              <a:avLst/>
            </a:prstGeom>
            <a:solidFill>
              <a:srgbClr val="F4A261"/>
            </a:solidFill>
            <a:ln cap="flat" cmpd="sng" w="12700">
              <a:solidFill>
                <a:srgbClr val="F4A2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 name="Google Shape;338;g3eb4a5d0e7e_0_128"/>
            <p:cNvSpPr/>
            <p:nvPr/>
          </p:nvSpPr>
          <p:spPr>
            <a:xfrm>
              <a:off x="4825470" y="3725228"/>
              <a:ext cx="6402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100"/>
                <a:buFont typeface="Calibri"/>
                <a:buNone/>
              </a:pPr>
              <a:r>
                <a:rPr b="1" lang="en-US" sz="1100">
                  <a:solidFill>
                    <a:srgbClr val="0A2342"/>
                  </a:solidFill>
                  <a:latin typeface="Calibri"/>
                  <a:ea typeface="Calibri"/>
                  <a:cs typeface="Calibri"/>
                  <a:sym typeface="Calibri"/>
                </a:rPr>
                <a:t>Pass 3</a:t>
              </a:r>
              <a:endParaRPr sz="1100">
                <a:solidFill>
                  <a:schemeClr val="dk1"/>
                </a:solidFill>
                <a:latin typeface="Calibri"/>
                <a:ea typeface="Calibri"/>
                <a:cs typeface="Calibri"/>
                <a:sym typeface="Calibri"/>
              </a:endParaRPr>
            </a:p>
          </p:txBody>
        </p:sp>
        <p:sp>
          <p:nvSpPr>
            <p:cNvPr id="339" name="Google Shape;339;g3eb4a5d0e7e_0_128"/>
            <p:cNvSpPr/>
            <p:nvPr/>
          </p:nvSpPr>
          <p:spPr>
            <a:xfrm>
              <a:off x="5556990" y="3780092"/>
              <a:ext cx="31089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lang="en-US" sz="1200">
                  <a:solidFill>
                    <a:srgbClr val="1E293B"/>
                  </a:solidFill>
                  <a:latin typeface="Calibri"/>
                  <a:ea typeface="Calibri"/>
                  <a:cs typeface="Calibri"/>
                  <a:sym typeface="Calibri"/>
                </a:rPr>
                <a:t>Content Model</a:t>
              </a:r>
              <a:endParaRPr sz="1200">
                <a:solidFill>
                  <a:schemeClr val="dk1"/>
                </a:solidFill>
                <a:latin typeface="Calibri"/>
                <a:ea typeface="Calibri"/>
                <a:cs typeface="Calibri"/>
                <a:sym typeface="Calibri"/>
              </a:endParaRPr>
            </a:p>
          </p:txBody>
        </p:sp>
        <p:sp>
          <p:nvSpPr>
            <p:cNvPr id="340" name="Google Shape;340;g3eb4a5d0e7e_0_128"/>
            <p:cNvSpPr/>
            <p:nvPr/>
          </p:nvSpPr>
          <p:spPr>
            <a:xfrm>
              <a:off x="5556994" y="4145850"/>
              <a:ext cx="11355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OCR fills</a:t>
              </a:r>
              <a:endParaRPr sz="1000">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placeholders</a:t>
              </a:r>
              <a:endParaRPr sz="1000">
                <a:solidFill>
                  <a:schemeClr val="dk1"/>
                </a:solidFill>
                <a:latin typeface="Calibri"/>
                <a:ea typeface="Calibri"/>
                <a:cs typeface="Calibri"/>
                <a:sym typeface="Calibri"/>
              </a:endParaRPr>
            </a:p>
          </p:txBody>
        </p:sp>
      </p:grpSp>
      <p:sp>
        <p:nvSpPr>
          <p:cNvPr id="341" name="Google Shape;341;g3eb4a5d0e7e_0_128"/>
          <p:cNvSpPr/>
          <p:nvPr/>
        </p:nvSpPr>
        <p:spPr>
          <a:xfrm>
            <a:off x="239025" y="985050"/>
            <a:ext cx="1893900" cy="3618000"/>
          </a:xfrm>
          <a:prstGeom prst="rect">
            <a:avLst/>
          </a:prstGeom>
          <a:solidFill>
            <a:srgbClr val="FFFFFF"/>
          </a:solidFill>
          <a:ln cap="flat" cmpd="sng" w="12700">
            <a:solidFill>
              <a:srgbClr val="DDE3F0"/>
            </a:solidFill>
            <a:prstDash val="solid"/>
            <a:round/>
            <a:headEnd len="sm" w="sm" type="none"/>
            <a:tailEnd len="sm" w="sm" type="none"/>
          </a:ln>
          <a:effectLst>
            <a:outerShdw blurRad="50800" rotWithShape="0" algn="bl" dir="8100000" dist="12700">
              <a:srgbClr val="000000">
                <a:alpha val="588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g3eb4a5d0e7e_0_128"/>
          <p:cNvSpPr/>
          <p:nvPr/>
        </p:nvSpPr>
        <p:spPr>
          <a:xfrm>
            <a:off x="376185" y="1072104"/>
            <a:ext cx="411600" cy="411600"/>
          </a:xfrm>
          <a:prstGeom prst="ellipse">
            <a:avLst/>
          </a:prstGeom>
          <a:solidFill>
            <a:srgbClr val="E0F9FF"/>
          </a:solidFill>
          <a:ln cap="flat" cmpd="sng" w="12700">
            <a:solidFill>
              <a:srgbClr val="E0F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3" name="Google Shape;343;g3eb4a5d0e7e_0_128"/>
          <p:cNvPicPr preferRelativeResize="0"/>
          <p:nvPr/>
        </p:nvPicPr>
        <p:blipFill rotWithShape="1">
          <a:blip r:embed="rId3">
            <a:alphaModFix/>
          </a:blip>
          <a:srcRect b="0" l="0" r="0" t="0"/>
          <a:stretch/>
        </p:blipFill>
        <p:spPr>
          <a:xfrm>
            <a:off x="412761" y="1094238"/>
            <a:ext cx="338328" cy="338328"/>
          </a:xfrm>
          <a:prstGeom prst="rect">
            <a:avLst/>
          </a:prstGeom>
          <a:noFill/>
          <a:ln>
            <a:noFill/>
          </a:ln>
        </p:spPr>
      </p:pic>
      <p:sp>
        <p:nvSpPr>
          <p:cNvPr id="344" name="Google Shape;344;g3eb4a5d0e7e_0_128"/>
          <p:cNvSpPr/>
          <p:nvPr/>
        </p:nvSpPr>
        <p:spPr>
          <a:xfrm>
            <a:off x="879103" y="1113075"/>
            <a:ext cx="1188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Fine-tuning Setup</a:t>
            </a:r>
            <a:endParaRPr b="0" i="0" sz="1200" u="none" cap="none" strike="noStrike">
              <a:solidFill>
                <a:schemeClr val="dk1"/>
              </a:solidFill>
              <a:latin typeface="Calibri"/>
              <a:ea typeface="Calibri"/>
              <a:cs typeface="Calibri"/>
              <a:sym typeface="Calibri"/>
            </a:endParaRPr>
          </a:p>
        </p:txBody>
      </p:sp>
      <p:cxnSp>
        <p:nvCxnSpPr>
          <p:cNvPr id="345" name="Google Shape;345;g3eb4a5d0e7e_0_128"/>
          <p:cNvCxnSpPr/>
          <p:nvPr/>
        </p:nvCxnSpPr>
        <p:spPr>
          <a:xfrm>
            <a:off x="376185" y="1551975"/>
            <a:ext cx="1652400" cy="4800"/>
          </a:xfrm>
          <a:prstGeom prst="straightConnector1">
            <a:avLst/>
          </a:prstGeom>
          <a:noFill/>
          <a:ln cap="flat" cmpd="sng" w="12700">
            <a:solidFill>
              <a:srgbClr val="E2E8F0"/>
            </a:solidFill>
            <a:prstDash val="solid"/>
            <a:round/>
            <a:headEnd len="sm" w="sm" type="none"/>
            <a:tailEnd len="sm" w="sm" type="none"/>
          </a:ln>
        </p:spPr>
      </p:cxnSp>
      <p:grpSp>
        <p:nvGrpSpPr>
          <p:cNvPr id="346" name="Google Shape;346;g3eb4a5d0e7e_0_128"/>
          <p:cNvGrpSpPr/>
          <p:nvPr/>
        </p:nvGrpSpPr>
        <p:grpSpPr>
          <a:xfrm>
            <a:off x="608085" y="1676165"/>
            <a:ext cx="1188600" cy="621900"/>
            <a:chOff x="365760" y="1463040"/>
            <a:chExt cx="1188600" cy="621900"/>
          </a:xfrm>
        </p:grpSpPr>
        <p:sp>
          <p:nvSpPr>
            <p:cNvPr id="347" name="Google Shape;347;g3eb4a5d0e7e_0_128"/>
            <p:cNvSpPr/>
            <p:nvPr/>
          </p:nvSpPr>
          <p:spPr>
            <a:xfrm>
              <a:off x="365760" y="1463040"/>
              <a:ext cx="1188600" cy="621900"/>
            </a:xfrm>
            <a:prstGeom prst="rect">
              <a:avLst/>
            </a:prstGeom>
            <a:solidFill>
              <a:srgbClr val="F0F6FA"/>
            </a:solidFill>
            <a:ln cap="flat" cmpd="sng" w="19050">
              <a:solidFill>
                <a:srgbClr val="BFDB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g3eb4a5d0e7e_0_128"/>
            <p:cNvSpPr/>
            <p:nvPr/>
          </p:nvSpPr>
          <p:spPr>
            <a:xfrm>
              <a:off x="365760" y="1499616"/>
              <a:ext cx="1188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82F6"/>
                </a:buClr>
                <a:buSzPts val="1600"/>
                <a:buFont typeface="Calibri"/>
                <a:buNone/>
              </a:pPr>
              <a:r>
                <a:rPr b="1" i="0" lang="en-US" sz="1600" u="none" cap="none" strike="noStrike">
                  <a:solidFill>
                    <a:srgbClr val="3B82F6"/>
                  </a:solidFill>
                  <a:latin typeface="Calibri"/>
                  <a:ea typeface="Calibri"/>
                  <a:cs typeface="Calibri"/>
                  <a:sym typeface="Calibri"/>
                </a:rPr>
                <a:t>AdamW</a:t>
              </a:r>
              <a:endParaRPr b="0" i="0" sz="1600" u="none" cap="none" strike="noStrike">
                <a:solidFill>
                  <a:schemeClr val="dk1"/>
                </a:solidFill>
                <a:latin typeface="Calibri"/>
                <a:ea typeface="Calibri"/>
                <a:cs typeface="Calibri"/>
                <a:sym typeface="Calibri"/>
              </a:endParaRPr>
            </a:p>
          </p:txBody>
        </p:sp>
        <p:sp>
          <p:nvSpPr>
            <p:cNvPr id="349" name="Google Shape;349;g3eb4a5d0e7e_0_128"/>
            <p:cNvSpPr/>
            <p:nvPr/>
          </p:nvSpPr>
          <p:spPr>
            <a:xfrm>
              <a:off x="365760" y="1847088"/>
              <a:ext cx="11886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850"/>
                <a:buFont typeface="Calibri"/>
                <a:buNone/>
              </a:pPr>
              <a:r>
                <a:rPr b="0" i="0" lang="en-US" sz="950" u="none" cap="none" strike="noStrike">
                  <a:solidFill>
                    <a:srgbClr val="1E293B"/>
                  </a:solidFill>
                  <a:latin typeface="Calibri"/>
                  <a:ea typeface="Calibri"/>
                  <a:cs typeface="Calibri"/>
                  <a:sym typeface="Calibri"/>
                </a:rPr>
                <a:t>Optimizer</a:t>
              </a:r>
              <a:endParaRPr b="0" i="0" sz="950" u="none" cap="none" strike="noStrike">
                <a:solidFill>
                  <a:srgbClr val="1E293B"/>
                </a:solidFill>
                <a:latin typeface="Calibri"/>
                <a:ea typeface="Calibri"/>
                <a:cs typeface="Calibri"/>
                <a:sym typeface="Calibri"/>
              </a:endParaRPr>
            </a:p>
          </p:txBody>
        </p:sp>
      </p:grpSp>
      <p:grpSp>
        <p:nvGrpSpPr>
          <p:cNvPr id="350" name="Google Shape;350;g3eb4a5d0e7e_0_128"/>
          <p:cNvGrpSpPr/>
          <p:nvPr/>
        </p:nvGrpSpPr>
        <p:grpSpPr>
          <a:xfrm>
            <a:off x="608083" y="2389515"/>
            <a:ext cx="1188600" cy="621900"/>
            <a:chOff x="1664208" y="1463040"/>
            <a:chExt cx="1188600" cy="621900"/>
          </a:xfrm>
        </p:grpSpPr>
        <p:sp>
          <p:nvSpPr>
            <p:cNvPr id="351" name="Google Shape;351;g3eb4a5d0e7e_0_128"/>
            <p:cNvSpPr/>
            <p:nvPr/>
          </p:nvSpPr>
          <p:spPr>
            <a:xfrm>
              <a:off x="1664208" y="1463040"/>
              <a:ext cx="1188600" cy="621900"/>
            </a:xfrm>
            <a:prstGeom prst="rect">
              <a:avLst/>
            </a:prstGeom>
            <a:solidFill>
              <a:srgbClr val="F0F6FA"/>
            </a:solidFill>
            <a:ln cap="flat" cmpd="sng" w="19050">
              <a:solidFill>
                <a:srgbClr val="FCD34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g3eb4a5d0e7e_0_128"/>
            <p:cNvSpPr/>
            <p:nvPr/>
          </p:nvSpPr>
          <p:spPr>
            <a:xfrm>
              <a:off x="1664208" y="1499616"/>
              <a:ext cx="1188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9E0B"/>
                </a:buClr>
                <a:buSzPts val="1600"/>
                <a:buFont typeface="Calibri"/>
                <a:buNone/>
              </a:pPr>
              <a:r>
                <a:rPr b="1" lang="en-US" sz="1600">
                  <a:solidFill>
                    <a:srgbClr val="F59E0B"/>
                  </a:solidFill>
                  <a:latin typeface="Calibri"/>
                  <a:ea typeface="Calibri"/>
                  <a:cs typeface="Calibri"/>
                  <a:sym typeface="Calibri"/>
                </a:rPr>
                <a:t>5</a:t>
              </a:r>
              <a:r>
                <a:rPr b="1" i="0" lang="en-US" sz="1600" u="none" cap="none" strike="noStrike">
                  <a:solidFill>
                    <a:srgbClr val="F59E0B"/>
                  </a:solidFill>
                  <a:latin typeface="Calibri"/>
                  <a:ea typeface="Calibri"/>
                  <a:cs typeface="Calibri"/>
                  <a:sym typeface="Calibri"/>
                </a:rPr>
                <a:t>e-</a:t>
              </a:r>
              <a:r>
                <a:rPr b="1" lang="en-US" sz="1600">
                  <a:solidFill>
                    <a:srgbClr val="F59E0B"/>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353" name="Google Shape;353;g3eb4a5d0e7e_0_128"/>
            <p:cNvSpPr/>
            <p:nvPr/>
          </p:nvSpPr>
          <p:spPr>
            <a:xfrm>
              <a:off x="1664208" y="1847088"/>
              <a:ext cx="11886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850"/>
                <a:buFont typeface="Calibri"/>
                <a:buNone/>
              </a:pPr>
              <a:r>
                <a:rPr b="0" i="0" lang="en-US" sz="950" u="none" cap="none" strike="noStrike">
                  <a:solidFill>
                    <a:srgbClr val="1E293B"/>
                  </a:solidFill>
                  <a:latin typeface="Calibri"/>
                  <a:ea typeface="Calibri"/>
                  <a:cs typeface="Calibri"/>
                  <a:sym typeface="Calibri"/>
                </a:rPr>
                <a:t>LR</a:t>
              </a:r>
              <a:endParaRPr b="0" i="0" sz="950" u="none" cap="none" strike="noStrike">
                <a:solidFill>
                  <a:srgbClr val="1E293B"/>
                </a:solidFill>
                <a:latin typeface="Calibri"/>
                <a:ea typeface="Calibri"/>
                <a:cs typeface="Calibri"/>
                <a:sym typeface="Calibri"/>
              </a:endParaRPr>
            </a:p>
          </p:txBody>
        </p:sp>
      </p:grpSp>
      <p:grpSp>
        <p:nvGrpSpPr>
          <p:cNvPr id="354" name="Google Shape;354;g3eb4a5d0e7e_0_128"/>
          <p:cNvGrpSpPr/>
          <p:nvPr/>
        </p:nvGrpSpPr>
        <p:grpSpPr>
          <a:xfrm>
            <a:off x="608081" y="3102865"/>
            <a:ext cx="1188600" cy="621900"/>
            <a:chOff x="2962656" y="1463040"/>
            <a:chExt cx="1188600" cy="621900"/>
          </a:xfrm>
        </p:grpSpPr>
        <p:sp>
          <p:nvSpPr>
            <p:cNvPr id="355" name="Google Shape;355;g3eb4a5d0e7e_0_128"/>
            <p:cNvSpPr/>
            <p:nvPr/>
          </p:nvSpPr>
          <p:spPr>
            <a:xfrm>
              <a:off x="2962656" y="1463040"/>
              <a:ext cx="1188600" cy="621900"/>
            </a:xfrm>
            <a:prstGeom prst="rect">
              <a:avLst/>
            </a:prstGeom>
            <a:solidFill>
              <a:srgbClr val="F0F6FA"/>
            </a:solidFill>
            <a:ln cap="flat" cmpd="sng" w="19050">
              <a:solidFill>
                <a:srgbClr val="DDD6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g3eb4a5d0e7e_0_128"/>
            <p:cNvSpPr/>
            <p:nvPr/>
          </p:nvSpPr>
          <p:spPr>
            <a:xfrm>
              <a:off x="2962656" y="1499616"/>
              <a:ext cx="1188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5CF6"/>
                </a:buClr>
                <a:buSzPts val="1600"/>
                <a:buFont typeface="Calibri"/>
                <a:buNone/>
              </a:pPr>
              <a:r>
                <a:rPr b="1" i="0" lang="en-US" sz="1600" u="none" cap="none" strike="noStrike">
                  <a:solidFill>
                    <a:srgbClr val="8B5CF6"/>
                  </a:solidFill>
                  <a:latin typeface="Calibri"/>
                  <a:ea typeface="Calibri"/>
                  <a:cs typeface="Calibri"/>
                  <a:sym typeface="Calibri"/>
                </a:rPr>
                <a:t>LoRA</a:t>
              </a:r>
              <a:endParaRPr b="0" i="0" sz="1600" u="none" cap="none" strike="noStrike">
                <a:solidFill>
                  <a:schemeClr val="dk1"/>
                </a:solidFill>
                <a:latin typeface="Calibri"/>
                <a:ea typeface="Calibri"/>
                <a:cs typeface="Calibri"/>
                <a:sym typeface="Calibri"/>
              </a:endParaRPr>
            </a:p>
          </p:txBody>
        </p:sp>
        <p:sp>
          <p:nvSpPr>
            <p:cNvPr id="357" name="Google Shape;357;g3eb4a5d0e7e_0_128"/>
            <p:cNvSpPr/>
            <p:nvPr/>
          </p:nvSpPr>
          <p:spPr>
            <a:xfrm>
              <a:off x="2962656" y="1847088"/>
              <a:ext cx="11886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850"/>
                <a:buFont typeface="Calibri"/>
                <a:buNone/>
              </a:pPr>
              <a:r>
                <a:rPr b="0" i="0" lang="en-US" sz="950" u="none" cap="none" strike="noStrike">
                  <a:solidFill>
                    <a:srgbClr val="1E293B"/>
                  </a:solidFill>
                  <a:latin typeface="Calibri"/>
                  <a:ea typeface="Calibri"/>
                  <a:cs typeface="Calibri"/>
                  <a:sym typeface="Calibri"/>
                </a:rPr>
                <a:t>Method</a:t>
              </a:r>
              <a:endParaRPr b="0" i="0" sz="950" u="none" cap="none" strike="noStrike">
                <a:solidFill>
                  <a:srgbClr val="1E293B"/>
                </a:solidFill>
                <a:latin typeface="Calibri"/>
                <a:ea typeface="Calibri"/>
                <a:cs typeface="Calibri"/>
                <a:sym typeface="Calibri"/>
              </a:endParaRPr>
            </a:p>
          </p:txBody>
        </p:sp>
      </p:grpSp>
      <p:grpSp>
        <p:nvGrpSpPr>
          <p:cNvPr id="358" name="Google Shape;358;g3eb4a5d0e7e_0_128"/>
          <p:cNvGrpSpPr/>
          <p:nvPr/>
        </p:nvGrpSpPr>
        <p:grpSpPr>
          <a:xfrm>
            <a:off x="608081" y="3816215"/>
            <a:ext cx="1188600" cy="621900"/>
            <a:chOff x="2962656" y="1463040"/>
            <a:chExt cx="1188600" cy="621900"/>
          </a:xfrm>
        </p:grpSpPr>
        <p:sp>
          <p:nvSpPr>
            <p:cNvPr id="359" name="Google Shape;359;g3eb4a5d0e7e_0_128"/>
            <p:cNvSpPr/>
            <p:nvPr/>
          </p:nvSpPr>
          <p:spPr>
            <a:xfrm>
              <a:off x="2962656" y="1463040"/>
              <a:ext cx="1188600" cy="621900"/>
            </a:xfrm>
            <a:prstGeom prst="rect">
              <a:avLst/>
            </a:prstGeom>
            <a:solidFill>
              <a:srgbClr val="F0F6FA"/>
            </a:solidFill>
            <a:ln cap="flat" cmpd="sng" w="19050">
              <a:solidFill>
                <a:srgbClr val="DDD6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g3eb4a5d0e7e_0_128"/>
            <p:cNvSpPr/>
            <p:nvPr/>
          </p:nvSpPr>
          <p:spPr>
            <a:xfrm>
              <a:off x="2962656" y="1499616"/>
              <a:ext cx="11886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5CF6"/>
                </a:buClr>
                <a:buSzPts val="1600"/>
                <a:buFont typeface="Calibri"/>
                <a:buNone/>
              </a:pPr>
              <a:r>
                <a:rPr b="1" lang="en-US" sz="1600">
                  <a:solidFill>
                    <a:srgbClr val="E06666"/>
                  </a:solidFill>
                  <a:latin typeface="Calibri"/>
                  <a:ea typeface="Calibri"/>
                  <a:cs typeface="Calibri"/>
                  <a:sym typeface="Calibri"/>
                </a:rPr>
                <a:t>3</a:t>
              </a:r>
              <a:endParaRPr b="0" i="0" sz="1600" u="none" cap="none" strike="noStrike">
                <a:solidFill>
                  <a:srgbClr val="E06666"/>
                </a:solidFill>
                <a:latin typeface="Calibri"/>
                <a:ea typeface="Calibri"/>
                <a:cs typeface="Calibri"/>
                <a:sym typeface="Calibri"/>
              </a:endParaRPr>
            </a:p>
          </p:txBody>
        </p:sp>
        <p:sp>
          <p:nvSpPr>
            <p:cNvPr id="361" name="Google Shape;361;g3eb4a5d0e7e_0_128"/>
            <p:cNvSpPr/>
            <p:nvPr/>
          </p:nvSpPr>
          <p:spPr>
            <a:xfrm>
              <a:off x="2962656" y="1847088"/>
              <a:ext cx="1188600" cy="183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75569"/>
                </a:buClr>
                <a:buSzPts val="850"/>
                <a:buFont typeface="Calibri"/>
                <a:buNone/>
              </a:pPr>
              <a:r>
                <a:rPr lang="en-US" sz="950">
                  <a:solidFill>
                    <a:srgbClr val="1E293B"/>
                  </a:solidFill>
                  <a:latin typeface="Calibri"/>
                  <a:ea typeface="Calibri"/>
                  <a:cs typeface="Calibri"/>
                  <a:sym typeface="Calibri"/>
                </a:rPr>
                <a:t>Epoch</a:t>
              </a:r>
              <a:endParaRPr b="0" i="0" sz="950" u="none" cap="none" strike="noStrike">
                <a:solidFill>
                  <a:srgbClr val="1E293B"/>
                </a:solidFill>
                <a:latin typeface="Calibri"/>
                <a:ea typeface="Calibri"/>
                <a:cs typeface="Calibri"/>
                <a:sym typeface="Calibri"/>
              </a:endParaRPr>
            </a:p>
          </p:txBody>
        </p:sp>
      </p:grpSp>
      <p:pic>
        <p:nvPicPr>
          <p:cNvPr id="362" name="Google Shape;362;g3eb4a5d0e7e_0_128"/>
          <p:cNvPicPr preferRelativeResize="0"/>
          <p:nvPr/>
        </p:nvPicPr>
        <p:blipFill>
          <a:blip r:embed="rId4">
            <a:alphaModFix/>
          </a:blip>
          <a:stretch>
            <a:fillRect/>
          </a:stretch>
        </p:blipFill>
        <p:spPr>
          <a:xfrm>
            <a:off x="2390550" y="2186401"/>
            <a:ext cx="4503929" cy="2454850"/>
          </a:xfrm>
          <a:prstGeom prst="rect">
            <a:avLst/>
          </a:prstGeom>
          <a:noFill/>
          <a:ln>
            <a:noFill/>
          </a:ln>
        </p:spPr>
      </p:pic>
      <p:sp>
        <p:nvSpPr>
          <p:cNvPr id="363" name="Google Shape;363;g3eb4a5d0e7e_0_128"/>
          <p:cNvSpPr txBox="1"/>
          <p:nvPr/>
        </p:nvSpPr>
        <p:spPr>
          <a:xfrm>
            <a:off x="7067825" y="2325650"/>
            <a:ext cx="1752900" cy="227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Vector Quantized -Variational Autoencoder (</a:t>
            </a:r>
            <a:r>
              <a:rPr lang="en-US"/>
              <a:t>VQVAE):</a:t>
            </a:r>
            <a:endParaRPr/>
          </a:p>
          <a:p>
            <a:pPr indent="0" lvl="0" marL="0" rtl="0" algn="l">
              <a:spcBef>
                <a:spcPts val="0"/>
              </a:spcBef>
              <a:spcAft>
                <a:spcPts val="0"/>
              </a:spcAft>
              <a:buNone/>
            </a:pPr>
            <a:r>
              <a:rPr lang="en-US"/>
              <a:t>Original Embedding s compared to codebook to make the </a:t>
            </a:r>
            <a:r>
              <a:rPr lang="en-US"/>
              <a:t>quantized</a:t>
            </a:r>
            <a:r>
              <a:rPr lang="en-US"/>
              <a:t> loss minimum.</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8" name="Shape 368"/>
        <p:cNvGrpSpPr/>
        <p:nvPr/>
      </p:nvGrpSpPr>
      <p:grpSpPr>
        <a:xfrm>
          <a:off x="0" y="0"/>
          <a:ext cx="0" cy="0"/>
          <a:chOff x="0" y="0"/>
          <a:chExt cx="0" cy="0"/>
        </a:xfrm>
      </p:grpSpPr>
      <p:sp>
        <p:nvSpPr>
          <p:cNvPr id="369" name="Google Shape;369;g3eb4a5d0e7e_0_0"/>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g3eb4a5d0e7e_0_0"/>
          <p:cNvSpPr/>
          <p:nvPr/>
        </p:nvSpPr>
        <p:spPr>
          <a:xfrm>
            <a:off x="365760" y="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UniTable: Result</a:t>
            </a:r>
            <a:endParaRPr sz="2200">
              <a:solidFill>
                <a:schemeClr val="dk1"/>
              </a:solidFill>
              <a:latin typeface="Calibri"/>
              <a:ea typeface="Calibri"/>
              <a:cs typeface="Calibri"/>
              <a:sym typeface="Calibri"/>
            </a:endParaRPr>
          </a:p>
        </p:txBody>
      </p:sp>
      <p:pic>
        <p:nvPicPr>
          <p:cNvPr id="371" name="Google Shape;371;g3eb4a5d0e7e_0_0"/>
          <p:cNvPicPr preferRelativeResize="0"/>
          <p:nvPr/>
        </p:nvPicPr>
        <p:blipFill rotWithShape="1">
          <a:blip r:embed="rId3">
            <a:alphaModFix/>
          </a:blip>
          <a:srcRect b="0" l="0" r="0" t="0"/>
          <a:stretch/>
        </p:blipFill>
        <p:spPr>
          <a:xfrm>
            <a:off x="365760" y="1058355"/>
            <a:ext cx="4114800" cy="3200400"/>
          </a:xfrm>
          <a:prstGeom prst="rect">
            <a:avLst/>
          </a:prstGeom>
          <a:noFill/>
          <a:ln>
            <a:noFill/>
          </a:ln>
        </p:spPr>
      </p:pic>
      <p:sp>
        <p:nvSpPr>
          <p:cNvPr id="372" name="Google Shape;372;g3eb4a5d0e7e_0_0"/>
          <p:cNvSpPr/>
          <p:nvPr/>
        </p:nvSpPr>
        <p:spPr>
          <a:xfrm>
            <a:off x="4764500" y="1058350"/>
            <a:ext cx="3906000" cy="3200400"/>
          </a:xfrm>
          <a:prstGeom prst="rect">
            <a:avLst/>
          </a:prstGeom>
          <a:solidFill>
            <a:srgbClr val="FFF3CD"/>
          </a:solidFill>
          <a:ln cap="flat" cmpd="sng" w="12700">
            <a:solidFill>
              <a:srgbClr val="F4A2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g3eb4a5d0e7e_0_0"/>
          <p:cNvSpPr/>
          <p:nvPr/>
        </p:nvSpPr>
        <p:spPr>
          <a:xfrm>
            <a:off x="4877000" y="1217875"/>
            <a:ext cx="3672300" cy="29232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1E293B"/>
              </a:buClr>
              <a:buSzPts val="1100"/>
              <a:buFont typeface="Calibri"/>
              <a:buNone/>
            </a:pPr>
            <a:r>
              <a:rPr b="1" lang="en-US" sz="1800">
                <a:solidFill>
                  <a:srgbClr val="1E293B"/>
                </a:solidFill>
                <a:latin typeface="Calibri"/>
                <a:ea typeface="Calibri"/>
                <a:cs typeface="Calibri"/>
                <a:sym typeface="Calibri"/>
              </a:rPr>
              <a:t>Root Cause: </a:t>
            </a:r>
            <a:endParaRPr b="1" sz="1800">
              <a:solidFill>
                <a:srgbClr val="1E293B"/>
              </a:solidFill>
              <a:latin typeface="Calibri"/>
              <a:ea typeface="Calibri"/>
              <a:cs typeface="Calibri"/>
              <a:sym typeface="Calibri"/>
            </a:endParaRPr>
          </a:p>
          <a:p>
            <a:pPr indent="0" lvl="0" marL="0" marR="0" rtl="0" algn="l">
              <a:lnSpc>
                <a:spcPct val="150000"/>
              </a:lnSpc>
              <a:spcBef>
                <a:spcPts val="0"/>
              </a:spcBef>
              <a:spcAft>
                <a:spcPts val="0"/>
              </a:spcAft>
              <a:buClr>
                <a:srgbClr val="1E293B"/>
              </a:buClr>
              <a:buSzPts val="1100"/>
              <a:buFont typeface="Calibri"/>
              <a:buNone/>
            </a:pPr>
            <a:r>
              <a:rPr lang="en-US">
                <a:solidFill>
                  <a:srgbClr val="1E293B"/>
                </a:solidFill>
                <a:latin typeface="Calibri"/>
                <a:ea typeface="Calibri"/>
                <a:cs typeface="Calibri"/>
                <a:sym typeface="Calibri"/>
              </a:rPr>
              <a:t>Cascading errors — a single mispredicted structural token shifts every downstream cell. </a:t>
            </a:r>
            <a:endParaRPr>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8" name="Shape 378"/>
        <p:cNvGrpSpPr/>
        <p:nvPr/>
      </p:nvGrpSpPr>
      <p:grpSpPr>
        <a:xfrm>
          <a:off x="0" y="0"/>
          <a:ext cx="0" cy="0"/>
          <a:chOff x="0" y="0"/>
          <a:chExt cx="0" cy="0"/>
        </a:xfrm>
      </p:grpSpPr>
      <p:sp>
        <p:nvSpPr>
          <p:cNvPr id="379" name="Google Shape;379;p11"/>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11"/>
          <p:cNvSpPr/>
          <p:nvPr/>
        </p:nvSpPr>
        <p:spPr>
          <a:xfrm>
            <a:off x="365760" y="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SPARTAN: The Heuristic Surprise</a:t>
            </a:r>
            <a:endParaRPr sz="2200">
              <a:solidFill>
                <a:schemeClr val="dk1"/>
              </a:solidFill>
              <a:latin typeface="Calibri"/>
              <a:ea typeface="Calibri"/>
              <a:cs typeface="Calibri"/>
              <a:sym typeface="Calibri"/>
            </a:endParaRPr>
          </a:p>
        </p:txBody>
      </p:sp>
      <p:sp>
        <p:nvSpPr>
          <p:cNvPr id="381" name="Google Shape;381;p11"/>
          <p:cNvSpPr/>
          <p:nvPr/>
        </p:nvSpPr>
        <p:spPr>
          <a:xfrm>
            <a:off x="627294" y="914400"/>
            <a:ext cx="2286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lang="en-US">
                <a:solidFill>
                  <a:srgbClr val="1E293B"/>
                </a:solidFill>
                <a:latin typeface="Calibri"/>
                <a:ea typeface="Calibri"/>
                <a:cs typeface="Calibri"/>
                <a:sym typeface="Calibri"/>
              </a:rPr>
              <a:t>Skeleton TEDS</a:t>
            </a:r>
            <a:endParaRPr>
              <a:solidFill>
                <a:schemeClr val="dk1"/>
              </a:solidFill>
              <a:latin typeface="Calibri"/>
              <a:ea typeface="Calibri"/>
              <a:cs typeface="Calibri"/>
              <a:sym typeface="Calibri"/>
            </a:endParaRPr>
          </a:p>
        </p:txBody>
      </p:sp>
      <p:sp>
        <p:nvSpPr>
          <p:cNvPr id="382" name="Google Shape;382;p11"/>
          <p:cNvSpPr/>
          <p:nvPr/>
        </p:nvSpPr>
        <p:spPr>
          <a:xfrm>
            <a:off x="627294" y="1261872"/>
            <a:ext cx="1005900" cy="594300"/>
          </a:xfrm>
          <a:prstGeom prst="rect">
            <a:avLst/>
          </a:prstGeom>
          <a:solidFill>
            <a:srgbClr val="2AACE2"/>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11"/>
          <p:cNvSpPr/>
          <p:nvPr/>
        </p:nvSpPr>
        <p:spPr>
          <a:xfrm>
            <a:off x="627294" y="1261872"/>
            <a:ext cx="1005900" cy="59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100"/>
              <a:buFont typeface="Calibri"/>
              <a:buNone/>
            </a:pPr>
            <a:r>
              <a:rPr b="1" lang="en-US" sz="1100">
                <a:solidFill>
                  <a:srgbClr val="0A2342"/>
                </a:solidFill>
                <a:latin typeface="Calibri"/>
                <a:ea typeface="Calibri"/>
                <a:cs typeface="Calibri"/>
                <a:sym typeface="Calibri"/>
              </a:rPr>
              <a:t>UniTable</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0A2342"/>
              </a:buClr>
              <a:buSzPts val="1100"/>
              <a:buFont typeface="Calibri"/>
              <a:buNone/>
            </a:pPr>
            <a:r>
              <a:rPr b="1" lang="en-US" sz="1100">
                <a:solidFill>
                  <a:srgbClr val="0A2342"/>
                </a:solidFill>
                <a:latin typeface="Calibri"/>
                <a:ea typeface="Calibri"/>
                <a:cs typeface="Calibri"/>
                <a:sym typeface="Calibri"/>
              </a:rPr>
              <a:t>0.8353</a:t>
            </a:r>
            <a:endParaRPr sz="1100">
              <a:solidFill>
                <a:schemeClr val="dk1"/>
              </a:solidFill>
              <a:latin typeface="Calibri"/>
              <a:ea typeface="Calibri"/>
              <a:cs typeface="Calibri"/>
              <a:sym typeface="Calibri"/>
            </a:endParaRPr>
          </a:p>
        </p:txBody>
      </p:sp>
      <p:sp>
        <p:nvSpPr>
          <p:cNvPr id="384" name="Google Shape;384;p11"/>
          <p:cNvSpPr/>
          <p:nvPr/>
        </p:nvSpPr>
        <p:spPr>
          <a:xfrm>
            <a:off x="1770294" y="1261872"/>
            <a:ext cx="1005900" cy="594300"/>
          </a:xfrm>
          <a:prstGeom prst="rect">
            <a:avLst/>
          </a:prstGeom>
          <a:solidFill>
            <a:srgbClr val="D6EAF3"/>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5" name="Google Shape;385;p11"/>
          <p:cNvSpPr/>
          <p:nvPr/>
        </p:nvSpPr>
        <p:spPr>
          <a:xfrm>
            <a:off x="1770294" y="1261872"/>
            <a:ext cx="1005900" cy="59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1" lang="en-US" sz="1100">
                <a:solidFill>
                  <a:srgbClr val="64748B"/>
                </a:solidFill>
                <a:latin typeface="Calibri"/>
                <a:ea typeface="Calibri"/>
                <a:cs typeface="Calibri"/>
                <a:sym typeface="Calibri"/>
              </a:rPr>
              <a:t>SPARTAN</a:t>
            </a:r>
            <a:endParaRPr b="1" sz="1100">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1" lang="en-US" sz="1100">
                <a:solidFill>
                  <a:srgbClr val="64748B"/>
                </a:solidFill>
                <a:latin typeface="Calibri"/>
                <a:ea typeface="Calibri"/>
                <a:cs typeface="Calibri"/>
                <a:sym typeface="Calibri"/>
              </a:rPr>
              <a:t>0.7253</a:t>
            </a:r>
            <a:endParaRPr b="1" sz="1100">
              <a:solidFill>
                <a:schemeClr val="dk1"/>
              </a:solidFill>
              <a:latin typeface="Calibri"/>
              <a:ea typeface="Calibri"/>
              <a:cs typeface="Calibri"/>
              <a:sym typeface="Calibri"/>
            </a:endParaRPr>
          </a:p>
        </p:txBody>
      </p:sp>
      <p:sp>
        <p:nvSpPr>
          <p:cNvPr id="386" name="Google Shape;386;p11"/>
          <p:cNvSpPr/>
          <p:nvPr/>
        </p:nvSpPr>
        <p:spPr>
          <a:xfrm>
            <a:off x="627294" y="2148840"/>
            <a:ext cx="2286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lang="en-US">
                <a:solidFill>
                  <a:srgbClr val="1E293B"/>
                </a:solidFill>
                <a:latin typeface="Calibri"/>
                <a:ea typeface="Calibri"/>
                <a:cs typeface="Calibri"/>
                <a:sym typeface="Calibri"/>
              </a:rPr>
              <a:t>Pipeline TEDS</a:t>
            </a:r>
            <a:endParaRPr>
              <a:solidFill>
                <a:schemeClr val="dk1"/>
              </a:solidFill>
              <a:latin typeface="Calibri"/>
              <a:ea typeface="Calibri"/>
              <a:cs typeface="Calibri"/>
              <a:sym typeface="Calibri"/>
            </a:endParaRPr>
          </a:p>
        </p:txBody>
      </p:sp>
      <p:sp>
        <p:nvSpPr>
          <p:cNvPr id="387" name="Google Shape;387;p11"/>
          <p:cNvSpPr/>
          <p:nvPr/>
        </p:nvSpPr>
        <p:spPr>
          <a:xfrm>
            <a:off x="627294" y="2496312"/>
            <a:ext cx="1005900" cy="594300"/>
          </a:xfrm>
          <a:prstGeom prst="rect">
            <a:avLst/>
          </a:prstGeom>
          <a:solidFill>
            <a:srgbClr val="D6EAF3"/>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11"/>
          <p:cNvSpPr/>
          <p:nvPr/>
        </p:nvSpPr>
        <p:spPr>
          <a:xfrm>
            <a:off x="627294" y="2496312"/>
            <a:ext cx="1005900" cy="59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1" lang="en-US" sz="1100">
                <a:solidFill>
                  <a:srgbClr val="64748B"/>
                </a:solidFill>
                <a:latin typeface="Calibri"/>
                <a:ea typeface="Calibri"/>
                <a:cs typeface="Calibri"/>
                <a:sym typeface="Calibri"/>
              </a:rPr>
              <a:t>UniTable</a:t>
            </a:r>
            <a:endParaRPr b="1" sz="1100">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1" lang="en-US" sz="1100">
                <a:solidFill>
                  <a:srgbClr val="64748B"/>
                </a:solidFill>
                <a:latin typeface="Calibri"/>
                <a:ea typeface="Calibri"/>
                <a:cs typeface="Calibri"/>
                <a:sym typeface="Calibri"/>
              </a:rPr>
              <a:t>0.3417</a:t>
            </a:r>
            <a:endParaRPr b="1" sz="1100">
              <a:solidFill>
                <a:schemeClr val="dk1"/>
              </a:solidFill>
              <a:latin typeface="Calibri"/>
              <a:ea typeface="Calibri"/>
              <a:cs typeface="Calibri"/>
              <a:sym typeface="Calibri"/>
            </a:endParaRPr>
          </a:p>
        </p:txBody>
      </p:sp>
      <p:sp>
        <p:nvSpPr>
          <p:cNvPr id="389" name="Google Shape;389;p11"/>
          <p:cNvSpPr/>
          <p:nvPr/>
        </p:nvSpPr>
        <p:spPr>
          <a:xfrm>
            <a:off x="1770294" y="2496312"/>
            <a:ext cx="1005900" cy="594300"/>
          </a:xfrm>
          <a:prstGeom prst="rect">
            <a:avLst/>
          </a:prstGeom>
          <a:solidFill>
            <a:srgbClr val="F4A261"/>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11"/>
          <p:cNvSpPr/>
          <p:nvPr/>
        </p:nvSpPr>
        <p:spPr>
          <a:xfrm>
            <a:off x="1770294" y="2496312"/>
            <a:ext cx="1005900" cy="59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100"/>
              <a:buFont typeface="Calibri"/>
              <a:buNone/>
            </a:pPr>
            <a:r>
              <a:rPr b="1" lang="en-US" sz="1100">
                <a:solidFill>
                  <a:srgbClr val="0A2342"/>
                </a:solidFill>
                <a:latin typeface="Calibri"/>
                <a:ea typeface="Calibri"/>
                <a:cs typeface="Calibri"/>
                <a:sym typeface="Calibri"/>
              </a:rPr>
              <a:t>SPARTAN</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0A2342"/>
              </a:buClr>
              <a:buSzPts val="1100"/>
              <a:buFont typeface="Calibri"/>
              <a:buNone/>
            </a:pPr>
            <a:r>
              <a:rPr b="1" lang="en-US" sz="1100">
                <a:solidFill>
                  <a:srgbClr val="0A2342"/>
                </a:solidFill>
                <a:latin typeface="Calibri"/>
                <a:ea typeface="Calibri"/>
                <a:cs typeface="Calibri"/>
                <a:sym typeface="Calibri"/>
              </a:rPr>
              <a:t>0.5391</a:t>
            </a:r>
            <a:endParaRPr sz="1100">
              <a:solidFill>
                <a:schemeClr val="dk1"/>
              </a:solidFill>
              <a:latin typeface="Calibri"/>
              <a:ea typeface="Calibri"/>
              <a:cs typeface="Calibri"/>
              <a:sym typeface="Calibri"/>
            </a:endParaRPr>
          </a:p>
        </p:txBody>
      </p:sp>
      <p:sp>
        <p:nvSpPr>
          <p:cNvPr id="391" name="Google Shape;391;p11"/>
          <p:cNvSpPr/>
          <p:nvPr/>
        </p:nvSpPr>
        <p:spPr>
          <a:xfrm>
            <a:off x="627294" y="3383280"/>
            <a:ext cx="2286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lang="en-US">
                <a:solidFill>
                  <a:srgbClr val="1E293B"/>
                </a:solidFill>
                <a:latin typeface="Calibri"/>
                <a:ea typeface="Calibri"/>
                <a:cs typeface="Calibri"/>
                <a:sym typeface="Calibri"/>
              </a:rPr>
              <a:t>Cell F1</a:t>
            </a:r>
            <a:endParaRPr>
              <a:solidFill>
                <a:schemeClr val="dk1"/>
              </a:solidFill>
              <a:latin typeface="Calibri"/>
              <a:ea typeface="Calibri"/>
              <a:cs typeface="Calibri"/>
              <a:sym typeface="Calibri"/>
            </a:endParaRPr>
          </a:p>
        </p:txBody>
      </p:sp>
      <p:sp>
        <p:nvSpPr>
          <p:cNvPr id="392" name="Google Shape;392;p11"/>
          <p:cNvSpPr/>
          <p:nvPr/>
        </p:nvSpPr>
        <p:spPr>
          <a:xfrm>
            <a:off x="627294" y="3730752"/>
            <a:ext cx="1005900" cy="594300"/>
          </a:xfrm>
          <a:prstGeom prst="rect">
            <a:avLst/>
          </a:prstGeom>
          <a:solidFill>
            <a:srgbClr val="D6EAF3"/>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11"/>
          <p:cNvSpPr/>
          <p:nvPr/>
        </p:nvSpPr>
        <p:spPr>
          <a:xfrm>
            <a:off x="627294" y="3730752"/>
            <a:ext cx="1005900" cy="59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1" lang="en-US" sz="1100">
                <a:solidFill>
                  <a:srgbClr val="64748B"/>
                </a:solidFill>
                <a:latin typeface="Calibri"/>
                <a:ea typeface="Calibri"/>
                <a:cs typeface="Calibri"/>
                <a:sym typeface="Calibri"/>
              </a:rPr>
              <a:t>UniTable</a:t>
            </a:r>
            <a:endParaRPr b="1" sz="1100">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1" lang="en-US" sz="1100">
                <a:solidFill>
                  <a:srgbClr val="64748B"/>
                </a:solidFill>
                <a:latin typeface="Calibri"/>
                <a:ea typeface="Calibri"/>
                <a:cs typeface="Calibri"/>
                <a:sym typeface="Calibri"/>
              </a:rPr>
              <a:t>0.4928</a:t>
            </a:r>
            <a:endParaRPr b="1" sz="1100">
              <a:solidFill>
                <a:schemeClr val="dk1"/>
              </a:solidFill>
              <a:latin typeface="Calibri"/>
              <a:ea typeface="Calibri"/>
              <a:cs typeface="Calibri"/>
              <a:sym typeface="Calibri"/>
            </a:endParaRPr>
          </a:p>
        </p:txBody>
      </p:sp>
      <p:sp>
        <p:nvSpPr>
          <p:cNvPr id="394" name="Google Shape;394;p11"/>
          <p:cNvSpPr/>
          <p:nvPr/>
        </p:nvSpPr>
        <p:spPr>
          <a:xfrm>
            <a:off x="1770294" y="3730752"/>
            <a:ext cx="1005900" cy="594300"/>
          </a:xfrm>
          <a:prstGeom prst="rect">
            <a:avLst/>
          </a:prstGeom>
          <a:solidFill>
            <a:srgbClr val="F4A261"/>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11"/>
          <p:cNvSpPr/>
          <p:nvPr/>
        </p:nvSpPr>
        <p:spPr>
          <a:xfrm>
            <a:off x="1770294" y="3730752"/>
            <a:ext cx="1005900" cy="59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100"/>
              <a:buFont typeface="Calibri"/>
              <a:buNone/>
            </a:pPr>
            <a:r>
              <a:rPr b="1" lang="en-US" sz="1100">
                <a:solidFill>
                  <a:srgbClr val="0A2342"/>
                </a:solidFill>
                <a:latin typeface="Calibri"/>
                <a:ea typeface="Calibri"/>
                <a:cs typeface="Calibri"/>
                <a:sym typeface="Calibri"/>
              </a:rPr>
              <a:t>SPARTAN</a:t>
            </a:r>
            <a:endParaRPr sz="1100">
              <a:solidFill>
                <a:schemeClr val="dk1"/>
              </a:solidFill>
              <a:latin typeface="Calibri"/>
              <a:ea typeface="Calibri"/>
              <a:cs typeface="Calibri"/>
              <a:sym typeface="Calibri"/>
            </a:endParaRPr>
          </a:p>
          <a:p>
            <a:pPr indent="0" lvl="0" marL="0" marR="0" rtl="0" algn="ctr">
              <a:spcBef>
                <a:spcPts val="0"/>
              </a:spcBef>
              <a:spcAft>
                <a:spcPts val="0"/>
              </a:spcAft>
              <a:buClr>
                <a:srgbClr val="0A2342"/>
              </a:buClr>
              <a:buSzPts val="1100"/>
              <a:buFont typeface="Calibri"/>
              <a:buNone/>
            </a:pPr>
            <a:r>
              <a:rPr b="1" lang="en-US" sz="1100">
                <a:solidFill>
                  <a:srgbClr val="0A2342"/>
                </a:solidFill>
                <a:latin typeface="Calibri"/>
                <a:ea typeface="Calibri"/>
                <a:cs typeface="Calibri"/>
                <a:sym typeface="Calibri"/>
              </a:rPr>
              <a:t>0.7</a:t>
            </a:r>
            <a:endParaRPr sz="1100">
              <a:solidFill>
                <a:schemeClr val="dk1"/>
              </a:solidFill>
              <a:latin typeface="Calibri"/>
              <a:ea typeface="Calibri"/>
              <a:cs typeface="Calibri"/>
              <a:sym typeface="Calibri"/>
            </a:endParaRPr>
          </a:p>
        </p:txBody>
      </p:sp>
      <p:sp>
        <p:nvSpPr>
          <p:cNvPr id="396" name="Google Shape;396;p11"/>
          <p:cNvSpPr/>
          <p:nvPr/>
        </p:nvSpPr>
        <p:spPr>
          <a:xfrm>
            <a:off x="3496234" y="967675"/>
            <a:ext cx="5120700" cy="35184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11"/>
          <p:cNvSpPr/>
          <p:nvPr/>
        </p:nvSpPr>
        <p:spPr>
          <a:xfrm>
            <a:off x="3633384" y="1064734"/>
            <a:ext cx="4846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lang="en-US">
                <a:solidFill>
                  <a:srgbClr val="0A2342"/>
                </a:solidFill>
                <a:latin typeface="Calibri"/>
                <a:ea typeface="Calibri"/>
                <a:cs typeface="Calibri"/>
                <a:sym typeface="Calibri"/>
              </a:rPr>
              <a:t>Why SPARTAN wins on Pipeline TEDS</a:t>
            </a:r>
            <a:endParaRPr>
              <a:solidFill>
                <a:schemeClr val="dk1"/>
              </a:solidFill>
              <a:latin typeface="Calibri"/>
              <a:ea typeface="Calibri"/>
              <a:cs typeface="Calibri"/>
              <a:sym typeface="Calibri"/>
            </a:endParaRPr>
          </a:p>
        </p:txBody>
      </p:sp>
      <p:sp>
        <p:nvSpPr>
          <p:cNvPr id="398" name="Google Shape;398;p11"/>
          <p:cNvSpPr/>
          <p:nvPr/>
        </p:nvSpPr>
        <p:spPr>
          <a:xfrm>
            <a:off x="3633384" y="1403574"/>
            <a:ext cx="4846200" cy="2996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93B"/>
              </a:buClr>
              <a:buSzPts val="1100"/>
              <a:buFont typeface="Calibri"/>
              <a:buNone/>
            </a:pPr>
            <a:r>
              <a:rPr b="1" lang="en-US" sz="1200">
                <a:solidFill>
                  <a:srgbClr val="1E293B"/>
                </a:solidFill>
                <a:latin typeface="Calibri"/>
                <a:ea typeface="Calibri"/>
                <a:cs typeface="Calibri"/>
                <a:sym typeface="Calibri"/>
              </a:rPr>
              <a:t>No cascading errors:</a:t>
            </a:r>
            <a:r>
              <a:rPr lang="en-US" sz="1200">
                <a:solidFill>
                  <a:srgbClr val="1E293B"/>
                </a:solidFill>
                <a:latin typeface="Calibri"/>
                <a:ea typeface="Calibri"/>
                <a:cs typeface="Calibri"/>
                <a:sym typeface="Calibri"/>
              </a:rPr>
              <a:t> content is geometrically tied to structure — a wrong row shifts only that word, not the whole table</a:t>
            </a:r>
            <a:br>
              <a:rPr lang="en-US" sz="1200">
                <a:solidFill>
                  <a:srgbClr val="1E293B"/>
                </a:solidFill>
                <a:latin typeface="Calibri"/>
                <a:ea typeface="Calibri"/>
                <a:cs typeface="Calibri"/>
                <a:sym typeface="Calibri"/>
              </a:rPr>
            </a:br>
            <a:endParaRPr sz="12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t/>
            </a:r>
            <a:endParaRPr sz="12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rPr b="1" lang="en-US" sz="1200">
                <a:solidFill>
                  <a:srgbClr val="1E293B"/>
                </a:solidFill>
                <a:latin typeface="Calibri"/>
                <a:ea typeface="Calibri"/>
                <a:cs typeface="Calibri"/>
                <a:sym typeface="Calibri"/>
              </a:rPr>
              <a:t>CPU-only, deterministic:</a:t>
            </a:r>
            <a:r>
              <a:rPr lang="en-US" sz="1200">
                <a:solidFill>
                  <a:srgbClr val="1E293B"/>
                </a:solidFill>
                <a:latin typeface="Calibri"/>
                <a:ea typeface="Calibri"/>
                <a:cs typeface="Calibri"/>
                <a:sym typeface="Calibri"/>
              </a:rPr>
              <a:t> runs in seconds, errors are traceable to OCR or geometry</a:t>
            </a:r>
            <a:br>
              <a:rPr lang="en-US" sz="1200">
                <a:solidFill>
                  <a:srgbClr val="1E293B"/>
                </a:solidFill>
                <a:latin typeface="Calibri"/>
                <a:ea typeface="Calibri"/>
                <a:cs typeface="Calibri"/>
                <a:sym typeface="Calibri"/>
              </a:rPr>
            </a:br>
            <a:endParaRPr sz="12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t/>
            </a:r>
            <a:endParaRPr sz="12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rPr b="1" lang="en-US" sz="1200">
                <a:solidFill>
                  <a:srgbClr val="1E293B"/>
                </a:solidFill>
                <a:latin typeface="Calibri"/>
                <a:ea typeface="Calibri"/>
                <a:cs typeface="Calibri"/>
                <a:sym typeface="Calibri"/>
              </a:rPr>
              <a:t>Best on low contrast:</a:t>
            </a:r>
            <a:r>
              <a:rPr lang="en-US" sz="1200">
                <a:solidFill>
                  <a:srgbClr val="1E293B"/>
                </a:solidFill>
                <a:latin typeface="Calibri"/>
                <a:ea typeface="Calibri"/>
                <a:cs typeface="Calibri"/>
                <a:sym typeface="Calibri"/>
              </a:rPr>
              <a:t> Pipeline TEDS 0.7326 — highest of any model in that category</a:t>
            </a:r>
            <a:br>
              <a:rPr lang="en-US" sz="1200">
                <a:solidFill>
                  <a:srgbClr val="1E293B"/>
                </a:solidFill>
                <a:latin typeface="Calibri"/>
                <a:ea typeface="Calibri"/>
                <a:cs typeface="Calibri"/>
                <a:sym typeface="Calibri"/>
              </a:rPr>
            </a:br>
            <a:endParaRPr sz="12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t/>
            </a:r>
            <a:endParaRPr sz="12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rPr b="1" lang="en-US" sz="1200">
                <a:solidFill>
                  <a:srgbClr val="1E293B"/>
                </a:solidFill>
                <a:latin typeface="Calibri"/>
                <a:ea typeface="Calibri"/>
                <a:cs typeface="Calibri"/>
                <a:sym typeface="Calibri"/>
              </a:rPr>
              <a:t>Weakness — span loss:</a:t>
            </a:r>
            <a:r>
              <a:rPr lang="en-US" sz="1200">
                <a:solidFill>
                  <a:srgbClr val="1E293B"/>
                </a:solidFill>
                <a:latin typeface="Calibri"/>
                <a:ea typeface="Calibri"/>
                <a:cs typeface="Calibri"/>
                <a:sym typeface="Calibri"/>
              </a:rPr>
              <a:t> 54.2% of SPARTAN failures involve lost column spans (multi-level headers)</a:t>
            </a:r>
            <a:endParaRPr sz="1200">
              <a:solidFill>
                <a:schemeClr val="dk1"/>
              </a:solidFill>
              <a:latin typeface="Calibri"/>
              <a:ea typeface="Calibri"/>
              <a:cs typeface="Calibri"/>
              <a:sym typeface="Calibri"/>
            </a:endParaRPr>
          </a:p>
        </p:txBody>
      </p:sp>
      <p:sp>
        <p:nvSpPr>
          <p:cNvPr id="399" name="Google Shape;399;p11"/>
          <p:cNvSpPr/>
          <p:nvPr/>
        </p:nvSpPr>
        <p:spPr>
          <a:xfrm>
            <a:off x="618576" y="4712275"/>
            <a:ext cx="8412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100"/>
              <a:buFont typeface="Calibri"/>
              <a:buNone/>
            </a:pPr>
            <a:r>
              <a:rPr b="1" i="1" lang="en-US" sz="1100">
                <a:solidFill>
                  <a:srgbClr val="F4A261"/>
                </a:solidFill>
                <a:latin typeface="Calibri"/>
                <a:ea typeface="Calibri"/>
                <a:cs typeface="Calibri"/>
                <a:sym typeface="Calibri"/>
              </a:rPr>
              <a:t>+0.22 mean Pipeline TEDS gap over UniTable across all 5 image types</a:t>
            </a:r>
            <a:endParaRPr sz="11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4" name="Shape 404"/>
        <p:cNvGrpSpPr/>
        <p:nvPr/>
      </p:nvGrpSpPr>
      <p:grpSpPr>
        <a:xfrm>
          <a:off x="0" y="0"/>
          <a:ext cx="0" cy="0"/>
          <a:chOff x="0" y="0"/>
          <a:chExt cx="0" cy="0"/>
        </a:xfrm>
      </p:grpSpPr>
      <p:sp>
        <p:nvSpPr>
          <p:cNvPr id="405" name="Google Shape;405;p12"/>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12"/>
          <p:cNvSpPr/>
          <p:nvPr/>
        </p:nvSpPr>
        <p:spPr>
          <a:xfrm>
            <a:off x="365760" y="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Error Analysis: Failure Modes</a:t>
            </a:r>
            <a:endParaRPr sz="2200">
              <a:solidFill>
                <a:schemeClr val="dk1"/>
              </a:solidFill>
              <a:latin typeface="Calibri"/>
              <a:ea typeface="Calibri"/>
              <a:cs typeface="Calibri"/>
              <a:sym typeface="Calibri"/>
            </a:endParaRPr>
          </a:p>
        </p:txBody>
      </p:sp>
      <p:sp>
        <p:nvSpPr>
          <p:cNvPr id="407" name="Google Shape;407;p12"/>
          <p:cNvSpPr/>
          <p:nvPr/>
        </p:nvSpPr>
        <p:spPr>
          <a:xfrm>
            <a:off x="274320" y="822960"/>
            <a:ext cx="4114800" cy="18288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12"/>
          <p:cNvSpPr/>
          <p:nvPr/>
        </p:nvSpPr>
        <p:spPr>
          <a:xfrm>
            <a:off x="274320" y="822960"/>
            <a:ext cx="4114800" cy="347472"/>
          </a:xfrm>
          <a:prstGeom prst="rect">
            <a:avLst/>
          </a:prstGeom>
          <a:solidFill>
            <a:srgbClr val="2AACE2"/>
          </a:solidFill>
          <a:ln cap="flat" cmpd="sng" w="12700">
            <a:solidFill>
              <a:srgbClr val="2AAC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12"/>
          <p:cNvSpPr/>
          <p:nvPr/>
        </p:nvSpPr>
        <p:spPr>
          <a:xfrm>
            <a:off x="365760" y="822960"/>
            <a:ext cx="3931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UniTable</a:t>
            </a:r>
            <a:endParaRPr sz="1300">
              <a:solidFill>
                <a:schemeClr val="dk1"/>
              </a:solidFill>
              <a:latin typeface="Calibri"/>
              <a:ea typeface="Calibri"/>
              <a:cs typeface="Calibri"/>
              <a:sym typeface="Calibri"/>
            </a:endParaRPr>
          </a:p>
        </p:txBody>
      </p:sp>
      <p:sp>
        <p:nvSpPr>
          <p:cNvPr id="410" name="Google Shape;410;p12"/>
          <p:cNvSpPr/>
          <p:nvPr/>
        </p:nvSpPr>
        <p:spPr>
          <a:xfrm>
            <a:off x="411480" y="1225296"/>
            <a:ext cx="3840480" cy="1325880"/>
          </a:xfrm>
          <a:prstGeom prst="rect">
            <a:avLst/>
          </a:prstGeom>
          <a:noFill/>
          <a:ln>
            <a:noFill/>
          </a:ln>
        </p:spPr>
        <p:txBody>
          <a:bodyPr anchorCtr="0" anchor="ctr" bIns="45700" lIns="91425" spcFirstLastPara="1" rIns="91425" wrap="square" tIns="45700">
            <a:noAutofit/>
          </a:bodyPr>
          <a:lstStyle/>
          <a:p>
            <a:pPr indent="-349250" lvl="0" marL="342900" marR="0" rtl="0" algn="l">
              <a:lnSpc>
                <a:spcPct val="115000"/>
              </a:lnSpc>
              <a:spcBef>
                <a:spcPts val="0"/>
              </a:spcBef>
              <a:spcAft>
                <a:spcPts val="0"/>
              </a:spcAft>
              <a:buClr>
                <a:srgbClr val="1E293B"/>
              </a:buClr>
              <a:buSzPts val="1100"/>
              <a:buFont typeface="Calibri"/>
              <a:buChar char="•"/>
            </a:pPr>
            <a:r>
              <a:rPr lang="en-US" sz="1100">
                <a:solidFill>
                  <a:srgbClr val="1E293B"/>
                </a:solidFill>
                <a:latin typeface="Calibri"/>
                <a:ea typeface="Calibri"/>
                <a:cs typeface="Calibri"/>
                <a:sym typeface="Calibri"/>
              </a:rPr>
              <a:t>Structural token misprediction cascades to all subsequent cells</a:t>
            </a:r>
            <a:endParaRPr sz="1100">
              <a:solidFill>
                <a:schemeClr val="dk1"/>
              </a:solidFill>
              <a:latin typeface="Calibri"/>
              <a:ea typeface="Calibri"/>
              <a:cs typeface="Calibri"/>
              <a:sym typeface="Calibri"/>
            </a:endParaRPr>
          </a:p>
          <a:p>
            <a:pPr indent="-349250" lvl="0" marL="342900" marR="0" rtl="0" algn="l">
              <a:lnSpc>
                <a:spcPct val="115000"/>
              </a:lnSpc>
              <a:spcBef>
                <a:spcPts val="0"/>
              </a:spcBef>
              <a:spcAft>
                <a:spcPts val="0"/>
              </a:spcAft>
              <a:buClr>
                <a:srgbClr val="1E293B"/>
              </a:buClr>
              <a:buSzPts val="1100"/>
              <a:buFont typeface="Calibri"/>
              <a:buChar char="•"/>
            </a:pPr>
            <a:r>
              <a:rPr lang="en-US" sz="1100">
                <a:solidFill>
                  <a:srgbClr val="1E293B"/>
                </a:solidFill>
                <a:latin typeface="Calibri"/>
                <a:ea typeface="Calibri"/>
                <a:cs typeface="Calibri"/>
                <a:sym typeface="Calibri"/>
              </a:rPr>
              <a:t>Hallucinated content tokens corrupt full-row sequence</a:t>
            </a:r>
            <a:endParaRPr sz="1100">
              <a:solidFill>
                <a:schemeClr val="dk1"/>
              </a:solidFill>
              <a:latin typeface="Calibri"/>
              <a:ea typeface="Calibri"/>
              <a:cs typeface="Calibri"/>
              <a:sym typeface="Calibri"/>
            </a:endParaRPr>
          </a:p>
          <a:p>
            <a:pPr indent="-349250" lvl="0" marL="342900" marR="0" rtl="0" algn="l">
              <a:lnSpc>
                <a:spcPct val="115000"/>
              </a:lnSpc>
              <a:spcBef>
                <a:spcPts val="0"/>
              </a:spcBef>
              <a:spcAft>
                <a:spcPts val="0"/>
              </a:spcAft>
              <a:buClr>
                <a:srgbClr val="1E293B"/>
              </a:buClr>
              <a:buSzPts val="1100"/>
              <a:buFont typeface="Calibri"/>
              <a:buChar char="•"/>
            </a:pPr>
            <a:r>
              <a:rPr lang="en-US" sz="1100">
                <a:solidFill>
                  <a:srgbClr val="1E293B"/>
                </a:solidFill>
                <a:latin typeface="Calibri"/>
                <a:ea typeface="Calibri"/>
                <a:cs typeface="Calibri"/>
                <a:sym typeface="Calibri"/>
              </a:rPr>
              <a:t>Sequence length overflow on large tables (truncated decode)</a:t>
            </a:r>
            <a:endParaRPr sz="1100">
              <a:solidFill>
                <a:schemeClr val="dk1"/>
              </a:solidFill>
              <a:latin typeface="Calibri"/>
              <a:ea typeface="Calibri"/>
              <a:cs typeface="Calibri"/>
              <a:sym typeface="Calibri"/>
            </a:endParaRPr>
          </a:p>
        </p:txBody>
      </p:sp>
      <p:sp>
        <p:nvSpPr>
          <p:cNvPr id="411" name="Google Shape;411;p12"/>
          <p:cNvSpPr/>
          <p:nvPr/>
        </p:nvSpPr>
        <p:spPr>
          <a:xfrm>
            <a:off x="4754880" y="822960"/>
            <a:ext cx="4114800" cy="18288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2" name="Google Shape;412;p12"/>
          <p:cNvSpPr/>
          <p:nvPr/>
        </p:nvSpPr>
        <p:spPr>
          <a:xfrm>
            <a:off x="4754880" y="822960"/>
            <a:ext cx="4114800" cy="347472"/>
          </a:xfrm>
          <a:prstGeom prst="rect">
            <a:avLst/>
          </a:prstGeom>
          <a:solidFill>
            <a:srgbClr val="4ECDC4"/>
          </a:solidFill>
          <a:ln cap="flat" cmpd="sng" w="12700">
            <a:solidFill>
              <a:srgbClr val="4ECD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12"/>
          <p:cNvSpPr/>
          <p:nvPr/>
        </p:nvSpPr>
        <p:spPr>
          <a:xfrm>
            <a:off x="4846320" y="822960"/>
            <a:ext cx="3931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Florence-2</a:t>
            </a:r>
            <a:endParaRPr sz="1300">
              <a:solidFill>
                <a:schemeClr val="dk1"/>
              </a:solidFill>
              <a:latin typeface="Calibri"/>
              <a:ea typeface="Calibri"/>
              <a:cs typeface="Calibri"/>
              <a:sym typeface="Calibri"/>
            </a:endParaRPr>
          </a:p>
        </p:txBody>
      </p:sp>
      <p:sp>
        <p:nvSpPr>
          <p:cNvPr id="414" name="Google Shape;414;p12"/>
          <p:cNvSpPr/>
          <p:nvPr/>
        </p:nvSpPr>
        <p:spPr>
          <a:xfrm>
            <a:off x="4892040" y="1225296"/>
            <a:ext cx="3840480" cy="1325880"/>
          </a:xfrm>
          <a:prstGeom prst="rect">
            <a:avLst/>
          </a:prstGeom>
          <a:noFill/>
          <a:ln>
            <a:noFill/>
          </a:ln>
        </p:spPr>
        <p:txBody>
          <a:bodyPr anchorCtr="0" anchor="ctr" bIns="45700" lIns="91425" spcFirstLastPara="1" rIns="91425" wrap="square" tIns="45700">
            <a:noAutofit/>
          </a:bodyPr>
          <a:lstStyle/>
          <a:p>
            <a:pPr indent="-349250" lvl="0" marL="342900" marR="0" rtl="0" algn="l">
              <a:lnSpc>
                <a:spcPct val="115000"/>
              </a:lnSpc>
              <a:spcBef>
                <a:spcPts val="0"/>
              </a:spcBef>
              <a:spcAft>
                <a:spcPts val="0"/>
              </a:spcAft>
              <a:buClr>
                <a:srgbClr val="1E293B"/>
              </a:buClr>
              <a:buSzPts val="1100"/>
              <a:buFont typeface="Calibri"/>
              <a:buChar char="•"/>
            </a:pPr>
            <a:r>
              <a:rPr lang="en-US" sz="1100">
                <a:solidFill>
                  <a:srgbClr val="1E293B"/>
                </a:solidFill>
                <a:latin typeface="Calibri"/>
                <a:ea typeface="Calibri"/>
                <a:cs typeface="Calibri"/>
                <a:sym typeface="Calibri"/>
              </a:rPr>
              <a:t>Severe structural oversimplification (predicted skeleton ≈ 2 cells)</a:t>
            </a:r>
            <a:endParaRPr sz="1100">
              <a:solidFill>
                <a:schemeClr val="dk1"/>
              </a:solidFill>
              <a:latin typeface="Calibri"/>
              <a:ea typeface="Calibri"/>
              <a:cs typeface="Calibri"/>
              <a:sym typeface="Calibri"/>
            </a:endParaRPr>
          </a:p>
          <a:p>
            <a:pPr indent="-349250" lvl="0" marL="342900" marR="0" rtl="0" algn="l">
              <a:lnSpc>
                <a:spcPct val="115000"/>
              </a:lnSpc>
              <a:spcBef>
                <a:spcPts val="0"/>
              </a:spcBef>
              <a:spcAft>
                <a:spcPts val="0"/>
              </a:spcAft>
              <a:buClr>
                <a:srgbClr val="1E293B"/>
              </a:buClr>
              <a:buSzPts val="1100"/>
              <a:buFont typeface="Calibri"/>
              <a:buChar char="•"/>
            </a:pPr>
            <a:r>
              <a:rPr lang="en-US" sz="1100">
                <a:solidFill>
                  <a:srgbClr val="1E293B"/>
                </a:solidFill>
                <a:latin typeface="Calibri"/>
                <a:ea typeface="Calibri"/>
                <a:cs typeface="Calibri"/>
                <a:sym typeface="Calibri"/>
              </a:rPr>
              <a:t>Incorrect text placed in wrong cells penalized by TEDS</a:t>
            </a:r>
            <a:endParaRPr sz="1100">
              <a:solidFill>
                <a:schemeClr val="dk1"/>
              </a:solidFill>
              <a:latin typeface="Calibri"/>
              <a:ea typeface="Calibri"/>
              <a:cs typeface="Calibri"/>
              <a:sym typeface="Calibri"/>
            </a:endParaRPr>
          </a:p>
          <a:p>
            <a:pPr indent="-349250" lvl="0" marL="342900" marR="0" rtl="0" algn="l">
              <a:lnSpc>
                <a:spcPct val="115000"/>
              </a:lnSpc>
              <a:spcBef>
                <a:spcPts val="0"/>
              </a:spcBef>
              <a:spcAft>
                <a:spcPts val="0"/>
              </a:spcAft>
              <a:buClr>
                <a:srgbClr val="1E293B"/>
              </a:buClr>
              <a:buSzPts val="1100"/>
              <a:buFont typeface="Calibri"/>
              <a:buChar char="•"/>
            </a:pPr>
            <a:r>
              <a:rPr lang="en-US" sz="1100">
                <a:solidFill>
                  <a:srgbClr val="1E293B"/>
                </a:solidFill>
                <a:latin typeface="Calibri"/>
                <a:ea typeface="Calibri"/>
                <a:cs typeface="Calibri"/>
                <a:sym typeface="Calibri"/>
              </a:rPr>
              <a:t>General VLM not pre-trained for markup generation</a:t>
            </a:r>
            <a:endParaRPr sz="1100">
              <a:solidFill>
                <a:schemeClr val="dk1"/>
              </a:solidFill>
              <a:latin typeface="Calibri"/>
              <a:ea typeface="Calibri"/>
              <a:cs typeface="Calibri"/>
              <a:sym typeface="Calibri"/>
            </a:endParaRPr>
          </a:p>
        </p:txBody>
      </p:sp>
      <p:sp>
        <p:nvSpPr>
          <p:cNvPr id="415" name="Google Shape;415;p12"/>
          <p:cNvSpPr/>
          <p:nvPr/>
        </p:nvSpPr>
        <p:spPr>
          <a:xfrm>
            <a:off x="274320" y="2880360"/>
            <a:ext cx="4114800" cy="18288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12"/>
          <p:cNvSpPr/>
          <p:nvPr/>
        </p:nvSpPr>
        <p:spPr>
          <a:xfrm>
            <a:off x="274320" y="2880360"/>
            <a:ext cx="4114800" cy="347472"/>
          </a:xfrm>
          <a:prstGeom prst="rect">
            <a:avLst/>
          </a:prstGeom>
          <a:solidFill>
            <a:srgbClr val="F4A261"/>
          </a:solidFill>
          <a:ln cap="flat" cmpd="sng" w="12700">
            <a:solidFill>
              <a:srgbClr val="F4A2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12"/>
          <p:cNvSpPr/>
          <p:nvPr/>
        </p:nvSpPr>
        <p:spPr>
          <a:xfrm>
            <a:off x="365760" y="2880360"/>
            <a:ext cx="3931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SPARTAN</a:t>
            </a:r>
            <a:endParaRPr sz="1300">
              <a:solidFill>
                <a:schemeClr val="dk1"/>
              </a:solidFill>
              <a:latin typeface="Calibri"/>
              <a:ea typeface="Calibri"/>
              <a:cs typeface="Calibri"/>
              <a:sym typeface="Calibri"/>
            </a:endParaRPr>
          </a:p>
        </p:txBody>
      </p:sp>
      <p:sp>
        <p:nvSpPr>
          <p:cNvPr id="418" name="Google Shape;418;p12"/>
          <p:cNvSpPr/>
          <p:nvPr/>
        </p:nvSpPr>
        <p:spPr>
          <a:xfrm>
            <a:off x="411480" y="3282696"/>
            <a:ext cx="3840480" cy="1325880"/>
          </a:xfrm>
          <a:prstGeom prst="rect">
            <a:avLst/>
          </a:prstGeom>
          <a:noFill/>
          <a:ln>
            <a:noFill/>
          </a:ln>
        </p:spPr>
        <p:txBody>
          <a:bodyPr anchorCtr="0" anchor="ctr" bIns="45700" lIns="91425" spcFirstLastPara="1" rIns="91425" wrap="square" tIns="45700">
            <a:noAutofit/>
          </a:bodyPr>
          <a:lstStyle/>
          <a:p>
            <a:pPr indent="-349250" lvl="0" marL="342900" marR="0" rtl="0" algn="l">
              <a:lnSpc>
                <a:spcPct val="115000"/>
              </a:lnSpc>
              <a:spcBef>
                <a:spcPts val="0"/>
              </a:spcBef>
              <a:spcAft>
                <a:spcPts val="0"/>
              </a:spcAft>
              <a:buClr>
                <a:srgbClr val="1E293B"/>
              </a:buClr>
              <a:buSzPts val="1100"/>
              <a:buFont typeface="Calibri"/>
              <a:buChar char="•"/>
            </a:pPr>
            <a:r>
              <a:rPr lang="en-US" sz="1100">
                <a:solidFill>
                  <a:srgbClr val="1E293B"/>
                </a:solidFill>
                <a:latin typeface="Calibri"/>
                <a:ea typeface="Calibri"/>
                <a:cs typeface="Calibri"/>
                <a:sym typeface="Calibri"/>
              </a:rPr>
              <a:t>Span loss: merges grouped header columns (54.2% of failures)</a:t>
            </a:r>
            <a:endParaRPr sz="1100">
              <a:solidFill>
                <a:schemeClr val="dk1"/>
              </a:solidFill>
              <a:latin typeface="Calibri"/>
              <a:ea typeface="Calibri"/>
              <a:cs typeface="Calibri"/>
              <a:sym typeface="Calibri"/>
            </a:endParaRPr>
          </a:p>
          <a:p>
            <a:pPr indent="-349250" lvl="0" marL="342900" marR="0" rtl="0" algn="l">
              <a:lnSpc>
                <a:spcPct val="115000"/>
              </a:lnSpc>
              <a:spcBef>
                <a:spcPts val="0"/>
              </a:spcBef>
              <a:spcAft>
                <a:spcPts val="0"/>
              </a:spcAft>
              <a:buClr>
                <a:srgbClr val="1E293B"/>
              </a:buClr>
              <a:buSzPts val="1100"/>
              <a:buFont typeface="Calibri"/>
              <a:buChar char="•"/>
            </a:pPr>
            <a:r>
              <a:rPr lang="en-US" sz="1100">
                <a:solidFill>
                  <a:srgbClr val="1E293B"/>
                </a:solidFill>
                <a:latin typeface="Calibri"/>
                <a:ea typeface="Calibri"/>
                <a:cs typeface="Calibri"/>
                <a:sym typeface="Calibri"/>
              </a:rPr>
              <a:t>80% of FinTabNet tables are borderless — LSD grid fails</a:t>
            </a:r>
            <a:endParaRPr sz="1100">
              <a:solidFill>
                <a:schemeClr val="dk1"/>
              </a:solidFill>
              <a:latin typeface="Calibri"/>
              <a:ea typeface="Calibri"/>
              <a:cs typeface="Calibri"/>
              <a:sym typeface="Calibri"/>
            </a:endParaRPr>
          </a:p>
          <a:p>
            <a:pPr indent="-349250" lvl="0" marL="342900" marR="0" rtl="0" algn="l">
              <a:lnSpc>
                <a:spcPct val="115000"/>
              </a:lnSpc>
              <a:spcBef>
                <a:spcPts val="0"/>
              </a:spcBef>
              <a:spcAft>
                <a:spcPts val="0"/>
              </a:spcAft>
              <a:buClr>
                <a:srgbClr val="1E293B"/>
              </a:buClr>
              <a:buSzPts val="1100"/>
              <a:buFont typeface="Calibri"/>
              <a:buChar char="•"/>
            </a:pPr>
            <a:r>
              <a:rPr lang="en-US" sz="1100">
                <a:solidFill>
                  <a:srgbClr val="1E293B"/>
                </a:solidFill>
                <a:latin typeface="Calibri"/>
                <a:ea typeface="Calibri"/>
                <a:cs typeface="Calibri"/>
                <a:sym typeface="Calibri"/>
              </a:rPr>
              <a:t>No learning: can't generalize beyond fixed heuristics</a:t>
            </a:r>
            <a:endParaRPr sz="1100">
              <a:solidFill>
                <a:schemeClr val="dk1"/>
              </a:solidFill>
              <a:latin typeface="Calibri"/>
              <a:ea typeface="Calibri"/>
              <a:cs typeface="Calibri"/>
              <a:sym typeface="Calibri"/>
            </a:endParaRPr>
          </a:p>
        </p:txBody>
      </p:sp>
      <p:sp>
        <p:nvSpPr>
          <p:cNvPr id="419" name="Google Shape;419;p12"/>
          <p:cNvSpPr/>
          <p:nvPr/>
        </p:nvSpPr>
        <p:spPr>
          <a:xfrm>
            <a:off x="4754880" y="2880360"/>
            <a:ext cx="4114800" cy="18288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12"/>
          <p:cNvSpPr/>
          <p:nvPr/>
        </p:nvSpPr>
        <p:spPr>
          <a:xfrm>
            <a:off x="4754880" y="2880360"/>
            <a:ext cx="4114800" cy="347472"/>
          </a:xfrm>
          <a:prstGeom prst="rect">
            <a:avLst/>
          </a:prstGeom>
          <a:solidFill>
            <a:srgbClr val="E63946"/>
          </a:solidFill>
          <a:ln cap="flat" cmpd="sng" w="12700">
            <a:solidFill>
              <a:srgbClr val="E6394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12"/>
          <p:cNvSpPr/>
          <p:nvPr/>
        </p:nvSpPr>
        <p:spPr>
          <a:xfrm>
            <a:off x="4846320" y="2880360"/>
            <a:ext cx="3931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ChatGPT</a:t>
            </a:r>
            <a:endParaRPr sz="1300">
              <a:solidFill>
                <a:schemeClr val="dk1"/>
              </a:solidFill>
              <a:latin typeface="Calibri"/>
              <a:ea typeface="Calibri"/>
              <a:cs typeface="Calibri"/>
              <a:sym typeface="Calibri"/>
            </a:endParaRPr>
          </a:p>
        </p:txBody>
      </p:sp>
      <p:sp>
        <p:nvSpPr>
          <p:cNvPr id="422" name="Google Shape;422;p12"/>
          <p:cNvSpPr/>
          <p:nvPr/>
        </p:nvSpPr>
        <p:spPr>
          <a:xfrm>
            <a:off x="4892040" y="3282696"/>
            <a:ext cx="3840480" cy="1325880"/>
          </a:xfrm>
          <a:prstGeom prst="rect">
            <a:avLst/>
          </a:prstGeom>
          <a:noFill/>
          <a:ln>
            <a:noFill/>
          </a:ln>
        </p:spPr>
        <p:txBody>
          <a:bodyPr anchorCtr="0" anchor="ctr" bIns="45700" lIns="91425" spcFirstLastPara="1" rIns="91425" wrap="square" tIns="45700">
            <a:noAutofit/>
          </a:bodyPr>
          <a:lstStyle/>
          <a:p>
            <a:pPr indent="-349250" lvl="0" marL="342900" marR="0" rtl="0" algn="l">
              <a:lnSpc>
                <a:spcPct val="115000"/>
              </a:lnSpc>
              <a:spcBef>
                <a:spcPts val="0"/>
              </a:spcBef>
              <a:spcAft>
                <a:spcPts val="0"/>
              </a:spcAft>
              <a:buClr>
                <a:srgbClr val="1E293B"/>
              </a:buClr>
              <a:buSzPts val="1100"/>
              <a:buFont typeface="Calibri"/>
              <a:buChar char="•"/>
            </a:pPr>
            <a:r>
              <a:rPr lang="en-US" sz="1100">
                <a:solidFill>
                  <a:srgbClr val="1E293B"/>
                </a:solidFill>
                <a:latin typeface="Calibri"/>
                <a:ea typeface="Calibri"/>
                <a:cs typeface="Calibri"/>
                <a:sym typeface="Calibri"/>
              </a:rPr>
              <a:t>Fails completely on tall tables — produces empty outputs</a:t>
            </a:r>
            <a:endParaRPr sz="1100">
              <a:solidFill>
                <a:schemeClr val="dk1"/>
              </a:solidFill>
              <a:latin typeface="Calibri"/>
              <a:ea typeface="Calibri"/>
              <a:cs typeface="Calibri"/>
              <a:sym typeface="Calibri"/>
            </a:endParaRPr>
          </a:p>
          <a:p>
            <a:pPr indent="-349250" lvl="0" marL="342900" marR="0" rtl="0" algn="l">
              <a:lnSpc>
                <a:spcPct val="115000"/>
              </a:lnSpc>
              <a:spcBef>
                <a:spcPts val="0"/>
              </a:spcBef>
              <a:spcAft>
                <a:spcPts val="0"/>
              </a:spcAft>
              <a:buClr>
                <a:srgbClr val="1E293B"/>
              </a:buClr>
              <a:buSzPts val="1100"/>
              <a:buFont typeface="Calibri"/>
              <a:buChar char="•"/>
            </a:pPr>
            <a:r>
              <a:rPr lang="en-US" sz="1100">
                <a:solidFill>
                  <a:srgbClr val="1E293B"/>
                </a:solidFill>
                <a:latin typeface="Calibri"/>
                <a:ea typeface="Calibri"/>
                <a:cs typeface="Calibri"/>
                <a:sym typeface="Calibri"/>
              </a:rPr>
              <a:t>Loses column-span hierarchy in multi-level headers</a:t>
            </a:r>
            <a:endParaRPr sz="1100">
              <a:solidFill>
                <a:schemeClr val="dk1"/>
              </a:solidFill>
              <a:latin typeface="Calibri"/>
              <a:ea typeface="Calibri"/>
              <a:cs typeface="Calibri"/>
              <a:sym typeface="Calibri"/>
            </a:endParaRPr>
          </a:p>
          <a:p>
            <a:pPr indent="-349250" lvl="0" marL="342900" marR="0" rtl="0" algn="l">
              <a:lnSpc>
                <a:spcPct val="115000"/>
              </a:lnSpc>
              <a:spcBef>
                <a:spcPts val="0"/>
              </a:spcBef>
              <a:spcAft>
                <a:spcPts val="0"/>
              </a:spcAft>
              <a:buClr>
                <a:srgbClr val="1E293B"/>
              </a:buClr>
              <a:buSzPts val="1100"/>
              <a:buFont typeface="Calibri"/>
              <a:buChar char="•"/>
            </a:pPr>
            <a:r>
              <a:rPr lang="en-US" sz="1100">
                <a:solidFill>
                  <a:srgbClr val="1E293B"/>
                </a:solidFill>
                <a:latin typeface="Calibri"/>
                <a:ea typeface="Calibri"/>
                <a:cs typeface="Calibri"/>
                <a:sym typeface="Calibri"/>
              </a:rPr>
              <a:t>Dense visual layouts exceed visual encoding capacity</a:t>
            </a:r>
            <a:endParaRPr sz="11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7" name="Shape 427"/>
        <p:cNvGrpSpPr/>
        <p:nvPr/>
      </p:nvGrpSpPr>
      <p:grpSpPr>
        <a:xfrm>
          <a:off x="0" y="0"/>
          <a:ext cx="0" cy="0"/>
          <a:chOff x="0" y="0"/>
          <a:chExt cx="0" cy="0"/>
        </a:xfrm>
      </p:grpSpPr>
      <p:sp>
        <p:nvSpPr>
          <p:cNvPr id="428" name="Google Shape;428;p13"/>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13"/>
          <p:cNvSpPr/>
          <p:nvPr/>
        </p:nvSpPr>
        <p:spPr>
          <a:xfrm>
            <a:off x="365760" y="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TableSight: Deployment Dashboard</a:t>
            </a:r>
            <a:endParaRPr sz="2200">
              <a:solidFill>
                <a:schemeClr val="dk1"/>
              </a:solidFill>
              <a:latin typeface="Calibri"/>
              <a:ea typeface="Calibri"/>
              <a:cs typeface="Calibri"/>
              <a:sym typeface="Calibri"/>
            </a:endParaRPr>
          </a:p>
        </p:txBody>
      </p:sp>
      <p:sp>
        <p:nvSpPr>
          <p:cNvPr id="430" name="Google Shape;430;p13"/>
          <p:cNvSpPr/>
          <p:nvPr/>
        </p:nvSpPr>
        <p:spPr>
          <a:xfrm>
            <a:off x="274325" y="822950"/>
            <a:ext cx="4075800" cy="40692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13"/>
          <p:cNvSpPr/>
          <p:nvPr/>
        </p:nvSpPr>
        <p:spPr>
          <a:xfrm>
            <a:off x="411480" y="914400"/>
            <a:ext cx="37490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4 Dashboard Tabs</a:t>
            </a:r>
            <a:endParaRPr sz="1300">
              <a:solidFill>
                <a:schemeClr val="dk1"/>
              </a:solidFill>
              <a:latin typeface="Calibri"/>
              <a:ea typeface="Calibri"/>
              <a:cs typeface="Calibri"/>
              <a:sym typeface="Calibri"/>
            </a:endParaRPr>
          </a:p>
        </p:txBody>
      </p:sp>
      <p:sp>
        <p:nvSpPr>
          <p:cNvPr id="432" name="Google Shape;432;p13"/>
          <p:cNvSpPr/>
          <p:nvPr/>
        </p:nvSpPr>
        <p:spPr>
          <a:xfrm>
            <a:off x="411474" y="1432625"/>
            <a:ext cx="791700" cy="640200"/>
          </a:xfrm>
          <a:prstGeom prst="rect">
            <a:avLst/>
          </a:prstGeom>
          <a:solidFill>
            <a:srgbClr val="2AACE2"/>
          </a:solidFill>
          <a:ln cap="flat" cmpd="sng" w="12700">
            <a:solidFill>
              <a:srgbClr val="2AAC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13"/>
          <p:cNvSpPr/>
          <p:nvPr/>
        </p:nvSpPr>
        <p:spPr>
          <a:xfrm>
            <a:off x="402757" y="1432625"/>
            <a:ext cx="7917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000"/>
              <a:buFont typeface="Calibri"/>
              <a:buNone/>
            </a:pPr>
            <a:r>
              <a:rPr b="1" lang="en-US" sz="1100">
                <a:solidFill>
                  <a:srgbClr val="0A2342"/>
                </a:solidFill>
                <a:latin typeface="Calibri"/>
                <a:ea typeface="Calibri"/>
                <a:cs typeface="Calibri"/>
                <a:sym typeface="Calibri"/>
              </a:rPr>
              <a:t>Compare</a:t>
            </a:r>
            <a:endParaRPr sz="1100">
              <a:solidFill>
                <a:schemeClr val="dk1"/>
              </a:solidFill>
              <a:latin typeface="Calibri"/>
              <a:ea typeface="Calibri"/>
              <a:cs typeface="Calibri"/>
              <a:sym typeface="Calibri"/>
            </a:endParaRPr>
          </a:p>
        </p:txBody>
      </p:sp>
      <p:sp>
        <p:nvSpPr>
          <p:cNvPr id="434" name="Google Shape;434;p13"/>
          <p:cNvSpPr/>
          <p:nvPr/>
        </p:nvSpPr>
        <p:spPr>
          <a:xfrm>
            <a:off x="1317356" y="1434756"/>
            <a:ext cx="3017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lang="en-US" sz="1100">
                <a:solidFill>
                  <a:srgbClr val="1E293B"/>
                </a:solidFill>
                <a:latin typeface="Calibri"/>
                <a:ea typeface="Calibri"/>
                <a:cs typeface="Calibri"/>
                <a:sym typeface="Calibri"/>
              </a:rPr>
              <a:t>Single-image inference — upload or pick random from 1,300 gallery images. Models run in parallel, TEDS shown side-by-side.</a:t>
            </a:r>
            <a:endParaRPr sz="1100">
              <a:solidFill>
                <a:schemeClr val="dk1"/>
              </a:solidFill>
              <a:latin typeface="Calibri"/>
              <a:ea typeface="Calibri"/>
              <a:cs typeface="Calibri"/>
              <a:sym typeface="Calibri"/>
            </a:endParaRPr>
          </a:p>
        </p:txBody>
      </p:sp>
      <p:sp>
        <p:nvSpPr>
          <p:cNvPr id="435" name="Google Shape;435;p13"/>
          <p:cNvSpPr/>
          <p:nvPr/>
        </p:nvSpPr>
        <p:spPr>
          <a:xfrm>
            <a:off x="411474" y="2255583"/>
            <a:ext cx="791700" cy="640200"/>
          </a:xfrm>
          <a:prstGeom prst="rect">
            <a:avLst/>
          </a:prstGeom>
          <a:solidFill>
            <a:srgbClr val="4ECDC4"/>
          </a:solidFill>
          <a:ln cap="flat" cmpd="sng" w="12700">
            <a:solidFill>
              <a:srgbClr val="4ECD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6" name="Google Shape;436;p13"/>
          <p:cNvSpPr/>
          <p:nvPr/>
        </p:nvSpPr>
        <p:spPr>
          <a:xfrm>
            <a:off x="402757" y="2255583"/>
            <a:ext cx="7917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000"/>
              <a:buFont typeface="Calibri"/>
              <a:buNone/>
            </a:pPr>
            <a:r>
              <a:rPr b="1" lang="en-US" sz="1100">
                <a:solidFill>
                  <a:srgbClr val="0A2342"/>
                </a:solidFill>
                <a:latin typeface="Calibri"/>
                <a:ea typeface="Calibri"/>
                <a:cs typeface="Calibri"/>
                <a:sym typeface="Calibri"/>
              </a:rPr>
              <a:t>Benchmark</a:t>
            </a:r>
            <a:endParaRPr sz="1100">
              <a:solidFill>
                <a:schemeClr val="dk1"/>
              </a:solidFill>
              <a:latin typeface="Calibri"/>
              <a:ea typeface="Calibri"/>
              <a:cs typeface="Calibri"/>
              <a:sym typeface="Calibri"/>
            </a:endParaRPr>
          </a:p>
        </p:txBody>
      </p:sp>
      <p:sp>
        <p:nvSpPr>
          <p:cNvPr id="437" name="Google Shape;437;p13"/>
          <p:cNvSpPr/>
          <p:nvPr/>
        </p:nvSpPr>
        <p:spPr>
          <a:xfrm>
            <a:off x="1317356" y="2257716"/>
            <a:ext cx="3017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lang="en-US" sz="1100">
                <a:solidFill>
                  <a:srgbClr val="1E293B"/>
                </a:solidFill>
                <a:latin typeface="Calibri"/>
                <a:ea typeface="Calibri"/>
                <a:cs typeface="Calibri"/>
                <a:sym typeface="Calibri"/>
              </a:rPr>
              <a:t>Pre-computed aggregate stats over 1,300 samples, broken down by image_type and difficulty.</a:t>
            </a:r>
            <a:endParaRPr sz="1100">
              <a:solidFill>
                <a:schemeClr val="dk1"/>
              </a:solidFill>
              <a:latin typeface="Calibri"/>
              <a:ea typeface="Calibri"/>
              <a:cs typeface="Calibri"/>
              <a:sym typeface="Calibri"/>
            </a:endParaRPr>
          </a:p>
        </p:txBody>
      </p:sp>
      <p:sp>
        <p:nvSpPr>
          <p:cNvPr id="438" name="Google Shape;438;p13"/>
          <p:cNvSpPr/>
          <p:nvPr/>
        </p:nvSpPr>
        <p:spPr>
          <a:xfrm>
            <a:off x="411474" y="3078542"/>
            <a:ext cx="791700" cy="640200"/>
          </a:xfrm>
          <a:prstGeom prst="rect">
            <a:avLst/>
          </a:prstGeom>
          <a:solidFill>
            <a:srgbClr val="F4A261"/>
          </a:solidFill>
          <a:ln cap="flat" cmpd="sng" w="12700">
            <a:solidFill>
              <a:srgbClr val="F4A2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13"/>
          <p:cNvSpPr/>
          <p:nvPr/>
        </p:nvSpPr>
        <p:spPr>
          <a:xfrm>
            <a:off x="402757" y="3078541"/>
            <a:ext cx="7917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000"/>
              <a:buFont typeface="Calibri"/>
              <a:buNone/>
            </a:pPr>
            <a:r>
              <a:rPr b="1" lang="en-US" sz="1100">
                <a:solidFill>
                  <a:srgbClr val="0A2342"/>
                </a:solidFill>
                <a:latin typeface="Calibri"/>
                <a:ea typeface="Calibri"/>
                <a:cs typeface="Calibri"/>
                <a:sym typeface="Calibri"/>
              </a:rPr>
              <a:t>Batch Eval</a:t>
            </a:r>
            <a:endParaRPr sz="1100">
              <a:solidFill>
                <a:schemeClr val="dk1"/>
              </a:solidFill>
              <a:latin typeface="Calibri"/>
              <a:ea typeface="Calibri"/>
              <a:cs typeface="Calibri"/>
              <a:sym typeface="Calibri"/>
            </a:endParaRPr>
          </a:p>
        </p:txBody>
      </p:sp>
      <p:sp>
        <p:nvSpPr>
          <p:cNvPr id="440" name="Google Shape;440;p13"/>
          <p:cNvSpPr/>
          <p:nvPr/>
        </p:nvSpPr>
        <p:spPr>
          <a:xfrm>
            <a:off x="1317356" y="3080676"/>
            <a:ext cx="3017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lang="en-US" sz="1100">
                <a:solidFill>
                  <a:srgbClr val="1E293B"/>
                </a:solidFill>
                <a:latin typeface="Calibri"/>
                <a:ea typeface="Calibri"/>
                <a:cs typeface="Calibri"/>
                <a:sym typeface="Calibri"/>
              </a:rPr>
              <a:t>Run all models over uploaded CSV slice, export per-sample scores.</a:t>
            </a:r>
            <a:endParaRPr sz="1100">
              <a:solidFill>
                <a:schemeClr val="dk1"/>
              </a:solidFill>
              <a:latin typeface="Calibri"/>
              <a:ea typeface="Calibri"/>
              <a:cs typeface="Calibri"/>
              <a:sym typeface="Calibri"/>
            </a:endParaRPr>
          </a:p>
        </p:txBody>
      </p:sp>
      <p:sp>
        <p:nvSpPr>
          <p:cNvPr id="441" name="Google Shape;441;p13"/>
          <p:cNvSpPr/>
          <p:nvPr/>
        </p:nvSpPr>
        <p:spPr>
          <a:xfrm>
            <a:off x="411474" y="3901501"/>
            <a:ext cx="791700" cy="640200"/>
          </a:xfrm>
          <a:prstGeom prst="rect">
            <a:avLst/>
          </a:prstGeom>
          <a:solidFill>
            <a:srgbClr val="E63946"/>
          </a:solidFill>
          <a:ln cap="flat" cmpd="sng" w="12700">
            <a:solidFill>
              <a:srgbClr val="E6394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13"/>
          <p:cNvSpPr/>
          <p:nvPr/>
        </p:nvSpPr>
        <p:spPr>
          <a:xfrm>
            <a:off x="402757" y="3901499"/>
            <a:ext cx="7917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000"/>
              <a:buFont typeface="Calibri"/>
              <a:buNone/>
            </a:pPr>
            <a:r>
              <a:rPr b="1" lang="en-US" sz="1100">
                <a:solidFill>
                  <a:srgbClr val="0A2342"/>
                </a:solidFill>
                <a:latin typeface="Calibri"/>
                <a:ea typeface="Calibri"/>
                <a:cs typeface="Calibri"/>
                <a:sym typeface="Calibri"/>
              </a:rPr>
              <a:t>Failure Analysis</a:t>
            </a:r>
            <a:endParaRPr sz="1100">
              <a:solidFill>
                <a:schemeClr val="dk1"/>
              </a:solidFill>
              <a:latin typeface="Calibri"/>
              <a:ea typeface="Calibri"/>
              <a:cs typeface="Calibri"/>
              <a:sym typeface="Calibri"/>
            </a:endParaRPr>
          </a:p>
        </p:txBody>
      </p:sp>
      <p:sp>
        <p:nvSpPr>
          <p:cNvPr id="443" name="Google Shape;443;p13"/>
          <p:cNvSpPr/>
          <p:nvPr/>
        </p:nvSpPr>
        <p:spPr>
          <a:xfrm>
            <a:off x="1317356" y="3903636"/>
            <a:ext cx="3017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alibri"/>
              <a:buNone/>
            </a:pPr>
            <a:r>
              <a:rPr lang="en-US" sz="1100">
                <a:solidFill>
                  <a:srgbClr val="1E293B"/>
                </a:solidFill>
                <a:latin typeface="Calibri"/>
                <a:ea typeface="Calibri"/>
                <a:cs typeface="Calibri"/>
                <a:sym typeface="Calibri"/>
              </a:rPr>
              <a:t>Surfaces all samples with TEDS &lt; 0.5 with diff vs ground truth.</a:t>
            </a:r>
            <a:endParaRPr sz="1100">
              <a:solidFill>
                <a:schemeClr val="dk1"/>
              </a:solidFill>
              <a:latin typeface="Calibri"/>
              <a:ea typeface="Calibri"/>
              <a:cs typeface="Calibri"/>
              <a:sym typeface="Calibri"/>
            </a:endParaRPr>
          </a:p>
        </p:txBody>
      </p:sp>
      <p:sp>
        <p:nvSpPr>
          <p:cNvPr id="444" name="Google Shape;444;p13"/>
          <p:cNvSpPr/>
          <p:nvPr/>
        </p:nvSpPr>
        <p:spPr>
          <a:xfrm>
            <a:off x="4663440" y="822960"/>
            <a:ext cx="4206240" cy="406908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45" name="Google Shape;445;p13"/>
          <p:cNvSpPr/>
          <p:nvPr/>
        </p:nvSpPr>
        <p:spPr>
          <a:xfrm>
            <a:off x="4800600" y="914400"/>
            <a:ext cx="39319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ACE2"/>
              </a:buClr>
              <a:buSzPts val="1300"/>
              <a:buFont typeface="Calibri"/>
              <a:buNone/>
            </a:pPr>
            <a:r>
              <a:rPr b="1" lang="en-US" sz="1300">
                <a:solidFill>
                  <a:srgbClr val="2AACE2"/>
                </a:solidFill>
                <a:latin typeface="Calibri"/>
                <a:ea typeface="Calibri"/>
                <a:cs typeface="Calibri"/>
                <a:sym typeface="Calibri"/>
              </a:rPr>
              <a:t>HTML → DataFrame Export</a:t>
            </a:r>
            <a:endParaRPr sz="1300">
              <a:solidFill>
                <a:schemeClr val="dk1"/>
              </a:solidFill>
              <a:latin typeface="Calibri"/>
              <a:ea typeface="Calibri"/>
              <a:cs typeface="Calibri"/>
              <a:sym typeface="Calibri"/>
            </a:endParaRPr>
          </a:p>
        </p:txBody>
      </p:sp>
      <p:sp>
        <p:nvSpPr>
          <p:cNvPr id="446" name="Google Shape;446;p13"/>
          <p:cNvSpPr/>
          <p:nvPr/>
        </p:nvSpPr>
        <p:spPr>
          <a:xfrm>
            <a:off x="4800600" y="1389888"/>
            <a:ext cx="3840480" cy="548640"/>
          </a:xfrm>
          <a:prstGeom prst="rect">
            <a:avLst/>
          </a:prstGeom>
          <a:solidFill>
            <a:srgbClr val="1E293B"/>
          </a:solidFill>
          <a:ln cap="flat" cmpd="sng" w="12700">
            <a:solidFill>
              <a:srgbClr val="2AAC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47" name="Google Shape;447;p13"/>
          <p:cNvSpPr/>
          <p:nvPr/>
        </p:nvSpPr>
        <p:spPr>
          <a:xfrm>
            <a:off x="4892040" y="1426464"/>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ACE2"/>
              </a:buClr>
              <a:buSzPts val="1000"/>
              <a:buFont typeface="Calibri"/>
              <a:buNone/>
            </a:pPr>
            <a:r>
              <a:rPr b="1" lang="en-US" sz="1200">
                <a:solidFill>
                  <a:srgbClr val="2AACE2"/>
                </a:solidFill>
                <a:latin typeface="Calibri"/>
                <a:ea typeface="Calibri"/>
                <a:cs typeface="Calibri"/>
                <a:sym typeface="Calibri"/>
              </a:rPr>
              <a:t>Parser Input</a:t>
            </a:r>
            <a:endParaRPr sz="1200">
              <a:solidFill>
                <a:schemeClr val="dk1"/>
              </a:solidFill>
              <a:latin typeface="Calibri"/>
              <a:ea typeface="Calibri"/>
              <a:cs typeface="Calibri"/>
              <a:sym typeface="Calibri"/>
            </a:endParaRPr>
          </a:p>
        </p:txBody>
      </p:sp>
      <p:sp>
        <p:nvSpPr>
          <p:cNvPr id="448" name="Google Shape;448;p13"/>
          <p:cNvSpPr/>
          <p:nvPr/>
        </p:nvSpPr>
        <p:spPr>
          <a:xfrm>
            <a:off x="4892040" y="1664208"/>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EAF3"/>
              </a:buClr>
              <a:buSzPts val="900"/>
              <a:buFont typeface="Calibri"/>
              <a:buNone/>
            </a:pPr>
            <a:r>
              <a:rPr lang="en-US" sz="1100">
                <a:solidFill>
                  <a:srgbClr val="D6EAF3"/>
                </a:solidFill>
                <a:latin typeface="Calibri"/>
                <a:ea typeface="Calibri"/>
                <a:cs typeface="Calibri"/>
                <a:sym typeface="Calibri"/>
              </a:rPr>
              <a:t>Model-generated HTML (any model)</a:t>
            </a:r>
            <a:endParaRPr sz="1100">
              <a:solidFill>
                <a:schemeClr val="dk1"/>
              </a:solidFill>
              <a:latin typeface="Calibri"/>
              <a:ea typeface="Calibri"/>
              <a:cs typeface="Calibri"/>
              <a:sym typeface="Calibri"/>
            </a:endParaRPr>
          </a:p>
        </p:txBody>
      </p:sp>
      <p:sp>
        <p:nvSpPr>
          <p:cNvPr id="449" name="Google Shape;449;p13"/>
          <p:cNvSpPr/>
          <p:nvPr/>
        </p:nvSpPr>
        <p:spPr>
          <a:xfrm>
            <a:off x="4800600" y="2048256"/>
            <a:ext cx="3840480" cy="548640"/>
          </a:xfrm>
          <a:prstGeom prst="rect">
            <a:avLst/>
          </a:prstGeom>
          <a:solidFill>
            <a:srgbClr val="1E293B"/>
          </a:solidFill>
          <a:ln cap="flat" cmpd="sng" w="12700">
            <a:solidFill>
              <a:srgbClr val="4ECD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50" name="Google Shape;450;p13"/>
          <p:cNvSpPr/>
          <p:nvPr/>
        </p:nvSpPr>
        <p:spPr>
          <a:xfrm>
            <a:off x="4892040" y="2084832"/>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ECDC4"/>
              </a:buClr>
              <a:buSzPts val="1000"/>
              <a:buFont typeface="Calibri"/>
              <a:buNone/>
            </a:pPr>
            <a:r>
              <a:rPr b="1" lang="en-US" sz="1200">
                <a:solidFill>
                  <a:srgbClr val="4ECDC4"/>
                </a:solidFill>
                <a:latin typeface="Calibri"/>
                <a:ea typeface="Calibri"/>
                <a:cs typeface="Calibri"/>
                <a:sym typeface="Calibri"/>
              </a:rPr>
              <a:t>colspan expand</a:t>
            </a:r>
            <a:endParaRPr sz="1200">
              <a:solidFill>
                <a:schemeClr val="dk1"/>
              </a:solidFill>
              <a:latin typeface="Calibri"/>
              <a:ea typeface="Calibri"/>
              <a:cs typeface="Calibri"/>
              <a:sym typeface="Calibri"/>
            </a:endParaRPr>
          </a:p>
        </p:txBody>
      </p:sp>
      <p:sp>
        <p:nvSpPr>
          <p:cNvPr id="451" name="Google Shape;451;p13"/>
          <p:cNvSpPr/>
          <p:nvPr/>
        </p:nvSpPr>
        <p:spPr>
          <a:xfrm>
            <a:off x="4892040" y="2322576"/>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EAF3"/>
              </a:buClr>
              <a:buSzPts val="900"/>
              <a:buFont typeface="Calibri"/>
              <a:buNone/>
            </a:pPr>
            <a:r>
              <a:rPr lang="en-US" sz="1100">
                <a:solidFill>
                  <a:srgbClr val="D6EAF3"/>
                </a:solidFill>
                <a:latin typeface="Calibri"/>
                <a:ea typeface="Calibri"/>
                <a:cs typeface="Calibri"/>
                <a:sym typeface="Calibri"/>
              </a:rPr>
              <a:t>Repeat header across spanned columns</a:t>
            </a:r>
            <a:endParaRPr sz="1100">
              <a:solidFill>
                <a:schemeClr val="dk1"/>
              </a:solidFill>
              <a:latin typeface="Calibri"/>
              <a:ea typeface="Calibri"/>
              <a:cs typeface="Calibri"/>
              <a:sym typeface="Calibri"/>
            </a:endParaRPr>
          </a:p>
        </p:txBody>
      </p:sp>
      <p:sp>
        <p:nvSpPr>
          <p:cNvPr id="452" name="Google Shape;452;p13"/>
          <p:cNvSpPr/>
          <p:nvPr/>
        </p:nvSpPr>
        <p:spPr>
          <a:xfrm>
            <a:off x="4800600" y="2706624"/>
            <a:ext cx="3840480" cy="548640"/>
          </a:xfrm>
          <a:prstGeom prst="rect">
            <a:avLst/>
          </a:prstGeom>
          <a:solidFill>
            <a:srgbClr val="1E293B"/>
          </a:solidFill>
          <a:ln cap="flat" cmpd="sng" w="12700">
            <a:solidFill>
              <a:srgbClr val="4ECD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53" name="Google Shape;453;p13"/>
          <p:cNvSpPr/>
          <p:nvPr/>
        </p:nvSpPr>
        <p:spPr>
          <a:xfrm>
            <a:off x="4892040" y="274320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ECDC4"/>
              </a:buClr>
              <a:buSzPts val="1000"/>
              <a:buFont typeface="Calibri"/>
              <a:buNone/>
            </a:pPr>
            <a:r>
              <a:rPr b="1" lang="en-US" sz="1200">
                <a:solidFill>
                  <a:srgbClr val="4ECDC4"/>
                </a:solidFill>
                <a:latin typeface="Calibri"/>
                <a:ea typeface="Calibri"/>
                <a:cs typeface="Calibri"/>
                <a:sym typeface="Calibri"/>
              </a:rPr>
              <a:t>rowspan carry</a:t>
            </a:r>
            <a:endParaRPr sz="1200">
              <a:solidFill>
                <a:schemeClr val="dk1"/>
              </a:solidFill>
              <a:latin typeface="Calibri"/>
              <a:ea typeface="Calibri"/>
              <a:cs typeface="Calibri"/>
              <a:sym typeface="Calibri"/>
            </a:endParaRPr>
          </a:p>
        </p:txBody>
      </p:sp>
      <p:sp>
        <p:nvSpPr>
          <p:cNvPr id="454" name="Google Shape;454;p13"/>
          <p:cNvSpPr/>
          <p:nvPr/>
        </p:nvSpPr>
        <p:spPr>
          <a:xfrm>
            <a:off x="4892040" y="2980944"/>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EAF3"/>
              </a:buClr>
              <a:buSzPts val="900"/>
              <a:buFont typeface="Calibri"/>
              <a:buNone/>
            </a:pPr>
            <a:r>
              <a:rPr lang="en-US" sz="1100">
                <a:solidFill>
                  <a:srgbClr val="D6EAF3"/>
                </a:solidFill>
                <a:latin typeface="Calibri"/>
                <a:ea typeface="Calibri"/>
                <a:cs typeface="Calibri"/>
                <a:sym typeface="Calibri"/>
              </a:rPr>
              <a:t>Carry merged cells into following rows</a:t>
            </a:r>
            <a:endParaRPr sz="1100">
              <a:solidFill>
                <a:schemeClr val="dk1"/>
              </a:solidFill>
              <a:latin typeface="Calibri"/>
              <a:ea typeface="Calibri"/>
              <a:cs typeface="Calibri"/>
              <a:sym typeface="Calibri"/>
            </a:endParaRPr>
          </a:p>
        </p:txBody>
      </p:sp>
      <p:sp>
        <p:nvSpPr>
          <p:cNvPr id="455" name="Google Shape;455;p13"/>
          <p:cNvSpPr/>
          <p:nvPr/>
        </p:nvSpPr>
        <p:spPr>
          <a:xfrm>
            <a:off x="4800600" y="3364992"/>
            <a:ext cx="3840480" cy="548640"/>
          </a:xfrm>
          <a:prstGeom prst="rect">
            <a:avLst/>
          </a:prstGeom>
          <a:solidFill>
            <a:srgbClr val="1E293B"/>
          </a:solidFill>
          <a:ln cap="flat" cmpd="sng" w="12700">
            <a:solidFill>
              <a:srgbClr val="F4A2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56" name="Google Shape;456;p13"/>
          <p:cNvSpPr/>
          <p:nvPr/>
        </p:nvSpPr>
        <p:spPr>
          <a:xfrm>
            <a:off x="4892040" y="3401568"/>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A261"/>
              </a:buClr>
              <a:buSzPts val="1000"/>
              <a:buFont typeface="Calibri"/>
              <a:buNone/>
            </a:pPr>
            <a:r>
              <a:rPr b="1" lang="en-US" sz="1200">
                <a:solidFill>
                  <a:srgbClr val="F4A261"/>
                </a:solidFill>
                <a:latin typeface="Calibri"/>
                <a:ea typeface="Calibri"/>
                <a:cs typeface="Calibri"/>
                <a:sym typeface="Calibri"/>
              </a:rPr>
              <a:t>Pad short rows</a:t>
            </a:r>
            <a:endParaRPr sz="1200">
              <a:solidFill>
                <a:schemeClr val="dk1"/>
              </a:solidFill>
              <a:latin typeface="Calibri"/>
              <a:ea typeface="Calibri"/>
              <a:cs typeface="Calibri"/>
              <a:sym typeface="Calibri"/>
            </a:endParaRPr>
          </a:p>
        </p:txBody>
      </p:sp>
      <p:sp>
        <p:nvSpPr>
          <p:cNvPr id="457" name="Google Shape;457;p13"/>
          <p:cNvSpPr/>
          <p:nvPr/>
        </p:nvSpPr>
        <p:spPr>
          <a:xfrm>
            <a:off x="4892040" y="3639312"/>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EAF3"/>
              </a:buClr>
              <a:buSzPts val="900"/>
              <a:buFont typeface="Calibri"/>
              <a:buNone/>
            </a:pPr>
            <a:r>
              <a:rPr lang="en-US" sz="1100">
                <a:solidFill>
                  <a:srgbClr val="D6EAF3"/>
                </a:solidFill>
                <a:latin typeface="Calibri"/>
                <a:ea typeface="Calibri"/>
                <a:cs typeface="Calibri"/>
                <a:sym typeface="Calibri"/>
              </a:rPr>
              <a:t>Normalize to rectangular shape</a:t>
            </a:r>
            <a:endParaRPr sz="1100">
              <a:solidFill>
                <a:schemeClr val="dk1"/>
              </a:solidFill>
              <a:latin typeface="Calibri"/>
              <a:ea typeface="Calibri"/>
              <a:cs typeface="Calibri"/>
              <a:sym typeface="Calibri"/>
            </a:endParaRPr>
          </a:p>
        </p:txBody>
      </p:sp>
      <p:sp>
        <p:nvSpPr>
          <p:cNvPr id="458" name="Google Shape;458;p13"/>
          <p:cNvSpPr/>
          <p:nvPr/>
        </p:nvSpPr>
        <p:spPr>
          <a:xfrm>
            <a:off x="4800600" y="4023360"/>
            <a:ext cx="3840480" cy="548640"/>
          </a:xfrm>
          <a:prstGeom prst="rect">
            <a:avLst/>
          </a:prstGeom>
          <a:solidFill>
            <a:srgbClr val="1E293B"/>
          </a:solidFill>
          <a:ln cap="flat" cmpd="sng" w="12700">
            <a:solidFill>
              <a:srgbClr val="2A9D8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459" name="Google Shape;459;p13"/>
          <p:cNvSpPr/>
          <p:nvPr/>
        </p:nvSpPr>
        <p:spPr>
          <a:xfrm>
            <a:off x="4892040" y="4059936"/>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9D8F"/>
              </a:buClr>
              <a:buSzPts val="1000"/>
              <a:buFont typeface="Calibri"/>
              <a:buNone/>
            </a:pPr>
            <a:r>
              <a:rPr b="1" lang="en-US" sz="1200">
                <a:solidFill>
                  <a:srgbClr val="2A9D8F"/>
                </a:solidFill>
                <a:latin typeface="Calibri"/>
                <a:ea typeface="Calibri"/>
                <a:cs typeface="Calibri"/>
                <a:sym typeface="Calibri"/>
              </a:rPr>
              <a:t>Download CSV</a:t>
            </a:r>
            <a:endParaRPr sz="1200">
              <a:solidFill>
                <a:schemeClr val="dk1"/>
              </a:solidFill>
              <a:latin typeface="Calibri"/>
              <a:ea typeface="Calibri"/>
              <a:cs typeface="Calibri"/>
              <a:sym typeface="Calibri"/>
            </a:endParaRPr>
          </a:p>
        </p:txBody>
      </p:sp>
      <p:sp>
        <p:nvSpPr>
          <p:cNvPr id="460" name="Google Shape;460;p13"/>
          <p:cNvSpPr/>
          <p:nvPr/>
        </p:nvSpPr>
        <p:spPr>
          <a:xfrm>
            <a:off x="4892040" y="4297680"/>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EAF3"/>
              </a:buClr>
              <a:buSzPts val="900"/>
              <a:buFont typeface="Calibri"/>
              <a:buNone/>
            </a:pPr>
            <a:r>
              <a:rPr lang="en-US" sz="1100">
                <a:solidFill>
                  <a:srgbClr val="D6EAF3"/>
                </a:solidFill>
                <a:latin typeface="Calibri"/>
                <a:ea typeface="Calibri"/>
                <a:cs typeface="Calibri"/>
                <a:sym typeface="Calibri"/>
              </a:rPr>
              <a:t>1,495/1,510 complex samples: clean parse</a:t>
            </a:r>
            <a:endParaRPr sz="11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14"/>
          <p:cNvSpPr/>
          <p:nvPr/>
        </p:nvSpPr>
        <p:spPr>
          <a:xfrm>
            <a:off x="0" y="0"/>
            <a:ext cx="9144000" cy="51435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Font typeface="Arial"/>
              <a:buNone/>
            </a:pPr>
            <a:r>
              <a:t/>
            </a:r>
            <a:endParaRPr sz="1800">
              <a:solidFill>
                <a:schemeClr val="dk1"/>
              </a:solidFill>
              <a:latin typeface="Calibri"/>
              <a:ea typeface="Calibri"/>
              <a:cs typeface="Calibri"/>
              <a:sym typeface="Calibri"/>
            </a:endParaRPr>
          </a:p>
        </p:txBody>
      </p:sp>
      <p:sp>
        <p:nvSpPr>
          <p:cNvPr id="467" name="Google Shape;467;p14"/>
          <p:cNvSpPr/>
          <p:nvPr/>
        </p:nvSpPr>
        <p:spPr>
          <a:xfrm>
            <a:off x="457200" y="228600"/>
            <a:ext cx="82296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600">
                <a:solidFill>
                  <a:srgbClr val="FFFFFF"/>
                </a:solidFill>
                <a:latin typeface="Calibri"/>
                <a:ea typeface="Calibri"/>
                <a:cs typeface="Calibri"/>
                <a:sym typeface="Calibri"/>
              </a:rPr>
              <a:t>Key Findings</a:t>
            </a:r>
            <a:endParaRPr sz="2600">
              <a:solidFill>
                <a:schemeClr val="dk1"/>
              </a:solidFill>
              <a:latin typeface="Calibri"/>
              <a:ea typeface="Calibri"/>
              <a:cs typeface="Calibri"/>
              <a:sym typeface="Calibri"/>
            </a:endParaRPr>
          </a:p>
        </p:txBody>
      </p:sp>
      <p:grpSp>
        <p:nvGrpSpPr>
          <p:cNvPr id="468" name="Google Shape;468;p14"/>
          <p:cNvGrpSpPr/>
          <p:nvPr/>
        </p:nvGrpSpPr>
        <p:grpSpPr>
          <a:xfrm>
            <a:off x="365700" y="1172266"/>
            <a:ext cx="8412600" cy="2798959"/>
            <a:chOff x="365760" y="914400"/>
            <a:chExt cx="8412600" cy="1810452"/>
          </a:xfrm>
        </p:grpSpPr>
        <p:sp>
          <p:nvSpPr>
            <p:cNvPr id="469" name="Google Shape;469;p14"/>
            <p:cNvSpPr/>
            <p:nvPr/>
          </p:nvSpPr>
          <p:spPr>
            <a:xfrm>
              <a:off x="365760" y="914400"/>
              <a:ext cx="8412600" cy="822900"/>
            </a:xfrm>
            <a:prstGeom prst="rect">
              <a:avLst/>
            </a:prstGeom>
            <a:solidFill>
              <a:srgbClr val="FFFFFF">
                <a:alpha val="10200"/>
              </a:srgbClr>
            </a:solidFill>
            <a:ln cap="flat" cmpd="sng" w="12700">
              <a:solidFill>
                <a:srgbClr val="2AACE2">
                  <a:alpha val="6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0" name="Google Shape;470;p14"/>
            <p:cNvSpPr/>
            <p:nvPr/>
          </p:nvSpPr>
          <p:spPr>
            <a:xfrm>
              <a:off x="365760" y="914400"/>
              <a:ext cx="457200" cy="822900"/>
            </a:xfrm>
            <a:prstGeom prst="rect">
              <a:avLst/>
            </a:prstGeom>
            <a:solidFill>
              <a:srgbClr val="2AACE2"/>
            </a:solidFill>
            <a:ln cap="flat" cmpd="sng" w="12700">
              <a:solidFill>
                <a:srgbClr val="2AAC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14"/>
            <p:cNvSpPr/>
            <p:nvPr/>
          </p:nvSpPr>
          <p:spPr>
            <a:xfrm>
              <a:off x="365760" y="1901952"/>
              <a:ext cx="457200" cy="822900"/>
            </a:xfrm>
            <a:prstGeom prst="rect">
              <a:avLst/>
            </a:prstGeom>
            <a:solidFill>
              <a:srgbClr val="4ECDC4"/>
            </a:solidFill>
            <a:ln cap="flat" cmpd="sng" w="12700">
              <a:solidFill>
                <a:srgbClr val="4ECD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14"/>
            <p:cNvSpPr/>
            <p:nvPr/>
          </p:nvSpPr>
          <p:spPr>
            <a:xfrm>
              <a:off x="365760" y="1901952"/>
              <a:ext cx="8412600" cy="822900"/>
            </a:xfrm>
            <a:prstGeom prst="rect">
              <a:avLst/>
            </a:prstGeom>
            <a:solidFill>
              <a:srgbClr val="FFFFFF">
                <a:alpha val="10200"/>
              </a:srgbClr>
            </a:solidFill>
            <a:ln cap="flat" cmpd="sng" w="12700">
              <a:solidFill>
                <a:srgbClr val="4ECDC4">
                  <a:alpha val="6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14"/>
            <p:cNvSpPr/>
            <p:nvPr/>
          </p:nvSpPr>
          <p:spPr>
            <a:xfrm>
              <a:off x="365760" y="914400"/>
              <a:ext cx="4572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600"/>
                <a:buFont typeface="Calibri"/>
                <a:buNone/>
              </a:pPr>
              <a:r>
                <a:rPr b="1" lang="en-US" sz="1600">
                  <a:solidFill>
                    <a:srgbClr val="0A2342"/>
                  </a:solidFill>
                  <a:latin typeface="Calibri"/>
                  <a:ea typeface="Calibri"/>
                  <a:cs typeface="Calibri"/>
                  <a:sym typeface="Calibri"/>
                </a:rPr>
                <a:t>1</a:t>
              </a:r>
              <a:endParaRPr sz="1600">
                <a:solidFill>
                  <a:schemeClr val="dk1"/>
                </a:solidFill>
                <a:latin typeface="Calibri"/>
                <a:ea typeface="Calibri"/>
                <a:cs typeface="Calibri"/>
                <a:sym typeface="Calibri"/>
              </a:endParaRPr>
            </a:p>
          </p:txBody>
        </p:sp>
        <p:sp>
          <p:nvSpPr>
            <p:cNvPr id="474" name="Google Shape;474;p14"/>
            <p:cNvSpPr/>
            <p:nvPr/>
          </p:nvSpPr>
          <p:spPr>
            <a:xfrm>
              <a:off x="960120" y="978408"/>
              <a:ext cx="7680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ACE2"/>
                </a:buClr>
                <a:buSzPts val="1300"/>
                <a:buFont typeface="Calibri"/>
                <a:buNone/>
              </a:pPr>
              <a:r>
                <a:rPr b="1" lang="en-US" sz="1300">
                  <a:solidFill>
                    <a:srgbClr val="2AACE2"/>
                  </a:solidFill>
                  <a:latin typeface="Calibri"/>
                  <a:ea typeface="Calibri"/>
                  <a:cs typeface="Calibri"/>
                  <a:sym typeface="Calibri"/>
                </a:rPr>
                <a:t>Structure ≠ Content</a:t>
              </a:r>
              <a:endParaRPr sz="1300">
                <a:solidFill>
                  <a:schemeClr val="dk1"/>
                </a:solidFill>
                <a:latin typeface="Calibri"/>
                <a:ea typeface="Calibri"/>
                <a:cs typeface="Calibri"/>
                <a:sym typeface="Calibri"/>
              </a:endParaRPr>
            </a:p>
          </p:txBody>
        </p:sp>
        <p:sp>
          <p:nvSpPr>
            <p:cNvPr id="475" name="Google Shape;475;p14"/>
            <p:cNvSpPr/>
            <p:nvPr/>
          </p:nvSpPr>
          <p:spPr>
            <a:xfrm>
              <a:off x="960120" y="1298448"/>
              <a:ext cx="7680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EAF3"/>
                </a:buClr>
                <a:buSzPts val="1000"/>
                <a:buFont typeface="Calibri"/>
                <a:buNone/>
              </a:pPr>
              <a:r>
                <a:rPr lang="en-US" sz="1200">
                  <a:solidFill>
                    <a:srgbClr val="D6EAF3"/>
                  </a:solidFill>
                  <a:latin typeface="Calibri"/>
                  <a:ea typeface="Calibri"/>
                  <a:cs typeface="Calibri"/>
                  <a:sym typeface="Calibri"/>
                </a:rPr>
                <a:t>Best structure model (UniTable, 0.8353) ≠ best content model (SPARTAN, 0.5391 Pipeline TEDS). Optimize separately.</a:t>
              </a:r>
              <a:endParaRPr sz="1200">
                <a:solidFill>
                  <a:schemeClr val="dk1"/>
                </a:solidFill>
                <a:latin typeface="Calibri"/>
                <a:ea typeface="Calibri"/>
                <a:cs typeface="Calibri"/>
                <a:sym typeface="Calibri"/>
              </a:endParaRPr>
            </a:p>
          </p:txBody>
        </p:sp>
        <p:sp>
          <p:nvSpPr>
            <p:cNvPr id="476" name="Google Shape;476;p14"/>
            <p:cNvSpPr/>
            <p:nvPr/>
          </p:nvSpPr>
          <p:spPr>
            <a:xfrm>
              <a:off x="365760" y="1901952"/>
              <a:ext cx="4572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342"/>
                </a:buClr>
                <a:buSzPts val="1600"/>
                <a:buFont typeface="Calibri"/>
                <a:buNone/>
              </a:pPr>
              <a:r>
                <a:rPr b="1" lang="en-US" sz="1600">
                  <a:solidFill>
                    <a:srgbClr val="0A2342"/>
                  </a:solidFill>
                  <a:latin typeface="Calibri"/>
                  <a:ea typeface="Calibri"/>
                  <a:cs typeface="Calibri"/>
                  <a:sym typeface="Calibri"/>
                </a:rPr>
                <a:t>2</a:t>
              </a:r>
              <a:endParaRPr sz="1600">
                <a:solidFill>
                  <a:schemeClr val="dk1"/>
                </a:solidFill>
                <a:latin typeface="Calibri"/>
                <a:ea typeface="Calibri"/>
                <a:cs typeface="Calibri"/>
                <a:sym typeface="Calibri"/>
              </a:endParaRPr>
            </a:p>
          </p:txBody>
        </p:sp>
        <p:sp>
          <p:nvSpPr>
            <p:cNvPr id="477" name="Google Shape;477;p14"/>
            <p:cNvSpPr/>
            <p:nvPr/>
          </p:nvSpPr>
          <p:spPr>
            <a:xfrm>
              <a:off x="960120" y="1965960"/>
              <a:ext cx="7680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ECDC4"/>
                </a:buClr>
                <a:buSzPts val="1300"/>
                <a:buFont typeface="Calibri"/>
                <a:buNone/>
              </a:pPr>
              <a:r>
                <a:rPr b="1" lang="en-US" sz="1300">
                  <a:solidFill>
                    <a:srgbClr val="4ECDC4"/>
                  </a:solidFill>
                  <a:latin typeface="Calibri"/>
                  <a:ea typeface="Calibri"/>
                  <a:cs typeface="Calibri"/>
                  <a:sym typeface="Calibri"/>
                </a:rPr>
                <a:t>Cascading Errors Dominate</a:t>
              </a:r>
              <a:endParaRPr sz="1300">
                <a:solidFill>
                  <a:schemeClr val="dk1"/>
                </a:solidFill>
                <a:latin typeface="Calibri"/>
                <a:ea typeface="Calibri"/>
                <a:cs typeface="Calibri"/>
                <a:sym typeface="Calibri"/>
              </a:endParaRPr>
            </a:p>
          </p:txBody>
        </p:sp>
        <p:sp>
          <p:nvSpPr>
            <p:cNvPr id="478" name="Google Shape;478;p14"/>
            <p:cNvSpPr/>
            <p:nvPr/>
          </p:nvSpPr>
          <p:spPr>
            <a:xfrm>
              <a:off x="960120" y="2286000"/>
              <a:ext cx="7680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EAF3"/>
                </a:buClr>
                <a:buSzPts val="1000"/>
                <a:buFont typeface="Calibri"/>
                <a:buNone/>
              </a:pPr>
              <a:r>
                <a:rPr lang="en-US" sz="1200">
                  <a:solidFill>
                    <a:srgbClr val="D6EAF3"/>
                  </a:solidFill>
                  <a:latin typeface="Calibri"/>
                  <a:ea typeface="Calibri"/>
                  <a:cs typeface="Calibri"/>
                  <a:sym typeface="Calibri"/>
                </a:rPr>
                <a:t>Multi-stage pipelines amplify small mistakes. SPARTAN's local error confinement beats UniTable's global decode despite weaker structure.</a:t>
              </a:r>
              <a:endParaRPr sz="1200">
                <a:solidFill>
                  <a:schemeClr val="dk1"/>
                </a:solidFill>
                <a:latin typeface="Calibri"/>
                <a:ea typeface="Calibri"/>
                <a:cs typeface="Calibri"/>
                <a:sym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3" name="Shape 483"/>
        <p:cNvGrpSpPr/>
        <p:nvPr/>
      </p:nvGrpSpPr>
      <p:grpSpPr>
        <a:xfrm>
          <a:off x="0" y="0"/>
          <a:ext cx="0" cy="0"/>
          <a:chOff x="0" y="0"/>
          <a:chExt cx="0" cy="0"/>
        </a:xfrm>
      </p:grpSpPr>
      <p:sp>
        <p:nvSpPr>
          <p:cNvPr id="484" name="Google Shape;484;p15"/>
          <p:cNvSpPr/>
          <p:nvPr/>
        </p:nvSpPr>
        <p:spPr>
          <a:xfrm>
            <a:off x="0" y="0"/>
            <a:ext cx="9144000" cy="685800"/>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15"/>
          <p:cNvSpPr/>
          <p:nvPr/>
        </p:nvSpPr>
        <p:spPr>
          <a:xfrm>
            <a:off x="365760" y="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Future Work &amp; Recommendations</a:t>
            </a:r>
            <a:endParaRPr sz="2200">
              <a:solidFill>
                <a:schemeClr val="dk1"/>
              </a:solidFill>
              <a:latin typeface="Calibri"/>
              <a:ea typeface="Calibri"/>
              <a:cs typeface="Calibri"/>
              <a:sym typeface="Calibri"/>
            </a:endParaRPr>
          </a:p>
        </p:txBody>
      </p:sp>
      <p:sp>
        <p:nvSpPr>
          <p:cNvPr id="486" name="Google Shape;486;p15"/>
          <p:cNvSpPr/>
          <p:nvPr/>
        </p:nvSpPr>
        <p:spPr>
          <a:xfrm>
            <a:off x="365760" y="914400"/>
            <a:ext cx="8412480" cy="11430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15"/>
          <p:cNvSpPr/>
          <p:nvPr/>
        </p:nvSpPr>
        <p:spPr>
          <a:xfrm>
            <a:off x="365760" y="914400"/>
            <a:ext cx="109728" cy="1143000"/>
          </a:xfrm>
          <a:prstGeom prst="rect">
            <a:avLst/>
          </a:prstGeom>
          <a:solidFill>
            <a:srgbClr val="2AACE2"/>
          </a:solidFill>
          <a:ln cap="flat" cmpd="sng" w="12700">
            <a:solidFill>
              <a:srgbClr val="2AACE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15"/>
          <p:cNvSpPr/>
          <p:nvPr/>
        </p:nvSpPr>
        <p:spPr>
          <a:xfrm>
            <a:off x="594360" y="1005840"/>
            <a:ext cx="8046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Direction 1: Fine-Tuning UniTable with more epochs and higher learning rate.</a:t>
            </a:r>
            <a:endParaRPr sz="1300">
              <a:solidFill>
                <a:schemeClr val="dk1"/>
              </a:solidFill>
              <a:latin typeface="Calibri"/>
              <a:ea typeface="Calibri"/>
              <a:cs typeface="Calibri"/>
              <a:sym typeface="Calibri"/>
            </a:endParaRPr>
          </a:p>
        </p:txBody>
      </p:sp>
      <p:sp>
        <p:nvSpPr>
          <p:cNvPr id="489" name="Google Shape;489;p15"/>
          <p:cNvSpPr/>
          <p:nvPr/>
        </p:nvSpPr>
        <p:spPr>
          <a:xfrm>
            <a:off x="594360" y="1367028"/>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lang="en-US" sz="1200">
                <a:solidFill>
                  <a:srgbClr val="1E293B"/>
                </a:solidFill>
                <a:latin typeface="Calibri"/>
                <a:ea typeface="Calibri"/>
                <a:cs typeface="Calibri"/>
                <a:sym typeface="Calibri"/>
              </a:rPr>
              <a:t>Fine-tune the content model using more </a:t>
            </a:r>
            <a:r>
              <a:rPr lang="en-US" sz="1200">
                <a:solidFill>
                  <a:srgbClr val="1E293B"/>
                </a:solidFill>
                <a:latin typeface="Calibri"/>
                <a:ea typeface="Calibri"/>
                <a:cs typeface="Calibri"/>
                <a:sym typeface="Calibri"/>
              </a:rPr>
              <a:t>epochs, higher learning rate and increase the impact of LoRA.</a:t>
            </a:r>
            <a:r>
              <a:rPr lang="en-US" sz="1200">
                <a:solidFill>
                  <a:srgbClr val="1E293B"/>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490" name="Google Shape;490;p15"/>
          <p:cNvSpPr/>
          <p:nvPr/>
        </p:nvSpPr>
        <p:spPr>
          <a:xfrm>
            <a:off x="365760" y="2240280"/>
            <a:ext cx="8412480" cy="11430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1" name="Google Shape;491;p15"/>
          <p:cNvSpPr/>
          <p:nvPr/>
        </p:nvSpPr>
        <p:spPr>
          <a:xfrm>
            <a:off x="365760" y="2240280"/>
            <a:ext cx="109728" cy="1143000"/>
          </a:xfrm>
          <a:prstGeom prst="rect">
            <a:avLst/>
          </a:prstGeom>
          <a:solidFill>
            <a:srgbClr val="F4A261"/>
          </a:solidFill>
          <a:ln cap="flat" cmpd="sng" w="12700">
            <a:solidFill>
              <a:srgbClr val="F4A2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15"/>
          <p:cNvSpPr/>
          <p:nvPr/>
        </p:nvSpPr>
        <p:spPr>
          <a:xfrm>
            <a:off x="594360" y="2331720"/>
            <a:ext cx="8046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Direction 2: Learned Row-Grouping Classifier</a:t>
            </a:r>
            <a:endParaRPr sz="1300">
              <a:solidFill>
                <a:schemeClr val="dk1"/>
              </a:solidFill>
              <a:latin typeface="Calibri"/>
              <a:ea typeface="Calibri"/>
              <a:cs typeface="Calibri"/>
              <a:sym typeface="Calibri"/>
            </a:endParaRPr>
          </a:p>
        </p:txBody>
      </p:sp>
      <p:sp>
        <p:nvSpPr>
          <p:cNvPr id="493" name="Google Shape;493;p15"/>
          <p:cNvSpPr/>
          <p:nvPr/>
        </p:nvSpPr>
        <p:spPr>
          <a:xfrm>
            <a:off x="594360" y="2692908"/>
            <a:ext cx="8046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lang="en-US" sz="1200">
                <a:solidFill>
                  <a:srgbClr val="1E293B"/>
                </a:solidFill>
                <a:latin typeface="Calibri"/>
                <a:ea typeface="Calibri"/>
                <a:cs typeface="Calibri"/>
                <a:sym typeface="Calibri"/>
              </a:rPr>
              <a:t>Replace SPARTAN's fixed row_tol_frac threshold with a learned classifier. Directly attacks span loss (54.2% of failures) without hurting multi-line wrapped layouts.</a:t>
            </a:r>
            <a:endParaRPr sz="1200">
              <a:solidFill>
                <a:schemeClr val="dk1"/>
              </a:solidFill>
              <a:latin typeface="Calibri"/>
              <a:ea typeface="Calibri"/>
              <a:cs typeface="Calibri"/>
              <a:sym typeface="Calibri"/>
            </a:endParaRPr>
          </a:p>
        </p:txBody>
      </p:sp>
      <p:sp>
        <p:nvSpPr>
          <p:cNvPr id="494" name="Google Shape;494;p15"/>
          <p:cNvSpPr/>
          <p:nvPr/>
        </p:nvSpPr>
        <p:spPr>
          <a:xfrm>
            <a:off x="365760" y="3566160"/>
            <a:ext cx="8412480" cy="1143000"/>
          </a:xfrm>
          <a:prstGeom prst="rect">
            <a:avLst/>
          </a:prstGeom>
          <a:solidFill>
            <a:srgbClr val="F0F6FA"/>
          </a:solidFill>
          <a:ln cap="flat" cmpd="sng" w="12700">
            <a:solidFill>
              <a:srgbClr val="D6EAF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15"/>
          <p:cNvSpPr/>
          <p:nvPr/>
        </p:nvSpPr>
        <p:spPr>
          <a:xfrm>
            <a:off x="365760" y="3566160"/>
            <a:ext cx="109728" cy="1143000"/>
          </a:xfrm>
          <a:prstGeom prst="rect">
            <a:avLst/>
          </a:prstGeom>
          <a:solidFill>
            <a:srgbClr val="4ECDC4"/>
          </a:solidFill>
          <a:ln cap="flat" cmpd="sng" w="12700">
            <a:solidFill>
              <a:srgbClr val="4ECDC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6" name="Google Shape;496;p15"/>
          <p:cNvSpPr/>
          <p:nvPr/>
        </p:nvSpPr>
        <p:spPr>
          <a:xfrm>
            <a:off x="594360" y="3657600"/>
            <a:ext cx="8046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2342"/>
              </a:buClr>
              <a:buSzPts val="1300"/>
              <a:buFont typeface="Calibri"/>
              <a:buNone/>
            </a:pPr>
            <a:r>
              <a:rPr b="1" lang="en-US" sz="1300">
                <a:solidFill>
                  <a:srgbClr val="0A2342"/>
                </a:solidFill>
                <a:latin typeface="Calibri"/>
                <a:ea typeface="Calibri"/>
                <a:cs typeface="Calibri"/>
                <a:sym typeface="Calibri"/>
              </a:rPr>
              <a:t>Direction 3: Hybrid Architecture</a:t>
            </a:r>
            <a:endParaRPr sz="1300">
              <a:solidFill>
                <a:schemeClr val="dk1"/>
              </a:solidFill>
              <a:latin typeface="Calibri"/>
              <a:ea typeface="Calibri"/>
              <a:cs typeface="Calibri"/>
              <a:sym typeface="Calibri"/>
            </a:endParaRPr>
          </a:p>
        </p:txBody>
      </p:sp>
      <p:sp>
        <p:nvSpPr>
          <p:cNvPr id="497" name="Google Shape;497;p15"/>
          <p:cNvSpPr/>
          <p:nvPr/>
        </p:nvSpPr>
        <p:spPr>
          <a:xfrm>
            <a:off x="594360" y="4041648"/>
            <a:ext cx="8046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lang="en-US" sz="1200">
                <a:solidFill>
                  <a:srgbClr val="1E293B"/>
                </a:solidFill>
                <a:latin typeface="Calibri"/>
                <a:ea typeface="Calibri"/>
                <a:cs typeface="Calibri"/>
                <a:sym typeface="Calibri"/>
              </a:rPr>
              <a:t>Recommended: UniTable skeleton + SPARTAN OCR + parsing layer. Compose model strengths rather than demanding one model own the whole pipeline.</a:t>
            </a:r>
            <a:endParaRPr sz="1200">
              <a:solidFill>
                <a:srgbClr val="1E293B"/>
              </a:solidFill>
              <a:latin typeface="Calibri"/>
              <a:ea typeface="Calibri"/>
              <a:cs typeface="Calibri"/>
              <a:sym typeface="Calibri"/>
            </a:endParaRPr>
          </a:p>
          <a:p>
            <a:pPr indent="0" lvl="0" marL="0" marR="0" rtl="0" algn="l">
              <a:spcBef>
                <a:spcPts val="0"/>
              </a:spcBef>
              <a:spcAft>
                <a:spcPts val="0"/>
              </a:spcAft>
              <a:buClr>
                <a:srgbClr val="1E293B"/>
              </a:buClr>
              <a:buSzPts val="1100"/>
              <a:buFont typeface="Calibri"/>
              <a:buNone/>
            </a:pPr>
            <a:r>
              <a:t/>
            </a:r>
            <a:endParaRPr sz="1200">
              <a:solidFill>
                <a:srgbClr val="1E293B"/>
              </a:solidFill>
              <a:latin typeface="Calibri"/>
              <a:ea typeface="Calibri"/>
              <a:cs typeface="Calibri"/>
              <a:sym typeface="Calibri"/>
            </a:endParaRPr>
          </a:p>
        </p:txBody>
      </p:sp>
      <p:sp>
        <p:nvSpPr>
          <p:cNvPr id="498" name="Google Shape;498;p15"/>
          <p:cNvSpPr/>
          <p:nvPr/>
        </p:nvSpPr>
        <p:spPr>
          <a:xfrm>
            <a:off x="365760" y="4663440"/>
            <a:ext cx="8412480" cy="347472"/>
          </a:xfrm>
          <a:prstGeom prst="rect">
            <a:avLst/>
          </a:prstGeom>
          <a:solidFill>
            <a:srgbClr val="0A2342"/>
          </a:solidFill>
          <a:ln cap="flat" cmpd="sng" w="12700">
            <a:solidFill>
              <a:srgbClr val="0A23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15"/>
          <p:cNvSpPr/>
          <p:nvPr/>
        </p:nvSpPr>
        <p:spPr>
          <a:xfrm>
            <a:off x="502920" y="4663440"/>
            <a:ext cx="82296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EAF3"/>
              </a:buClr>
              <a:buSzPts val="1000"/>
              <a:buFont typeface="Calibri"/>
              <a:buNone/>
            </a:pPr>
            <a:r>
              <a:t/>
            </a:r>
            <a:endParaRPr sz="10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2026-05-27T20:25:20Z</dcterms:created>
  <dc:creator>PptxGenJS</dc:creator>
</cp:coreProperties>
</file>